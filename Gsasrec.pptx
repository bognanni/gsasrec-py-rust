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charts/chart5.xml" ContentType="application/vnd.openxmlformats-officedocument.drawingml.chart+xml"/>
  <Override PartName="/ppt/charts/style5.xml" ContentType="application/vnd.ms-office.chartstyle+xml"/>
  <Override PartName="/ppt/charts/colors5.xml" ContentType="application/vnd.ms-office.chartcolorstyle+xml"/>
  <Override PartName="/ppt/charts/chart6.xml" ContentType="application/vnd.openxmlformats-officedocument.drawingml.chart+xml"/>
  <Override PartName="/ppt/charts/style6.xml" ContentType="application/vnd.ms-office.chartstyle+xml"/>
  <Override PartName="/ppt/charts/colors6.xml" ContentType="application/vnd.ms-office.chartcolorstyle+xml"/>
  <Override PartName="/ppt/charts/chart7.xml" ContentType="application/vnd.openxmlformats-officedocument.drawingml.chart+xml"/>
  <Override PartName="/ppt/charts/style7.xml" ContentType="application/vnd.ms-office.chartstyle+xml"/>
  <Override PartName="/ppt/charts/colors7.xml" ContentType="application/vnd.ms-office.chartcolorstyle+xml"/>
  <Override PartName="/ppt/charts/chart8.xml" ContentType="application/vnd.openxmlformats-officedocument.drawingml.chart+xml"/>
  <Override PartName="/ppt/charts/style8.xml" ContentType="application/vnd.ms-office.chartstyle+xml"/>
  <Override PartName="/ppt/charts/colors8.xml" ContentType="application/vnd.ms-office.chartcolorstyle+xml"/>
  <Override PartName="/ppt/charts/chart9.xml" ContentType="application/vnd.openxmlformats-officedocument.drawingml.chart+xml"/>
  <Override PartName="/ppt/charts/style9.xml" ContentType="application/vnd.ms-office.chartstyle+xml"/>
  <Override PartName="/ppt/charts/colors9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  <p:sldId id="259" r:id="rId5"/>
    <p:sldId id="263" r:id="rId6"/>
    <p:sldId id="260" r:id="rId7"/>
    <p:sldId id="261" r:id="rId8"/>
    <p:sldId id="262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80" r:id="rId25"/>
    <p:sldId id="283" r:id="rId26"/>
    <p:sldId id="284" r:id="rId27"/>
    <p:sldId id="281" r:id="rId28"/>
    <p:sldId id="282" r:id="rId2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78" d="100"/>
          <a:sy n="78" d="100"/>
        </p:scale>
        <p:origin x="878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.xlsx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.xlsx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_rels/chart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4.xlsx"/><Relationship Id="rId2" Type="http://schemas.microsoft.com/office/2011/relationships/chartColorStyle" Target="colors5.xml"/><Relationship Id="rId1" Type="http://schemas.microsoft.com/office/2011/relationships/chartStyle" Target="style5.xml"/></Relationships>
</file>

<file path=ppt/charts/_rels/chart6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5.xlsx"/><Relationship Id="rId2" Type="http://schemas.microsoft.com/office/2011/relationships/chartColorStyle" Target="colors6.xml"/><Relationship Id="rId1" Type="http://schemas.microsoft.com/office/2011/relationships/chartStyle" Target="style6.xml"/></Relationships>
</file>

<file path=ppt/charts/_rels/chart7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6.xlsx"/><Relationship Id="rId2" Type="http://schemas.microsoft.com/office/2011/relationships/chartColorStyle" Target="colors7.xml"/><Relationship Id="rId1" Type="http://schemas.microsoft.com/office/2011/relationships/chartStyle" Target="style7.xml"/></Relationships>
</file>

<file path=ppt/charts/_rels/chart8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7.xlsx"/><Relationship Id="rId2" Type="http://schemas.microsoft.com/office/2011/relationships/chartColorStyle" Target="colors8.xml"/><Relationship Id="rId1" Type="http://schemas.microsoft.com/office/2011/relationships/chartStyle" Target="style8.xml"/></Relationships>
</file>

<file path=ppt/charts/_rels/chart9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8.xlsx"/><Relationship Id="rId2" Type="http://schemas.microsoft.com/office/2011/relationships/chartColorStyle" Target="colors9.xml"/><Relationship Id="rId1" Type="http://schemas.microsoft.com/office/2011/relationships/chartStyle" Target="style9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GB" dirty="0"/>
              <a:t>10 RPS – 32 clients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Python nativo</c:v>
                </c:pt>
              </c:strCache>
            </c:strRef>
          </c:tx>
          <c:spPr>
            <a:ln w="28575" cap="rnd">
              <a:solidFill>
                <a:schemeClr val="accent1"/>
              </a:solidFill>
              <a:round/>
            </a:ln>
            <a:effectLst/>
          </c:spPr>
          <c:marker>
            <c:symbol val="none"/>
          </c:marker>
          <c:cat>
            <c:strRef>
              <c:f>Sheet1!$A$2:$A$6</c:f>
              <c:strCache>
                <c:ptCount val="5"/>
                <c:pt idx="0">
                  <c:v>Mean</c:v>
                </c:pt>
                <c:pt idx="1">
                  <c:v>p50</c:v>
                </c:pt>
                <c:pt idx="2">
                  <c:v>p90</c:v>
                </c:pt>
                <c:pt idx="3">
                  <c:v>p95</c:v>
                </c:pt>
                <c:pt idx="4">
                  <c:v>p99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144.6</c:v>
                </c:pt>
                <c:pt idx="1">
                  <c:v>107.1</c:v>
                </c:pt>
                <c:pt idx="2">
                  <c:v>262.60000000000002</c:v>
                </c:pt>
                <c:pt idx="3">
                  <c:v>298.10000000000002</c:v>
                </c:pt>
                <c:pt idx="4">
                  <c:v>362.6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DC9A-42C2-86AC-3D04339C79A3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Onnx</c:v>
                </c:pt>
              </c:strCache>
            </c:strRef>
          </c:tx>
          <c:spPr>
            <a:ln w="28575" cap="rnd">
              <a:solidFill>
                <a:schemeClr val="accent2"/>
              </a:solidFill>
              <a:round/>
            </a:ln>
            <a:effectLst/>
          </c:spPr>
          <c:marker>
            <c:symbol val="none"/>
          </c:marker>
          <c:cat>
            <c:strRef>
              <c:f>Sheet1!$A$2:$A$6</c:f>
              <c:strCache>
                <c:ptCount val="5"/>
                <c:pt idx="0">
                  <c:v>Mean</c:v>
                </c:pt>
                <c:pt idx="1">
                  <c:v>p50</c:v>
                </c:pt>
                <c:pt idx="2">
                  <c:v>p90</c:v>
                </c:pt>
                <c:pt idx="3">
                  <c:v>p95</c:v>
                </c:pt>
                <c:pt idx="4">
                  <c:v>p99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97.4</c:v>
                </c:pt>
                <c:pt idx="1">
                  <c:v>79.8</c:v>
                </c:pt>
                <c:pt idx="2">
                  <c:v>162</c:v>
                </c:pt>
                <c:pt idx="3">
                  <c:v>191</c:v>
                </c:pt>
                <c:pt idx="4">
                  <c:v>263.5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DC9A-42C2-86AC-3D04339C79A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194242784"/>
        <c:axId val="1194248544"/>
      </c:lineChart>
      <c:catAx>
        <c:axId val="119424278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194248544"/>
        <c:crosses val="autoZero"/>
        <c:auto val="1"/>
        <c:lblAlgn val="ctr"/>
        <c:lblOffset val="100"/>
        <c:noMultiLvlLbl val="0"/>
      </c:catAx>
      <c:valAx>
        <c:axId val="1194248544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19424278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GB" dirty="0"/>
              <a:t>50 RPS – 32 clients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Python nativo</c:v>
                </c:pt>
              </c:strCache>
            </c:strRef>
          </c:tx>
          <c:spPr>
            <a:ln w="28575" cap="rnd">
              <a:solidFill>
                <a:schemeClr val="accent1"/>
              </a:solidFill>
              <a:round/>
            </a:ln>
            <a:effectLst/>
          </c:spPr>
          <c:marker>
            <c:symbol val="none"/>
          </c:marker>
          <c:cat>
            <c:strRef>
              <c:f>Sheet1!$A$2:$A$6</c:f>
              <c:strCache>
                <c:ptCount val="5"/>
                <c:pt idx="0">
                  <c:v>Mean</c:v>
                </c:pt>
                <c:pt idx="1">
                  <c:v>p50</c:v>
                </c:pt>
                <c:pt idx="2">
                  <c:v>p90</c:v>
                </c:pt>
                <c:pt idx="3">
                  <c:v>p95</c:v>
                </c:pt>
                <c:pt idx="4">
                  <c:v>p99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4493.5</c:v>
                </c:pt>
                <c:pt idx="1">
                  <c:v>4772.3999999999996</c:v>
                </c:pt>
                <c:pt idx="2">
                  <c:v>4867.2</c:v>
                </c:pt>
                <c:pt idx="3">
                  <c:v>4885</c:v>
                </c:pt>
                <c:pt idx="4">
                  <c:v>4917.5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41F4-46D2-9E32-1BB436EA7AB6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Onnx</c:v>
                </c:pt>
              </c:strCache>
            </c:strRef>
          </c:tx>
          <c:spPr>
            <a:ln w="28575" cap="rnd">
              <a:solidFill>
                <a:schemeClr val="accent2"/>
              </a:solidFill>
              <a:round/>
            </a:ln>
            <a:effectLst/>
          </c:spPr>
          <c:marker>
            <c:symbol val="none"/>
          </c:marker>
          <c:cat>
            <c:strRef>
              <c:f>Sheet1!$A$2:$A$6</c:f>
              <c:strCache>
                <c:ptCount val="5"/>
                <c:pt idx="0">
                  <c:v>Mean</c:v>
                </c:pt>
                <c:pt idx="1">
                  <c:v>p50</c:v>
                </c:pt>
                <c:pt idx="2">
                  <c:v>p90</c:v>
                </c:pt>
                <c:pt idx="3">
                  <c:v>p95</c:v>
                </c:pt>
                <c:pt idx="4">
                  <c:v>p99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4442.6000000000004</c:v>
                </c:pt>
                <c:pt idx="1">
                  <c:v>4678.3</c:v>
                </c:pt>
                <c:pt idx="2">
                  <c:v>4754</c:v>
                </c:pt>
                <c:pt idx="3">
                  <c:v>4761.8999999999996</c:v>
                </c:pt>
                <c:pt idx="4">
                  <c:v>5247.1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41F4-46D2-9E32-1BB436EA7AB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194242784"/>
        <c:axId val="1194248544"/>
      </c:lineChart>
      <c:catAx>
        <c:axId val="119424278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194248544"/>
        <c:crosses val="autoZero"/>
        <c:auto val="1"/>
        <c:lblAlgn val="ctr"/>
        <c:lblOffset val="100"/>
        <c:noMultiLvlLbl val="0"/>
      </c:catAx>
      <c:valAx>
        <c:axId val="1194248544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19424278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GB" dirty="0"/>
              <a:t>10 RPS – 64 clients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Python nativo</c:v>
                </c:pt>
              </c:strCache>
            </c:strRef>
          </c:tx>
          <c:spPr>
            <a:ln w="28575" cap="rnd">
              <a:solidFill>
                <a:schemeClr val="accent1"/>
              </a:solidFill>
              <a:round/>
            </a:ln>
            <a:effectLst/>
          </c:spPr>
          <c:marker>
            <c:symbol val="none"/>
          </c:marker>
          <c:cat>
            <c:strRef>
              <c:f>Sheet1!$A$2:$A$6</c:f>
              <c:strCache>
                <c:ptCount val="5"/>
                <c:pt idx="0">
                  <c:v>Mean</c:v>
                </c:pt>
                <c:pt idx="1">
                  <c:v>p50</c:v>
                </c:pt>
                <c:pt idx="2">
                  <c:v>p90</c:v>
                </c:pt>
                <c:pt idx="3">
                  <c:v>p95</c:v>
                </c:pt>
                <c:pt idx="4">
                  <c:v>p99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118.6</c:v>
                </c:pt>
                <c:pt idx="1">
                  <c:v>85.9</c:v>
                </c:pt>
                <c:pt idx="2">
                  <c:v>231.3</c:v>
                </c:pt>
                <c:pt idx="3">
                  <c:v>262.8</c:v>
                </c:pt>
                <c:pt idx="4">
                  <c:v>336.4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60ED-42C5-A820-6554556EFD44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Onnx</c:v>
                </c:pt>
              </c:strCache>
            </c:strRef>
          </c:tx>
          <c:spPr>
            <a:ln w="28575" cap="rnd">
              <a:solidFill>
                <a:schemeClr val="accent2"/>
              </a:solidFill>
              <a:round/>
            </a:ln>
            <a:effectLst/>
          </c:spPr>
          <c:marker>
            <c:symbol val="none"/>
          </c:marker>
          <c:cat>
            <c:strRef>
              <c:f>Sheet1!$A$2:$A$6</c:f>
              <c:strCache>
                <c:ptCount val="5"/>
                <c:pt idx="0">
                  <c:v>Mean</c:v>
                </c:pt>
                <c:pt idx="1">
                  <c:v>p50</c:v>
                </c:pt>
                <c:pt idx="2">
                  <c:v>p90</c:v>
                </c:pt>
                <c:pt idx="3">
                  <c:v>p95</c:v>
                </c:pt>
                <c:pt idx="4">
                  <c:v>p99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111.6</c:v>
                </c:pt>
                <c:pt idx="1">
                  <c:v>92.9</c:v>
                </c:pt>
                <c:pt idx="2">
                  <c:v>194</c:v>
                </c:pt>
                <c:pt idx="3">
                  <c:v>238.1</c:v>
                </c:pt>
                <c:pt idx="4">
                  <c:v>318.60000000000002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60ED-42C5-A820-6554556EFD4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194242784"/>
        <c:axId val="1194248544"/>
      </c:lineChart>
      <c:catAx>
        <c:axId val="119424278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194248544"/>
        <c:crosses val="autoZero"/>
        <c:auto val="1"/>
        <c:lblAlgn val="ctr"/>
        <c:lblOffset val="100"/>
        <c:noMultiLvlLbl val="0"/>
      </c:catAx>
      <c:valAx>
        <c:axId val="1194248544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19424278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GB" dirty="0"/>
              <a:t>50 RPS – 64 clients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Python nativo</c:v>
                </c:pt>
              </c:strCache>
            </c:strRef>
          </c:tx>
          <c:spPr>
            <a:ln w="28575" cap="rnd">
              <a:solidFill>
                <a:schemeClr val="accent1"/>
              </a:solidFill>
              <a:round/>
            </a:ln>
            <a:effectLst/>
          </c:spPr>
          <c:marker>
            <c:symbol val="none"/>
          </c:marker>
          <c:cat>
            <c:strRef>
              <c:f>Sheet1!$A$2:$A$6</c:f>
              <c:strCache>
                <c:ptCount val="5"/>
                <c:pt idx="0">
                  <c:v>Mean</c:v>
                </c:pt>
                <c:pt idx="1">
                  <c:v>p50</c:v>
                </c:pt>
                <c:pt idx="2">
                  <c:v>p90</c:v>
                </c:pt>
                <c:pt idx="3">
                  <c:v>p95</c:v>
                </c:pt>
                <c:pt idx="4">
                  <c:v>p99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6085.9</c:v>
                </c:pt>
                <c:pt idx="1">
                  <c:v>6557.9</c:v>
                </c:pt>
                <c:pt idx="2">
                  <c:v>6762.2</c:v>
                </c:pt>
                <c:pt idx="3">
                  <c:v>6815</c:v>
                </c:pt>
                <c:pt idx="4">
                  <c:v>7059.8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9C7D-4FAF-8A31-44310C5516D0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Onnx</c:v>
                </c:pt>
              </c:strCache>
            </c:strRef>
          </c:tx>
          <c:spPr>
            <a:ln w="28575" cap="rnd">
              <a:solidFill>
                <a:schemeClr val="accent2"/>
              </a:solidFill>
              <a:round/>
            </a:ln>
            <a:effectLst/>
          </c:spPr>
          <c:marker>
            <c:symbol val="none"/>
          </c:marker>
          <c:cat>
            <c:strRef>
              <c:f>Sheet1!$A$2:$A$6</c:f>
              <c:strCache>
                <c:ptCount val="5"/>
                <c:pt idx="0">
                  <c:v>Mean</c:v>
                </c:pt>
                <c:pt idx="1">
                  <c:v>p50</c:v>
                </c:pt>
                <c:pt idx="2">
                  <c:v>p90</c:v>
                </c:pt>
                <c:pt idx="3">
                  <c:v>p95</c:v>
                </c:pt>
                <c:pt idx="4">
                  <c:v>p99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5910.9</c:v>
                </c:pt>
                <c:pt idx="1">
                  <c:v>6363.8</c:v>
                </c:pt>
                <c:pt idx="2">
                  <c:v>6432</c:v>
                </c:pt>
                <c:pt idx="3">
                  <c:v>6442.4</c:v>
                </c:pt>
                <c:pt idx="4">
                  <c:v>8558.5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9C7D-4FAF-8A31-44310C5516D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194242784"/>
        <c:axId val="1194248544"/>
      </c:lineChart>
      <c:catAx>
        <c:axId val="119424278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194248544"/>
        <c:crosses val="autoZero"/>
        <c:auto val="1"/>
        <c:lblAlgn val="ctr"/>
        <c:lblOffset val="100"/>
        <c:noMultiLvlLbl val="0"/>
      </c:catAx>
      <c:valAx>
        <c:axId val="1194248544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19424278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GB" dirty="0"/>
              <a:t>10 RPS – 32 clients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Python nativo</c:v>
                </c:pt>
              </c:strCache>
            </c:strRef>
          </c:tx>
          <c:spPr>
            <a:ln w="28575" cap="rnd">
              <a:solidFill>
                <a:schemeClr val="accent1"/>
              </a:solidFill>
              <a:round/>
            </a:ln>
            <a:effectLst/>
          </c:spPr>
          <c:marker>
            <c:symbol val="none"/>
          </c:marker>
          <c:cat>
            <c:strRef>
              <c:f>Sheet1!$A$2:$A$6</c:f>
              <c:strCache>
                <c:ptCount val="5"/>
                <c:pt idx="0">
                  <c:v>Mean</c:v>
                </c:pt>
                <c:pt idx="1">
                  <c:v>p50</c:v>
                </c:pt>
                <c:pt idx="2">
                  <c:v>p90</c:v>
                </c:pt>
                <c:pt idx="3">
                  <c:v>p95</c:v>
                </c:pt>
                <c:pt idx="4">
                  <c:v>p99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4761.1000000000004</c:v>
                </c:pt>
                <c:pt idx="1">
                  <c:v>5497.1</c:v>
                </c:pt>
                <c:pt idx="2">
                  <c:v>6425.5</c:v>
                </c:pt>
                <c:pt idx="3">
                  <c:v>7769.6</c:v>
                </c:pt>
                <c:pt idx="4">
                  <c:v>8756.7000000000007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DC9A-42C2-86AC-3D04339C79A3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Onnx</c:v>
                </c:pt>
              </c:strCache>
            </c:strRef>
          </c:tx>
          <c:spPr>
            <a:ln w="28575" cap="rnd">
              <a:solidFill>
                <a:schemeClr val="accent2"/>
              </a:solidFill>
              <a:round/>
            </a:ln>
            <a:effectLst/>
          </c:spPr>
          <c:marker>
            <c:symbol val="none"/>
          </c:marker>
          <c:cat>
            <c:strRef>
              <c:f>Sheet1!$A$2:$A$6</c:f>
              <c:strCache>
                <c:ptCount val="5"/>
                <c:pt idx="0">
                  <c:v>Mean</c:v>
                </c:pt>
                <c:pt idx="1">
                  <c:v>p50</c:v>
                </c:pt>
                <c:pt idx="2">
                  <c:v>p90</c:v>
                </c:pt>
                <c:pt idx="3">
                  <c:v>p95</c:v>
                </c:pt>
                <c:pt idx="4">
                  <c:v>p99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4379.8</c:v>
                </c:pt>
                <c:pt idx="1">
                  <c:v>4847.3999999999996</c:v>
                </c:pt>
                <c:pt idx="2">
                  <c:v>6657.7</c:v>
                </c:pt>
                <c:pt idx="3">
                  <c:v>7386.8</c:v>
                </c:pt>
                <c:pt idx="4">
                  <c:v>7883.6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DC9A-42C2-86AC-3D04339C79A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194242784"/>
        <c:axId val="1194248544"/>
      </c:lineChart>
      <c:catAx>
        <c:axId val="119424278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194248544"/>
        <c:crosses val="autoZero"/>
        <c:auto val="1"/>
        <c:lblAlgn val="ctr"/>
        <c:lblOffset val="100"/>
        <c:noMultiLvlLbl val="0"/>
      </c:catAx>
      <c:valAx>
        <c:axId val="1194248544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19424278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GB" dirty="0"/>
              <a:t>50 RPS – 32 clients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Python nativo</c:v>
                </c:pt>
              </c:strCache>
            </c:strRef>
          </c:tx>
          <c:spPr>
            <a:ln w="28575" cap="rnd">
              <a:solidFill>
                <a:schemeClr val="accent1"/>
              </a:solidFill>
              <a:round/>
            </a:ln>
            <a:effectLst/>
          </c:spPr>
          <c:marker>
            <c:symbol val="none"/>
          </c:marker>
          <c:cat>
            <c:strRef>
              <c:f>Sheet1!$A$2:$A$6</c:f>
              <c:strCache>
                <c:ptCount val="5"/>
                <c:pt idx="0">
                  <c:v>Mean</c:v>
                </c:pt>
                <c:pt idx="1">
                  <c:v>p50</c:v>
                </c:pt>
                <c:pt idx="2">
                  <c:v>p90</c:v>
                </c:pt>
                <c:pt idx="3">
                  <c:v>p95</c:v>
                </c:pt>
                <c:pt idx="4">
                  <c:v>p99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6239.6</c:v>
                </c:pt>
                <c:pt idx="1">
                  <c:v>6469.1</c:v>
                </c:pt>
                <c:pt idx="2">
                  <c:v>6684.9</c:v>
                </c:pt>
                <c:pt idx="3">
                  <c:v>8073.9</c:v>
                </c:pt>
                <c:pt idx="4">
                  <c:v>9480.7999999999993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41F4-46D2-9E32-1BB436EA7AB6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Onnx</c:v>
                </c:pt>
              </c:strCache>
            </c:strRef>
          </c:tx>
          <c:spPr>
            <a:ln w="28575" cap="rnd">
              <a:solidFill>
                <a:schemeClr val="accent2"/>
              </a:solidFill>
              <a:round/>
            </a:ln>
            <a:effectLst/>
          </c:spPr>
          <c:marker>
            <c:symbol val="none"/>
          </c:marker>
          <c:cat>
            <c:strRef>
              <c:f>Sheet1!$A$2:$A$6</c:f>
              <c:strCache>
                <c:ptCount val="5"/>
                <c:pt idx="0">
                  <c:v>Mean</c:v>
                </c:pt>
                <c:pt idx="1">
                  <c:v>p50</c:v>
                </c:pt>
                <c:pt idx="2">
                  <c:v>p90</c:v>
                </c:pt>
                <c:pt idx="3">
                  <c:v>p95</c:v>
                </c:pt>
                <c:pt idx="4">
                  <c:v>p99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6106.7</c:v>
                </c:pt>
                <c:pt idx="1">
                  <c:v>6294.7</c:v>
                </c:pt>
                <c:pt idx="2">
                  <c:v>6627.2</c:v>
                </c:pt>
                <c:pt idx="3">
                  <c:v>8255.6</c:v>
                </c:pt>
                <c:pt idx="4">
                  <c:v>9232.4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41F4-46D2-9E32-1BB436EA7AB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194242784"/>
        <c:axId val="1194248544"/>
      </c:lineChart>
      <c:catAx>
        <c:axId val="119424278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194248544"/>
        <c:crosses val="autoZero"/>
        <c:auto val="1"/>
        <c:lblAlgn val="ctr"/>
        <c:lblOffset val="100"/>
        <c:noMultiLvlLbl val="0"/>
      </c:catAx>
      <c:valAx>
        <c:axId val="1194248544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19424278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GB" dirty="0"/>
              <a:t>10 RPS – 64 clients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Python nativo</c:v>
                </c:pt>
              </c:strCache>
            </c:strRef>
          </c:tx>
          <c:spPr>
            <a:ln w="28575" cap="rnd">
              <a:solidFill>
                <a:schemeClr val="accent1"/>
              </a:solidFill>
              <a:round/>
            </a:ln>
            <a:effectLst/>
          </c:spPr>
          <c:marker>
            <c:symbol val="none"/>
          </c:marker>
          <c:cat>
            <c:strRef>
              <c:f>Sheet1!$A$2:$A$6</c:f>
              <c:strCache>
                <c:ptCount val="5"/>
                <c:pt idx="0">
                  <c:v>Mean</c:v>
                </c:pt>
                <c:pt idx="1">
                  <c:v>p50</c:v>
                </c:pt>
                <c:pt idx="2">
                  <c:v>p90</c:v>
                </c:pt>
                <c:pt idx="3">
                  <c:v>p95</c:v>
                </c:pt>
                <c:pt idx="4">
                  <c:v>p99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4969.6000000000004</c:v>
                </c:pt>
                <c:pt idx="1">
                  <c:v>4855.8</c:v>
                </c:pt>
                <c:pt idx="2">
                  <c:v>10282.299999999999</c:v>
                </c:pt>
                <c:pt idx="3">
                  <c:v>12558.8</c:v>
                </c:pt>
                <c:pt idx="4">
                  <c:v>16011.5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60ED-42C5-A820-6554556EFD44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Onnx</c:v>
                </c:pt>
              </c:strCache>
            </c:strRef>
          </c:tx>
          <c:spPr>
            <a:ln w="28575" cap="rnd">
              <a:solidFill>
                <a:schemeClr val="accent2"/>
              </a:solidFill>
              <a:round/>
            </a:ln>
            <a:effectLst/>
          </c:spPr>
          <c:marker>
            <c:symbol val="none"/>
          </c:marker>
          <c:cat>
            <c:strRef>
              <c:f>Sheet1!$A$2:$A$6</c:f>
              <c:strCache>
                <c:ptCount val="5"/>
                <c:pt idx="0">
                  <c:v>Mean</c:v>
                </c:pt>
                <c:pt idx="1">
                  <c:v>p50</c:v>
                </c:pt>
                <c:pt idx="2">
                  <c:v>p90</c:v>
                </c:pt>
                <c:pt idx="3">
                  <c:v>p95</c:v>
                </c:pt>
                <c:pt idx="4">
                  <c:v>p99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3955.8</c:v>
                </c:pt>
                <c:pt idx="1">
                  <c:v>2879.5</c:v>
                </c:pt>
                <c:pt idx="2">
                  <c:v>7524</c:v>
                </c:pt>
                <c:pt idx="3">
                  <c:v>10077.4</c:v>
                </c:pt>
                <c:pt idx="4">
                  <c:v>14978.8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60ED-42C5-A820-6554556EFD4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194242784"/>
        <c:axId val="1194248544"/>
      </c:lineChart>
      <c:catAx>
        <c:axId val="119424278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194248544"/>
        <c:crosses val="autoZero"/>
        <c:auto val="1"/>
        <c:lblAlgn val="ctr"/>
        <c:lblOffset val="100"/>
        <c:noMultiLvlLbl val="0"/>
      </c:catAx>
      <c:valAx>
        <c:axId val="1194248544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19424278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GB" dirty="0"/>
              <a:t>50 RPS – 64 clients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Python nativo</c:v>
                </c:pt>
              </c:strCache>
            </c:strRef>
          </c:tx>
          <c:spPr>
            <a:ln w="28575" cap="rnd">
              <a:solidFill>
                <a:schemeClr val="accent1"/>
              </a:solidFill>
              <a:round/>
            </a:ln>
            <a:effectLst/>
          </c:spPr>
          <c:marker>
            <c:symbol val="none"/>
          </c:marker>
          <c:cat>
            <c:strRef>
              <c:f>Sheet1!$A$2:$A$6</c:f>
              <c:strCache>
                <c:ptCount val="5"/>
                <c:pt idx="0">
                  <c:v>Mean</c:v>
                </c:pt>
                <c:pt idx="1">
                  <c:v>p50</c:v>
                </c:pt>
                <c:pt idx="2">
                  <c:v>p90</c:v>
                </c:pt>
                <c:pt idx="3">
                  <c:v>p95</c:v>
                </c:pt>
                <c:pt idx="4">
                  <c:v>p99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9275.2000000000007</c:v>
                </c:pt>
                <c:pt idx="1">
                  <c:v>8297.7000000000007</c:v>
                </c:pt>
                <c:pt idx="2">
                  <c:v>14084</c:v>
                </c:pt>
                <c:pt idx="3">
                  <c:v>19135.900000000001</c:v>
                </c:pt>
                <c:pt idx="4">
                  <c:v>22981.8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9C7D-4FAF-8A31-44310C5516D0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Onnx</c:v>
                </c:pt>
              </c:strCache>
            </c:strRef>
          </c:tx>
          <c:spPr>
            <a:ln w="28575" cap="rnd">
              <a:solidFill>
                <a:schemeClr val="accent2"/>
              </a:solidFill>
              <a:round/>
            </a:ln>
            <a:effectLst/>
          </c:spPr>
          <c:marker>
            <c:symbol val="none"/>
          </c:marker>
          <c:cat>
            <c:strRef>
              <c:f>Sheet1!$A$2:$A$6</c:f>
              <c:strCache>
                <c:ptCount val="5"/>
                <c:pt idx="0">
                  <c:v>Mean</c:v>
                </c:pt>
                <c:pt idx="1">
                  <c:v>p50</c:v>
                </c:pt>
                <c:pt idx="2">
                  <c:v>p90</c:v>
                </c:pt>
                <c:pt idx="3">
                  <c:v>p95</c:v>
                </c:pt>
                <c:pt idx="4">
                  <c:v>p99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8963.2000000000007</c:v>
                </c:pt>
                <c:pt idx="1">
                  <c:v>8356.5</c:v>
                </c:pt>
                <c:pt idx="2">
                  <c:v>13454.7</c:v>
                </c:pt>
                <c:pt idx="3">
                  <c:v>17848.3</c:v>
                </c:pt>
                <c:pt idx="4">
                  <c:v>21365.5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9C7D-4FAF-8A31-44310C5516D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194242784"/>
        <c:axId val="1194248544"/>
      </c:lineChart>
      <c:catAx>
        <c:axId val="119424278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194248544"/>
        <c:crosses val="autoZero"/>
        <c:auto val="1"/>
        <c:lblAlgn val="ctr"/>
        <c:lblOffset val="100"/>
        <c:noMultiLvlLbl val="0"/>
      </c:catAx>
      <c:valAx>
        <c:axId val="1194248544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19424278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GB" dirty="0" err="1"/>
              <a:t>Differenze</a:t>
            </a:r>
            <a:r>
              <a:rPr lang="en-GB" dirty="0"/>
              <a:t> di </a:t>
            </a:r>
            <a:r>
              <a:rPr lang="en-GB" dirty="0" err="1"/>
              <a:t>inferenza</a:t>
            </a:r>
            <a:r>
              <a:rPr lang="en-GB" dirty="0"/>
              <a:t> a 1000 </a:t>
            </a:r>
            <a:r>
              <a:rPr lang="en-GB" dirty="0" err="1"/>
              <a:t>richieste</a:t>
            </a:r>
            <a:r>
              <a:rPr lang="en-GB" dirty="0"/>
              <a:t> 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Python nativo</c:v>
                </c:pt>
              </c:strCache>
            </c:strRef>
          </c:tx>
          <c:spPr>
            <a:ln w="28575" cap="rnd">
              <a:solidFill>
                <a:schemeClr val="accent1"/>
              </a:solidFill>
              <a:round/>
            </a:ln>
            <a:effectLst/>
          </c:spPr>
          <c:marker>
            <c:symbol val="none"/>
          </c:marker>
          <c:cat>
            <c:strRef>
              <c:f>Sheet1!$A$2:$A$6</c:f>
              <c:strCache>
                <c:ptCount val="5"/>
                <c:pt idx="0">
                  <c:v>Mean</c:v>
                </c:pt>
                <c:pt idx="1">
                  <c:v>p50</c:v>
                </c:pt>
                <c:pt idx="2">
                  <c:v>p90</c:v>
                </c:pt>
                <c:pt idx="3">
                  <c:v>p95</c:v>
                </c:pt>
                <c:pt idx="4">
                  <c:v>p99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2.57</c:v>
                </c:pt>
                <c:pt idx="1">
                  <c:v>2.37</c:v>
                </c:pt>
                <c:pt idx="2">
                  <c:v>3.3</c:v>
                </c:pt>
                <c:pt idx="3">
                  <c:v>3.52</c:v>
                </c:pt>
                <c:pt idx="4">
                  <c:v>4.4400000000000004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E212-42B8-9FE7-4B6A48D16D4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Onnx</c:v>
                </c:pt>
              </c:strCache>
            </c:strRef>
          </c:tx>
          <c:spPr>
            <a:ln w="28575" cap="rnd">
              <a:solidFill>
                <a:schemeClr val="accent2"/>
              </a:solidFill>
              <a:round/>
            </a:ln>
            <a:effectLst/>
          </c:spPr>
          <c:marker>
            <c:symbol val="none"/>
          </c:marker>
          <c:cat>
            <c:strRef>
              <c:f>Sheet1!$A$2:$A$6</c:f>
              <c:strCache>
                <c:ptCount val="5"/>
                <c:pt idx="0">
                  <c:v>Mean</c:v>
                </c:pt>
                <c:pt idx="1">
                  <c:v>p50</c:v>
                </c:pt>
                <c:pt idx="2">
                  <c:v>p90</c:v>
                </c:pt>
                <c:pt idx="3">
                  <c:v>p95</c:v>
                </c:pt>
                <c:pt idx="4">
                  <c:v>p99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1.59</c:v>
                </c:pt>
                <c:pt idx="1">
                  <c:v>1.5</c:v>
                </c:pt>
                <c:pt idx="2">
                  <c:v>1.83</c:v>
                </c:pt>
                <c:pt idx="3">
                  <c:v>2.17</c:v>
                </c:pt>
                <c:pt idx="4">
                  <c:v>2.27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E212-42B8-9FE7-4B6A48D16D4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194339264"/>
        <c:axId val="1194339744"/>
      </c:lineChart>
      <c:catAx>
        <c:axId val="119433926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194339744"/>
        <c:crosses val="autoZero"/>
        <c:auto val="1"/>
        <c:lblAlgn val="ctr"/>
        <c:lblOffset val="100"/>
        <c:noMultiLvlLbl val="0"/>
      </c:catAx>
      <c:valAx>
        <c:axId val="1194339744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19433926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8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9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7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8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9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484FAF54-4DD5-4562-ADEF-4061C5079161}" type="doc">
      <dgm:prSet loTypeId="urn:microsoft.com/office/officeart/2005/8/layout/vProcess5" loCatId="process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D8CF7C44-91D2-4B9E-B63A-27D0A84D8AD8}">
      <dgm:prSet/>
      <dgm:spPr/>
      <dgm:t>
        <a:bodyPr/>
        <a:lstStyle/>
        <a:p>
          <a:r>
            <a:rPr lang="it-IT"/>
            <a:t>Una volta ottenuto il modello .onnx per poter usarlo in rust si è usato il crate ort e si è proceduti a:</a:t>
          </a:r>
          <a:endParaRPr lang="en-US"/>
        </a:p>
      </dgm:t>
    </dgm:pt>
    <dgm:pt modelId="{FC877633-8A9D-4257-9704-A997AA27250A}" type="parTrans" cxnId="{F02C57F1-6DE9-44FF-9021-8C60F046BC8E}">
      <dgm:prSet/>
      <dgm:spPr/>
      <dgm:t>
        <a:bodyPr/>
        <a:lstStyle/>
        <a:p>
          <a:endParaRPr lang="en-US"/>
        </a:p>
      </dgm:t>
    </dgm:pt>
    <dgm:pt modelId="{D456485A-7E27-4470-9972-6A0B84E73BB5}" type="sibTrans" cxnId="{F02C57F1-6DE9-44FF-9021-8C60F046BC8E}">
      <dgm:prSet/>
      <dgm:spPr/>
      <dgm:t>
        <a:bodyPr/>
        <a:lstStyle/>
        <a:p>
          <a:endParaRPr lang="en-US"/>
        </a:p>
      </dgm:t>
    </dgm:pt>
    <dgm:pt modelId="{EEB5B510-5341-4A97-94F6-6CEC0DA6FB19}">
      <dgm:prSet/>
      <dgm:spPr/>
      <dgm:t>
        <a:bodyPr/>
        <a:lstStyle/>
        <a:p>
          <a:r>
            <a:rPr lang="it-IT"/>
            <a:t>Importare il modello.</a:t>
          </a:r>
          <a:endParaRPr lang="en-US"/>
        </a:p>
      </dgm:t>
    </dgm:pt>
    <dgm:pt modelId="{C4CDCE5E-417A-43A7-A2A8-7FDC0AE03B03}" type="parTrans" cxnId="{BC6DDBA3-3C5C-44F1-B42B-9864E972EF6A}">
      <dgm:prSet/>
      <dgm:spPr/>
      <dgm:t>
        <a:bodyPr/>
        <a:lstStyle/>
        <a:p>
          <a:endParaRPr lang="en-US"/>
        </a:p>
      </dgm:t>
    </dgm:pt>
    <dgm:pt modelId="{0594DE58-AA13-439A-B607-C09347836EC8}" type="sibTrans" cxnId="{BC6DDBA3-3C5C-44F1-B42B-9864E972EF6A}">
      <dgm:prSet/>
      <dgm:spPr/>
      <dgm:t>
        <a:bodyPr/>
        <a:lstStyle/>
        <a:p>
          <a:endParaRPr lang="en-US"/>
        </a:p>
      </dgm:t>
    </dgm:pt>
    <dgm:pt modelId="{9C5348B7-7207-42DD-8691-3BEA70604441}">
      <dgm:prSet/>
      <dgm:spPr/>
      <dgm:t>
        <a:bodyPr/>
        <a:lstStyle/>
        <a:p>
          <a:r>
            <a:rPr lang="it-IT"/>
            <a:t>Creare un input di esempio per il test e passarlo al modello durante l’inferenza.</a:t>
          </a:r>
          <a:endParaRPr lang="en-US"/>
        </a:p>
      </dgm:t>
    </dgm:pt>
    <dgm:pt modelId="{FAD17543-D6CE-466B-9537-BD2B658170D7}" type="parTrans" cxnId="{B28034AC-A1FD-46D0-95FE-56EA896FA360}">
      <dgm:prSet/>
      <dgm:spPr/>
      <dgm:t>
        <a:bodyPr/>
        <a:lstStyle/>
        <a:p>
          <a:endParaRPr lang="en-US"/>
        </a:p>
      </dgm:t>
    </dgm:pt>
    <dgm:pt modelId="{AC0C9336-8C28-481D-9282-51EB434ED3B2}" type="sibTrans" cxnId="{B28034AC-A1FD-46D0-95FE-56EA896FA360}">
      <dgm:prSet/>
      <dgm:spPr/>
      <dgm:t>
        <a:bodyPr/>
        <a:lstStyle/>
        <a:p>
          <a:endParaRPr lang="en-US"/>
        </a:p>
      </dgm:t>
    </dgm:pt>
    <dgm:pt modelId="{E6511009-3285-4D71-AAA3-29908C8099AB}">
      <dgm:prSet/>
      <dgm:spPr/>
      <dgm:t>
        <a:bodyPr/>
        <a:lstStyle/>
        <a:p>
          <a:r>
            <a:rPr lang="it-IT"/>
            <a:t>Estrarre l’output e stamparlo a schermo.</a:t>
          </a:r>
          <a:endParaRPr lang="en-US"/>
        </a:p>
      </dgm:t>
    </dgm:pt>
    <dgm:pt modelId="{3D59BD58-E561-4B1F-B96B-E2F861D9F2ED}" type="parTrans" cxnId="{674AE2D6-6011-42AC-B3C1-69197A24E7BD}">
      <dgm:prSet/>
      <dgm:spPr/>
      <dgm:t>
        <a:bodyPr/>
        <a:lstStyle/>
        <a:p>
          <a:endParaRPr lang="en-US"/>
        </a:p>
      </dgm:t>
    </dgm:pt>
    <dgm:pt modelId="{529A0ED8-3758-4103-9193-BB5F7BB58F29}" type="sibTrans" cxnId="{674AE2D6-6011-42AC-B3C1-69197A24E7BD}">
      <dgm:prSet/>
      <dgm:spPr/>
      <dgm:t>
        <a:bodyPr/>
        <a:lstStyle/>
        <a:p>
          <a:endParaRPr lang="en-US"/>
        </a:p>
      </dgm:t>
    </dgm:pt>
    <dgm:pt modelId="{08B897DF-2324-493A-B486-2A41821E052A}" type="pres">
      <dgm:prSet presAssocID="{484FAF54-4DD5-4562-ADEF-4061C5079161}" presName="outerComposite" presStyleCnt="0">
        <dgm:presLayoutVars>
          <dgm:chMax val="5"/>
          <dgm:dir/>
          <dgm:resizeHandles val="exact"/>
        </dgm:presLayoutVars>
      </dgm:prSet>
      <dgm:spPr/>
    </dgm:pt>
    <dgm:pt modelId="{5E04A753-AE1C-4610-9CFD-C3CA074E8A43}" type="pres">
      <dgm:prSet presAssocID="{484FAF54-4DD5-4562-ADEF-4061C5079161}" presName="dummyMaxCanvas" presStyleCnt="0">
        <dgm:presLayoutVars/>
      </dgm:prSet>
      <dgm:spPr/>
    </dgm:pt>
    <dgm:pt modelId="{7415312F-545D-4359-A9FC-16A716722E58}" type="pres">
      <dgm:prSet presAssocID="{484FAF54-4DD5-4562-ADEF-4061C5079161}" presName="OneNode_1" presStyleLbl="node1" presStyleIdx="0" presStyleCnt="1">
        <dgm:presLayoutVars>
          <dgm:bulletEnabled val="1"/>
        </dgm:presLayoutVars>
      </dgm:prSet>
      <dgm:spPr/>
    </dgm:pt>
  </dgm:ptLst>
  <dgm:cxnLst>
    <dgm:cxn modelId="{7236F44E-D0F4-4AFB-88D2-FAE2D21B6E57}" type="presOf" srcId="{9C5348B7-7207-42DD-8691-3BEA70604441}" destId="{7415312F-545D-4359-A9FC-16A716722E58}" srcOrd="0" destOrd="2" presId="urn:microsoft.com/office/officeart/2005/8/layout/vProcess5"/>
    <dgm:cxn modelId="{8439BD77-4D49-44A0-B958-56845E19553F}" type="presOf" srcId="{EEB5B510-5341-4A97-94F6-6CEC0DA6FB19}" destId="{7415312F-545D-4359-A9FC-16A716722E58}" srcOrd="0" destOrd="1" presId="urn:microsoft.com/office/officeart/2005/8/layout/vProcess5"/>
    <dgm:cxn modelId="{4351C180-014E-40EB-9624-775E38E05715}" type="presOf" srcId="{D8CF7C44-91D2-4B9E-B63A-27D0A84D8AD8}" destId="{7415312F-545D-4359-A9FC-16A716722E58}" srcOrd="0" destOrd="0" presId="urn:microsoft.com/office/officeart/2005/8/layout/vProcess5"/>
    <dgm:cxn modelId="{BC6DDBA3-3C5C-44F1-B42B-9864E972EF6A}" srcId="{D8CF7C44-91D2-4B9E-B63A-27D0A84D8AD8}" destId="{EEB5B510-5341-4A97-94F6-6CEC0DA6FB19}" srcOrd="0" destOrd="0" parTransId="{C4CDCE5E-417A-43A7-A2A8-7FDC0AE03B03}" sibTransId="{0594DE58-AA13-439A-B607-C09347836EC8}"/>
    <dgm:cxn modelId="{B28034AC-A1FD-46D0-95FE-56EA896FA360}" srcId="{D8CF7C44-91D2-4B9E-B63A-27D0A84D8AD8}" destId="{9C5348B7-7207-42DD-8691-3BEA70604441}" srcOrd="1" destOrd="0" parTransId="{FAD17543-D6CE-466B-9537-BD2B658170D7}" sibTransId="{AC0C9336-8C28-481D-9282-51EB434ED3B2}"/>
    <dgm:cxn modelId="{674AE2D6-6011-42AC-B3C1-69197A24E7BD}" srcId="{D8CF7C44-91D2-4B9E-B63A-27D0A84D8AD8}" destId="{E6511009-3285-4D71-AAA3-29908C8099AB}" srcOrd="2" destOrd="0" parTransId="{3D59BD58-E561-4B1F-B96B-E2F861D9F2ED}" sibTransId="{529A0ED8-3758-4103-9193-BB5F7BB58F29}"/>
    <dgm:cxn modelId="{F02C57F1-6DE9-44FF-9021-8C60F046BC8E}" srcId="{484FAF54-4DD5-4562-ADEF-4061C5079161}" destId="{D8CF7C44-91D2-4B9E-B63A-27D0A84D8AD8}" srcOrd="0" destOrd="0" parTransId="{FC877633-8A9D-4257-9704-A997AA27250A}" sibTransId="{D456485A-7E27-4470-9972-6A0B84E73BB5}"/>
    <dgm:cxn modelId="{932550FA-CE7B-47D4-BB30-636CA514D49A}" type="presOf" srcId="{E6511009-3285-4D71-AAA3-29908C8099AB}" destId="{7415312F-545D-4359-A9FC-16A716722E58}" srcOrd="0" destOrd="3" presId="urn:microsoft.com/office/officeart/2005/8/layout/vProcess5"/>
    <dgm:cxn modelId="{E74911FB-7247-4C83-824A-3DFC7297885B}" type="presOf" srcId="{484FAF54-4DD5-4562-ADEF-4061C5079161}" destId="{08B897DF-2324-493A-B486-2A41821E052A}" srcOrd="0" destOrd="0" presId="urn:microsoft.com/office/officeart/2005/8/layout/vProcess5"/>
    <dgm:cxn modelId="{44468F11-348C-4E6C-91B8-C4ED46F0FC03}" type="presParOf" srcId="{08B897DF-2324-493A-B486-2A41821E052A}" destId="{5E04A753-AE1C-4610-9CFD-C3CA074E8A43}" srcOrd="0" destOrd="0" presId="urn:microsoft.com/office/officeart/2005/8/layout/vProcess5"/>
    <dgm:cxn modelId="{2DAA3E4D-A8AB-41C7-B323-78F04930D7F7}" type="presParOf" srcId="{08B897DF-2324-493A-B486-2A41821E052A}" destId="{7415312F-545D-4359-A9FC-16A716722E58}" srcOrd="1" destOrd="0" presId="urn:microsoft.com/office/officeart/2005/8/layout/vProcess5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B3D681B9-E15F-4975-BDAC-62B17127BEEF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E1E59EA1-FD3C-43EE-9E3C-37002B1691E0}">
      <dgm:prSet/>
      <dgm:spPr/>
      <dgm:t>
        <a:bodyPr/>
        <a:lstStyle/>
        <a:p>
          <a:r>
            <a:rPr lang="it-IT"/>
            <a:t>Per poter realizzare esattamente la stessa architettura in Rust sono state utilizzate tecniche diverse, quando necessario, soprattutto dovute alla mancanza di librerie in Rust, fra queste:</a:t>
          </a:r>
          <a:endParaRPr lang="en-US"/>
        </a:p>
      </dgm:t>
    </dgm:pt>
    <dgm:pt modelId="{8723836A-8AE7-4E1E-BF63-52F83A873A70}" type="parTrans" cxnId="{CB57734F-0A0B-49D7-B92D-B6766632150C}">
      <dgm:prSet/>
      <dgm:spPr/>
      <dgm:t>
        <a:bodyPr/>
        <a:lstStyle/>
        <a:p>
          <a:endParaRPr lang="en-US"/>
        </a:p>
      </dgm:t>
    </dgm:pt>
    <dgm:pt modelId="{1DC52F18-20F1-4CE9-BDBF-19E383067086}" type="sibTrans" cxnId="{CB57734F-0A0B-49D7-B92D-B6766632150C}">
      <dgm:prSet/>
      <dgm:spPr/>
      <dgm:t>
        <a:bodyPr/>
        <a:lstStyle/>
        <a:p>
          <a:endParaRPr lang="en-US"/>
        </a:p>
      </dgm:t>
    </dgm:pt>
    <dgm:pt modelId="{356FF831-4330-4856-88AD-2546A1A7405D}">
      <dgm:prSet/>
      <dgm:spPr/>
      <dgm:t>
        <a:bodyPr/>
        <a:lstStyle/>
        <a:p>
          <a:r>
            <a:rPr lang="en-GB"/>
            <a:t>Espansione dei tensori con singolo valore.</a:t>
          </a:r>
          <a:endParaRPr lang="en-US"/>
        </a:p>
      </dgm:t>
    </dgm:pt>
    <dgm:pt modelId="{7E06336C-4BAE-4234-A016-AF00AC46253F}" type="parTrans" cxnId="{3E6478A1-CC60-4C51-8F58-8B3526313FC8}">
      <dgm:prSet/>
      <dgm:spPr/>
      <dgm:t>
        <a:bodyPr/>
        <a:lstStyle/>
        <a:p>
          <a:endParaRPr lang="en-US"/>
        </a:p>
      </dgm:t>
    </dgm:pt>
    <dgm:pt modelId="{DA2231E3-E19F-43B2-96A9-F378B7F87826}" type="sibTrans" cxnId="{3E6478A1-CC60-4C51-8F58-8B3526313FC8}">
      <dgm:prSet/>
      <dgm:spPr/>
      <dgm:t>
        <a:bodyPr/>
        <a:lstStyle/>
        <a:p>
          <a:endParaRPr lang="en-US"/>
        </a:p>
      </dgm:t>
    </dgm:pt>
    <dgm:pt modelId="{0D4E764B-E155-4306-9B6D-45A4199FD365}">
      <dgm:prSet/>
      <dgm:spPr/>
      <dgm:t>
        <a:bodyPr/>
        <a:lstStyle/>
        <a:p>
          <a:r>
            <a:rPr lang="en-GB"/>
            <a:t>Manipolazione stringhe e allineamento in memoria.</a:t>
          </a:r>
          <a:endParaRPr lang="en-US"/>
        </a:p>
      </dgm:t>
    </dgm:pt>
    <dgm:pt modelId="{7080A8D0-0726-4CAA-BF2D-46E878758E42}" type="parTrans" cxnId="{5EDF20EC-6EBB-4112-912F-55996EDE6278}">
      <dgm:prSet/>
      <dgm:spPr/>
      <dgm:t>
        <a:bodyPr/>
        <a:lstStyle/>
        <a:p>
          <a:endParaRPr lang="en-US"/>
        </a:p>
      </dgm:t>
    </dgm:pt>
    <dgm:pt modelId="{142E74F5-01BE-4BB2-852D-019DEDA18192}" type="sibTrans" cxnId="{5EDF20EC-6EBB-4112-912F-55996EDE6278}">
      <dgm:prSet/>
      <dgm:spPr/>
      <dgm:t>
        <a:bodyPr/>
        <a:lstStyle/>
        <a:p>
          <a:endParaRPr lang="en-US"/>
        </a:p>
      </dgm:t>
    </dgm:pt>
    <dgm:pt modelId="{68C8378E-2053-4D6E-B344-6AE85E27CF5C}">
      <dgm:prSet/>
      <dgm:spPr/>
      <dgm:t>
        <a:bodyPr/>
        <a:lstStyle/>
        <a:p>
          <a:r>
            <a:rPr lang="en-GB"/>
            <a:t>Manipolazione di dimensioni e operazioni manuali, data la mancanza di einsum.</a:t>
          </a:r>
          <a:endParaRPr lang="en-US"/>
        </a:p>
      </dgm:t>
    </dgm:pt>
    <dgm:pt modelId="{AD3B876E-BD11-44D5-AADC-691DD56D09C0}" type="parTrans" cxnId="{BEAEF892-8E1E-4243-AC82-75F31C9DFD44}">
      <dgm:prSet/>
      <dgm:spPr/>
      <dgm:t>
        <a:bodyPr/>
        <a:lstStyle/>
        <a:p>
          <a:endParaRPr lang="en-US"/>
        </a:p>
      </dgm:t>
    </dgm:pt>
    <dgm:pt modelId="{AB390367-969D-4A31-861F-A46B47FA6576}" type="sibTrans" cxnId="{BEAEF892-8E1E-4243-AC82-75F31C9DFD44}">
      <dgm:prSet/>
      <dgm:spPr/>
      <dgm:t>
        <a:bodyPr/>
        <a:lstStyle/>
        <a:p>
          <a:endParaRPr lang="en-US"/>
        </a:p>
      </dgm:t>
    </dgm:pt>
    <dgm:pt modelId="{05835A59-8CCF-4E1A-A36F-975BDE82D2CA}">
      <dgm:prSet/>
      <dgm:spPr/>
      <dgm:t>
        <a:bodyPr/>
        <a:lstStyle/>
        <a:p>
          <a:r>
            <a:rPr lang="en-GB"/>
            <a:t>Binary Cross Entropy Loss specificata manualmente.</a:t>
          </a:r>
          <a:endParaRPr lang="en-US"/>
        </a:p>
      </dgm:t>
    </dgm:pt>
    <dgm:pt modelId="{390B4C5A-637B-4C7F-87A9-4BF3A9CA93CE}" type="parTrans" cxnId="{50D71684-C668-4639-B47A-EA85C630F9CF}">
      <dgm:prSet/>
      <dgm:spPr/>
      <dgm:t>
        <a:bodyPr/>
        <a:lstStyle/>
        <a:p>
          <a:endParaRPr lang="en-US"/>
        </a:p>
      </dgm:t>
    </dgm:pt>
    <dgm:pt modelId="{C01E51CB-37E5-4A3B-8264-B605341EDD24}" type="sibTrans" cxnId="{50D71684-C668-4639-B47A-EA85C630F9CF}">
      <dgm:prSet/>
      <dgm:spPr/>
      <dgm:t>
        <a:bodyPr/>
        <a:lstStyle/>
        <a:p>
          <a:endParaRPr lang="en-US"/>
        </a:p>
      </dgm:t>
    </dgm:pt>
    <dgm:pt modelId="{5418D9DE-B361-42B2-8B04-9F4F8083ED52}">
      <dgm:prSet/>
      <dgm:spPr/>
      <dgm:t>
        <a:bodyPr/>
        <a:lstStyle/>
        <a:p>
          <a:r>
            <a:rPr lang="en-GB"/>
            <a:t>Metriche specificate manualmente.</a:t>
          </a:r>
          <a:endParaRPr lang="en-US"/>
        </a:p>
      </dgm:t>
    </dgm:pt>
    <dgm:pt modelId="{17B9C53D-A719-4925-9116-C9EB809CEFF4}" type="parTrans" cxnId="{8AEEBCDA-8A9B-497A-85BD-2AD10F96DA27}">
      <dgm:prSet/>
      <dgm:spPr/>
      <dgm:t>
        <a:bodyPr/>
        <a:lstStyle/>
        <a:p>
          <a:endParaRPr lang="en-US"/>
        </a:p>
      </dgm:t>
    </dgm:pt>
    <dgm:pt modelId="{6895EEDC-1E8D-4B69-9002-63DE55F99F35}" type="sibTrans" cxnId="{8AEEBCDA-8A9B-497A-85BD-2AD10F96DA27}">
      <dgm:prSet/>
      <dgm:spPr/>
      <dgm:t>
        <a:bodyPr/>
        <a:lstStyle/>
        <a:p>
          <a:endParaRPr lang="en-US"/>
        </a:p>
      </dgm:t>
    </dgm:pt>
    <dgm:pt modelId="{C33C38D8-3F0A-4C5B-BA37-91AE3D087A64}" type="pres">
      <dgm:prSet presAssocID="{B3D681B9-E15F-4975-BDAC-62B17127BEEF}" presName="linear" presStyleCnt="0">
        <dgm:presLayoutVars>
          <dgm:animLvl val="lvl"/>
          <dgm:resizeHandles val="exact"/>
        </dgm:presLayoutVars>
      </dgm:prSet>
      <dgm:spPr/>
    </dgm:pt>
    <dgm:pt modelId="{2B7730E4-FF75-4880-A943-C8BAA5DAF2EF}" type="pres">
      <dgm:prSet presAssocID="{E1E59EA1-FD3C-43EE-9E3C-37002B1691E0}" presName="parentText" presStyleLbl="node1" presStyleIdx="0" presStyleCnt="1">
        <dgm:presLayoutVars>
          <dgm:chMax val="0"/>
          <dgm:bulletEnabled val="1"/>
        </dgm:presLayoutVars>
      </dgm:prSet>
      <dgm:spPr/>
    </dgm:pt>
    <dgm:pt modelId="{350CEC8E-E9F5-4E73-B9EE-FD43CC9DA5B5}" type="pres">
      <dgm:prSet presAssocID="{E1E59EA1-FD3C-43EE-9E3C-37002B1691E0}" presName="childText" presStyleLbl="revTx" presStyleIdx="0" presStyleCnt="1">
        <dgm:presLayoutVars>
          <dgm:bulletEnabled val="1"/>
        </dgm:presLayoutVars>
      </dgm:prSet>
      <dgm:spPr/>
    </dgm:pt>
  </dgm:ptLst>
  <dgm:cxnLst>
    <dgm:cxn modelId="{4956ED3E-4AF2-4E14-A5C3-CBB1863C1EEB}" type="presOf" srcId="{05835A59-8CCF-4E1A-A36F-975BDE82D2CA}" destId="{350CEC8E-E9F5-4E73-B9EE-FD43CC9DA5B5}" srcOrd="0" destOrd="3" presId="urn:microsoft.com/office/officeart/2005/8/layout/vList2"/>
    <dgm:cxn modelId="{A477B965-E214-47E4-9780-D9A68C369804}" type="presOf" srcId="{68C8378E-2053-4D6E-B344-6AE85E27CF5C}" destId="{350CEC8E-E9F5-4E73-B9EE-FD43CC9DA5B5}" srcOrd="0" destOrd="2" presId="urn:microsoft.com/office/officeart/2005/8/layout/vList2"/>
    <dgm:cxn modelId="{E581D14D-C37A-461E-B13D-6AFAB8863C37}" type="presOf" srcId="{356FF831-4330-4856-88AD-2546A1A7405D}" destId="{350CEC8E-E9F5-4E73-B9EE-FD43CC9DA5B5}" srcOrd="0" destOrd="0" presId="urn:microsoft.com/office/officeart/2005/8/layout/vList2"/>
    <dgm:cxn modelId="{CB57734F-0A0B-49D7-B92D-B6766632150C}" srcId="{B3D681B9-E15F-4975-BDAC-62B17127BEEF}" destId="{E1E59EA1-FD3C-43EE-9E3C-37002B1691E0}" srcOrd="0" destOrd="0" parTransId="{8723836A-8AE7-4E1E-BF63-52F83A873A70}" sibTransId="{1DC52F18-20F1-4CE9-BDBF-19E383067086}"/>
    <dgm:cxn modelId="{8D596156-8C22-4516-ABA0-66BE5E572EE3}" type="presOf" srcId="{0D4E764B-E155-4306-9B6D-45A4199FD365}" destId="{350CEC8E-E9F5-4E73-B9EE-FD43CC9DA5B5}" srcOrd="0" destOrd="1" presId="urn:microsoft.com/office/officeart/2005/8/layout/vList2"/>
    <dgm:cxn modelId="{5669E582-0B48-49EA-B89E-EEF46377EDE6}" type="presOf" srcId="{E1E59EA1-FD3C-43EE-9E3C-37002B1691E0}" destId="{2B7730E4-FF75-4880-A943-C8BAA5DAF2EF}" srcOrd="0" destOrd="0" presId="urn:microsoft.com/office/officeart/2005/8/layout/vList2"/>
    <dgm:cxn modelId="{50D71684-C668-4639-B47A-EA85C630F9CF}" srcId="{E1E59EA1-FD3C-43EE-9E3C-37002B1691E0}" destId="{05835A59-8CCF-4E1A-A36F-975BDE82D2CA}" srcOrd="3" destOrd="0" parTransId="{390B4C5A-637B-4C7F-87A9-4BF3A9CA93CE}" sibTransId="{C01E51CB-37E5-4A3B-8264-B605341EDD24}"/>
    <dgm:cxn modelId="{BEAEF892-8E1E-4243-AC82-75F31C9DFD44}" srcId="{E1E59EA1-FD3C-43EE-9E3C-37002B1691E0}" destId="{68C8378E-2053-4D6E-B344-6AE85E27CF5C}" srcOrd="2" destOrd="0" parTransId="{AD3B876E-BD11-44D5-AADC-691DD56D09C0}" sibTransId="{AB390367-969D-4A31-861F-A46B47FA6576}"/>
    <dgm:cxn modelId="{3E6478A1-CC60-4C51-8F58-8B3526313FC8}" srcId="{E1E59EA1-FD3C-43EE-9E3C-37002B1691E0}" destId="{356FF831-4330-4856-88AD-2546A1A7405D}" srcOrd="0" destOrd="0" parTransId="{7E06336C-4BAE-4234-A016-AF00AC46253F}" sibTransId="{DA2231E3-E19F-43B2-96A9-F378B7F87826}"/>
    <dgm:cxn modelId="{D5B5F3D0-E92B-4A3D-A06D-8BC410DD7F2D}" type="presOf" srcId="{B3D681B9-E15F-4975-BDAC-62B17127BEEF}" destId="{C33C38D8-3F0A-4C5B-BA37-91AE3D087A64}" srcOrd="0" destOrd="0" presId="urn:microsoft.com/office/officeart/2005/8/layout/vList2"/>
    <dgm:cxn modelId="{8AEEBCDA-8A9B-497A-85BD-2AD10F96DA27}" srcId="{E1E59EA1-FD3C-43EE-9E3C-37002B1691E0}" destId="{5418D9DE-B361-42B2-8B04-9F4F8083ED52}" srcOrd="4" destOrd="0" parTransId="{17B9C53D-A719-4925-9116-C9EB809CEFF4}" sibTransId="{6895EEDC-1E8D-4B69-9002-63DE55F99F35}"/>
    <dgm:cxn modelId="{5EDF20EC-6EBB-4112-912F-55996EDE6278}" srcId="{E1E59EA1-FD3C-43EE-9E3C-37002B1691E0}" destId="{0D4E764B-E155-4306-9B6D-45A4199FD365}" srcOrd="1" destOrd="0" parTransId="{7080A8D0-0726-4CAA-BF2D-46E878758E42}" sibTransId="{142E74F5-01BE-4BB2-852D-019DEDA18192}"/>
    <dgm:cxn modelId="{0C29DDF5-0943-4E6A-8F17-271FFB05ABEF}" type="presOf" srcId="{5418D9DE-B361-42B2-8B04-9F4F8083ED52}" destId="{350CEC8E-E9F5-4E73-B9EE-FD43CC9DA5B5}" srcOrd="0" destOrd="4" presId="urn:microsoft.com/office/officeart/2005/8/layout/vList2"/>
    <dgm:cxn modelId="{87B306F9-25D8-4274-9F59-38CCC3F518E4}" type="presParOf" srcId="{C33C38D8-3F0A-4C5B-BA37-91AE3D087A64}" destId="{2B7730E4-FF75-4880-A943-C8BAA5DAF2EF}" srcOrd="0" destOrd="0" presId="urn:microsoft.com/office/officeart/2005/8/layout/vList2"/>
    <dgm:cxn modelId="{C1453534-7490-4AEB-BCD0-9CFAE4B9AA5B}" type="presParOf" srcId="{C33C38D8-3F0A-4C5B-BA37-91AE3D087A64}" destId="{350CEC8E-E9F5-4E73-B9EE-FD43CC9DA5B5}" srcOrd="1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415312F-545D-4359-A9FC-16A716722E58}">
      <dsp:nvSpPr>
        <dsp:cNvPr id="0" name=""/>
        <dsp:cNvSpPr/>
      </dsp:nvSpPr>
      <dsp:spPr>
        <a:xfrm>
          <a:off x="0" y="903816"/>
          <a:ext cx="8534400" cy="1807633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0010" tIns="80010" rIns="80010" bIns="80010" numCol="1" spcCol="1270" anchor="t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2100" kern="1200"/>
            <a:t>Una volta ottenuto il modello .onnx per poter usarlo in rust si è usato il crate ort e si è proceduti a:</a:t>
          </a:r>
          <a:endParaRPr lang="en-US" sz="2100" kern="1200"/>
        </a:p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it-IT" sz="1600" kern="1200"/>
            <a:t>Importare il modello.</a:t>
          </a:r>
          <a:endParaRPr lang="en-US" sz="1600" kern="1200"/>
        </a:p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it-IT" sz="1600" kern="1200"/>
            <a:t>Creare un input di esempio per il test e passarlo al modello durante l’inferenza.</a:t>
          </a:r>
          <a:endParaRPr lang="en-US" sz="1600" kern="1200"/>
        </a:p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it-IT" sz="1600" kern="1200"/>
            <a:t>Estrarre l’output e stamparlo a schermo.</a:t>
          </a:r>
          <a:endParaRPr lang="en-US" sz="1600" kern="1200"/>
        </a:p>
      </dsp:txBody>
      <dsp:txXfrm>
        <a:off x="52944" y="956760"/>
        <a:ext cx="8428512" cy="1701745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B7730E4-FF75-4880-A943-C8BAA5DAF2EF}">
      <dsp:nvSpPr>
        <dsp:cNvPr id="0" name=""/>
        <dsp:cNvSpPr/>
      </dsp:nvSpPr>
      <dsp:spPr>
        <a:xfrm>
          <a:off x="0" y="82288"/>
          <a:ext cx="8534400" cy="1641509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2300" kern="1200"/>
            <a:t>Per poter realizzare esattamente la stessa architettura in Rust sono state utilizzate tecniche diverse, quando necessario, soprattutto dovute alla mancanza di librerie in Rust, fra queste:</a:t>
          </a:r>
          <a:endParaRPr lang="en-US" sz="2300" kern="1200"/>
        </a:p>
      </dsp:txBody>
      <dsp:txXfrm>
        <a:off x="80132" y="162420"/>
        <a:ext cx="8374136" cy="1481245"/>
      </dsp:txXfrm>
    </dsp:sp>
    <dsp:sp modelId="{350CEC8E-E9F5-4E73-B9EE-FD43CC9DA5B5}">
      <dsp:nvSpPr>
        <dsp:cNvPr id="0" name=""/>
        <dsp:cNvSpPr/>
      </dsp:nvSpPr>
      <dsp:spPr>
        <a:xfrm>
          <a:off x="0" y="1723798"/>
          <a:ext cx="8534400" cy="180918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70967" tIns="29210" rIns="163576" bIns="29210" numCol="1" spcCol="1270" anchor="t" anchorCtr="0">
          <a:noAutofit/>
        </a:bodyPr>
        <a:lstStyle/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GB" sz="1800" kern="1200"/>
            <a:t>Espansione dei tensori con singolo valore.</a:t>
          </a:r>
          <a:endParaRPr lang="en-US" sz="1800" kern="1200"/>
        </a:p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GB" sz="1800" kern="1200"/>
            <a:t>Manipolazione stringhe e allineamento in memoria.</a:t>
          </a:r>
          <a:endParaRPr lang="en-US" sz="1800" kern="1200"/>
        </a:p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GB" sz="1800" kern="1200"/>
            <a:t>Manipolazione di dimensioni e operazioni manuali, data la mancanza di einsum.</a:t>
          </a:r>
          <a:endParaRPr lang="en-US" sz="1800" kern="1200"/>
        </a:p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GB" sz="1800" kern="1200"/>
            <a:t>Binary Cross Entropy Loss specificata manualmente.</a:t>
          </a:r>
          <a:endParaRPr lang="en-US" sz="1800" kern="1200"/>
        </a:p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GB" sz="1800" kern="1200"/>
            <a:t>Metriche specificate manualmente.</a:t>
          </a:r>
          <a:endParaRPr lang="en-US" sz="1800" kern="1200"/>
        </a:p>
      </dsp:txBody>
      <dsp:txXfrm>
        <a:off x="0" y="1723798"/>
        <a:ext cx="8534400" cy="180918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Process5">
  <dgm:title val=""/>
  <dgm:desc val=""/>
  <dgm:catLst>
    <dgm:cat type="process" pri="1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</dgm:cxnLst>
      <dgm:bg/>
      <dgm:whole/>
    </dgm:dataModel>
  </dgm:clrData>
  <dgm:layoutNode name="outerComposite">
    <dgm:varLst>
      <dgm:chMax val="5"/>
      <dgm:dir/>
      <dgm:resizeHandles val="exact"/>
    </dgm:varLst>
    <dgm:alg type="composite"/>
    <dgm:shape xmlns:r="http://schemas.openxmlformats.org/officeDocument/2006/relationships" r:blip="">
      <dgm:adjLst/>
    </dgm:shape>
    <dgm:presOf/>
    <dgm:choose name="Name0">
      <dgm:if name="Name1" func="var" arg="dir" op="equ" val="norm">
        <dgm:constrLst>
          <dgm:constr type="primFontSz" for="ch" ptType="node" op="equ" val="65"/>
          <dgm:constr type="w" for="ch" forName="dummyMaxCanvas" refType="w"/>
          <dgm:constr type="h" for="ch" forName="dummyMaxCanvas" refType="h"/>
          <dgm:constr type="w" for="ch" forName="OneNode_1" refType="w"/>
          <dgm:constr type="h" for="ch" forName="OneNode_1" refType="h" fact="0.5"/>
          <dgm:constr type="ctrY" for="ch" forName="OneNode_1" refType="h" fact="0.5"/>
          <dgm:constr type="w" for="ch" forName="TwoNodes_1" refType="w" fact="0.85"/>
          <dgm:constr type="h" for="ch" forName="TwoNodes_1" refType="h" fact="0.45"/>
          <dgm:constr type="t" for="ch" forName="TwoNodes_1"/>
          <dgm:constr type="l" for="ch" forName="TwoNodes_1"/>
          <dgm:constr type="w" for="ch" forName="TwoNodes_2" refType="w" fact="0.85"/>
          <dgm:constr type="h" for="ch" forName="TwoNodes_2" refType="h" fact="0.45"/>
          <dgm:constr type="b" for="ch" forName="TwoNodes_2" refType="h"/>
          <dgm:constr type="r" for="ch" forName="TwoNodes_2" refType="w"/>
          <dgm:constr type="w" for="ch" forName="TwoConn_1-2" refType="h" refFor="ch" refForName="TwoNodes_1" fact="0.65"/>
          <dgm:constr type="h" for="ch" forName="TwoConn_1-2" refType="h" refFor="ch" refForName="TwoNodes_1" fact="0.65"/>
          <dgm:constr type="ctrY" for="ch" forName="TwoConn_1-2" refType="h" fact="0.5"/>
          <dgm:constr type="r" for="ch" forName="TwoConn_1-2" refType="r" refFor="ch" refForName="TwoNodes_1"/>
          <dgm:constr type="r" for="ch" forName="TwoNodes_1_text" refType="l" refFor="ch" refForName="TwoConn_1-2"/>
          <dgm:constr type="rOff" for="ch" forName="TwoNodes_1_text" refType="w" refFor="ch" refForName="TwoConn_1-2" fact="-0.5"/>
          <dgm:constr type="t" for="ch" forName="TwoNodes_1_text" refType="t" refFor="ch" refForName="TwoNodes_1"/>
          <dgm:constr type="b" for="ch" forName="TwoNodes_1_text" refType="b" refFor="ch" refForName="TwoNodes_1"/>
          <dgm:constr type="l" for="ch" forName="TwoNodes_1_text" refType="l" refFor="ch" refForName="TwoNodes_1"/>
          <dgm:constr type="r" for="ch" forName="TwoNodes_2_text" refType="l" refFor="ch" refForName="TwoConn_1-2"/>
          <dgm:constr type="t" for="ch" forName="TwoNodes_2_text" refType="t" refFor="ch" refForName="TwoNodes_2"/>
          <dgm:constr type="b" for="ch" forName="TwoNodes_2_text" refType="b" refFor="ch" refForName="TwoNodes_2"/>
          <dgm:constr type="l" for="ch" forName="TwoNodes_2_text" refType="l" refFor="ch" refForName="TwoNodes_2"/>
          <dgm:constr type="w" for="ch" forName="ThreeNodes_1" refType="w" fact="0.85"/>
          <dgm:constr type="h" for="ch" forName="ThreeNodes_1" refType="h" fact="0.3"/>
          <dgm:constr type="t" for="ch" forName="ThreeNodes_1"/>
          <dgm:constr type="l" for="ch" forName="ThreeNodes_1"/>
          <dgm:constr type="w" for="ch" forName="ThreeNodes_2" refType="w" fact="0.85"/>
          <dgm:constr type="h" for="ch" forName="ThreeNodes_2" refType="h" fact="0.3"/>
          <dgm:constr type="ctrY" for="ch" forName="ThreeNodes_2" refType="h" fact="0.5"/>
          <dgm:constr type="ctrX" for="ch" forName="ThreeNodes_2" refType="w" fact="0.5"/>
          <dgm:constr type="w" for="ch" forName="ThreeNodes_3" refType="w" fact="0.85"/>
          <dgm:constr type="h" for="ch" forName="ThreeNodes_3" refType="h" fact="0.3"/>
          <dgm:constr type="b" for="ch" forName="ThreeNodes_3" refType="h"/>
          <dgm:constr type="r" for="ch" forName="ThreeNodes_3" refType="w"/>
          <dgm:constr type="w" for="ch" forName="ThreeConn_1-2" refType="h" refFor="ch" refForName="ThreeNodes_1" fact="0.65"/>
          <dgm:constr type="h" for="ch" forName="ThreeConn_1-2" refType="h" refFor="ch" refForName="ThreeNodes_1" fact="0.65"/>
          <dgm:constr type="ctrY" for="ch" forName="ThreeConn_1-2" refType="h" fact="0.325"/>
          <dgm:constr type="r" for="ch" forName="ThreeConn_1-2" refType="r" refFor="ch" refForName="ThreeNodes_1"/>
          <dgm:constr type="w" for="ch" forName="ThreeConn_2-3" refType="h" refFor="ch" refForName="ThreeNodes_2" fact="0.65"/>
          <dgm:constr type="h" for="ch" forName="ThreeConn_2-3" refType="h" refFor="ch" refForName="ThreeNodes_2" fact="0.65"/>
          <dgm:constr type="ctrY" for="ch" forName="ThreeConn_2-3" refType="h" fact="0.673"/>
          <dgm:constr type="r" for="ch" forName="ThreeConn_2-3" refType="r" refFor="ch" refForName="ThreeNodes_2"/>
          <dgm:constr type="r" for="ch" forName="ThreeNodes_1_text" refType="l" refFor="ch" refForName="ThreeConn_1-2"/>
          <dgm:constr type="rOff" for="ch" forName="ThreeNodes_1_text" refType="w" refFor="ch" refForName="ThreeConn_1-2" fact="-0.57"/>
          <dgm:constr type="t" for="ch" forName="ThreeNodes_1_text" refType="t" refFor="ch" refForName="ThreeNodes_1"/>
          <dgm:constr type="b" for="ch" forName="ThreeNodes_1_text" refType="b" refFor="ch" refForName="ThreeNodes_1"/>
          <dgm:constr type="l" for="ch" forName="ThreeNodes_1_text" refType="l" refFor="ch" refForName="ThreeNodes_1"/>
          <dgm:constr type="r" for="ch" forName="ThreeNodes_2_text" refType="l" refFor="ch" refForName="ThreeConn_1-2"/>
          <dgm:constr type="t" for="ch" forName="ThreeNodes_2_text" refType="t" refFor="ch" refForName="ThreeNodes_2"/>
          <dgm:constr type="b" for="ch" forName="ThreeNodes_2_text" refType="b" refFor="ch" refForName="ThreeNodes_2"/>
          <dgm:constr type="l" for="ch" forName="ThreeNodes_2_text" refType="l" refFor="ch" refForName="ThreeNodes_2"/>
          <dgm:constr type="r" for="ch" forName="ThreeNodes_3_text" refType="l" refFor="ch" refForName="ThreeConn_2-3"/>
          <dgm:constr type="t" for="ch" forName="ThreeNodes_3_text" refType="t" refFor="ch" refForName="ThreeNodes_3"/>
          <dgm:constr type="b" for="ch" forName="ThreeNodes_3_text" refType="b" refFor="ch" refForName="ThreeNodes_3"/>
          <dgm:constr type="l" for="ch" forName="ThreeNodes_3_text" refType="l" refFor="ch" refForName="ThreeNodes_3"/>
          <dgm:constr type="w" for="ch" forName="FourNodes_1" refType="w" fact="0.8"/>
          <dgm:constr type="h" for="ch" forName="FourNodes_1" refType="h" fact="0.22"/>
          <dgm:constr type="t" for="ch" forName="FourNodes_1"/>
          <dgm:constr type="l" for="ch" forName="FourNodes_1"/>
          <dgm:constr type="w" for="ch" forName="FourNodes_2" refType="w" fact="0.8"/>
          <dgm:constr type="h" for="ch" forName="FourNodes_2" refType="h" fact="0.22"/>
          <dgm:constr type="ctrY" for="ch" forName="FourNodes_2" refType="h" fact="0.37"/>
          <dgm:constr type="ctrX" for="ch" forName="FourNodes_2" refType="w" fact="0.467"/>
          <dgm:constr type="w" for="ch" forName="FourNodes_3" refType="w" fact="0.8"/>
          <dgm:constr type="h" for="ch" forName="FourNodes_3" refType="h" fact="0.22"/>
          <dgm:constr type="ctrY" for="ch" forName="FourNodes_3" refType="h" fact="0.63"/>
          <dgm:constr type="ctrX" for="ch" forName="FourNodes_3" refType="w" fact="0.533"/>
          <dgm:constr type="w" for="ch" forName="FourNodes_4" refType="w" fact="0.8"/>
          <dgm:constr type="h" for="ch" forName="FourNodes_4" refType="h" fact="0.22"/>
          <dgm:constr type="b" for="ch" forName="FourNodes_4" refType="h"/>
          <dgm:constr type="r" for="ch" forName="FourNodes_4" refType="w"/>
          <dgm:constr type="w" for="ch" forName="FourConn_1-2" refType="h" refFor="ch" refForName="FourNodes_1" fact="0.65"/>
          <dgm:constr type="h" for="ch" forName="FourConn_1-2" refType="h" refFor="ch" refForName="FourNodes_1" fact="0.65"/>
          <dgm:constr type="ctrY" for="ch" forName="FourConn_1-2" refType="h" fact="0.24"/>
          <dgm:constr type="r" for="ch" forName="FourConn_1-2" refType="r" refFor="ch" refForName="FourNodes_1"/>
          <dgm:constr type="w" for="ch" forName="FourConn_2-3" refType="h" refFor="ch" refForName="FourNodes_2" fact="0.65"/>
          <dgm:constr type="h" for="ch" forName="FourConn_2-3" refType="h" refFor="ch" refForName="FourNodes_2" fact="0.65"/>
          <dgm:constr type="ctrY" for="ch" forName="FourConn_2-3" refType="h" fact="0.5"/>
          <dgm:constr type="r" for="ch" forName="FourConn_2-3" refType="r" refFor="ch" refForName="FourNodes_2"/>
          <dgm:constr type="w" for="ch" forName="FourConn_3-4" refType="h" refFor="ch" refForName="FourNodes_3" fact="0.65"/>
          <dgm:constr type="h" for="ch" forName="FourConn_3-4" refType="h" refFor="ch" refForName="FourNodes_3" fact="0.65"/>
          <dgm:constr type="ctrY" for="ch" forName="FourConn_3-4" refType="h" fact="0.76"/>
          <dgm:constr type="r" for="ch" forName="FourConn_3-4" refType="r" refFor="ch" refForName="FourNodes_3"/>
          <dgm:constr type="r" for="ch" forName="FourNodes_1_text" refType="l" refFor="ch" refForName="FourConn_1-2"/>
          <dgm:constr type="rOff" for="ch" forName="FourNodes_1_text" refType="w" refFor="ch" refForName="FourConn_1-2" fact="-0.7"/>
          <dgm:constr type="t" for="ch" forName="FourNodes_1_text" refType="t" refFor="ch" refForName="FourNodes_1"/>
          <dgm:constr type="b" for="ch" forName="FourNodes_1_text" refType="b" refFor="ch" refForName="FourNodes_1"/>
          <dgm:constr type="l" for="ch" forName="FourNodes_1_text" refType="l" refFor="ch" refForName="FourNodes_1"/>
          <dgm:constr type="r" for="ch" forName="FourNodes_2_text" refType="l" refFor="ch" refForName="FourConn_1-2"/>
          <dgm:constr type="t" for="ch" forName="FourNodes_2_text" refType="t" refFor="ch" refForName="FourNodes_2"/>
          <dgm:constr type="b" for="ch" forName="FourNodes_2_text" refType="b" refFor="ch" refForName="FourNodes_2"/>
          <dgm:constr type="l" for="ch" forName="FourNodes_2_text" refType="l" refFor="ch" refForName="FourNodes_2"/>
          <dgm:constr type="r" for="ch" forName="FourNodes_3_text" refType="l" refFor="ch" refForName="FourConn_2-3"/>
          <dgm:constr type="t" for="ch" forName="FourNodes_3_text" refType="t" refFor="ch" refForName="FourNodes_3"/>
          <dgm:constr type="b" for="ch" forName="FourNodes_3_text" refType="b" refFor="ch" refForName="FourNodes_3"/>
          <dgm:constr type="l" for="ch" forName="FourNodes_3_text" refType="l" refFor="ch" refForName="FourNodes_3"/>
          <dgm:constr type="r" for="ch" forName="FourNodes_4_text" refType="l" refFor="ch" refForName="FourConn_3-4"/>
          <dgm:constr type="t" for="ch" forName="FourNodes_4_text" refType="t" refFor="ch" refForName="FourNodes_4"/>
          <dgm:constr type="b" for="ch" forName="FourNodes_4_text" refType="b" refFor="ch" refForName="FourNodes_4"/>
          <dgm:constr type="l" for="ch" forName="FourNodes_4_text" refType="l" refFor="ch" refForName="FourNodes_4"/>
          <dgm:constr type="w" for="ch" forName="FiveNodes_1" refType="w" fact="0.77"/>
          <dgm:constr type="h" for="ch" forName="FiveNodes_1" refType="h" fact="0.18"/>
          <dgm:constr type="t" for="ch" forName="FiveNodes_1"/>
          <dgm:constr type="l" for="ch" forName="FiveNodes_1"/>
          <dgm:constr type="w" for="ch" forName="FiveNodes_2" refType="w" fact="0.77"/>
          <dgm:constr type="h" for="ch" forName="FiveNodes_2" refType="h" fact="0.18"/>
          <dgm:constr type="ctrY" for="ch" forName="FiveNodes_2" refType="h" fact="0.295"/>
          <dgm:constr type="ctrX" for="ch" forName="FiveNodes_2" refType="w" fact="0.4425"/>
          <dgm:constr type="w" for="ch" forName="FiveNodes_3" refType="w" fact="0.77"/>
          <dgm:constr type="h" for="ch" forName="FiveNodes_3" refType="h" fact="0.18"/>
          <dgm:constr type="ctrY" for="ch" forName="FiveNodes_3" refType="h" fact="0.5"/>
          <dgm:constr type="ctrX" for="ch" forName="FiveNodes_3" refType="w" fact="0.5"/>
          <dgm:constr type="w" for="ch" forName="FiveNodes_4" refType="w" fact="0.77"/>
          <dgm:constr type="h" for="ch" forName="FiveNodes_4" refType="h" fact="0.18"/>
          <dgm:constr type="ctrY" for="ch" forName="FiveNodes_4" refType="h" fact="0.705"/>
          <dgm:constr type="ctrX" for="ch" forName="FiveNodes_4" refType="w" fact="0.5575"/>
          <dgm:constr type="w" for="ch" forName="FiveNodes_5" refType="w" fact="0.77"/>
          <dgm:constr type="h" for="ch" forName="FiveNodes_5" refType="h" fact="0.18"/>
          <dgm:constr type="b" for="ch" forName="FiveNodes_5" refType="h"/>
          <dgm:constr type="r" for="ch" forName="FiveNodes_5" refType="w"/>
          <dgm:constr type="w" for="ch" forName="FiveConn_1-2" refType="h" refFor="ch" refForName="FiveNodes_1" fact="0.65"/>
          <dgm:constr type="h" for="ch" forName="FiveConn_1-2" refType="h" refFor="ch" refForName="FiveNodes_1" fact="0.65"/>
          <dgm:constr type="ctrY" for="ch" forName="FiveConn_1-2" refType="h" fact="0.19"/>
          <dgm:constr type="r" for="ch" forName="FiveConn_1-2" refType="r" refFor="ch" refForName="FiveNodes_1"/>
          <dgm:constr type="w" for="ch" forName="FiveConn_2-3" refType="h" refFor="ch" refForName="FiveNodes_2" fact="0.65"/>
          <dgm:constr type="h" for="ch" forName="FiveConn_2-3" refType="h" refFor="ch" refForName="FiveNodes_2" fact="0.65"/>
          <dgm:constr type="ctrY" for="ch" forName="FiveConn_2-3" refType="h" fact="0.395"/>
          <dgm:constr type="r" for="ch" forName="FiveConn_2-3" refType="r" refFor="ch" refForName="FiveNodes_2"/>
          <dgm:constr type="w" for="ch" forName="FiveConn_3-4" refType="h" refFor="ch" refForName="FiveNodes_3" fact="0.65"/>
          <dgm:constr type="h" for="ch" forName="FiveConn_3-4" refType="h" refFor="ch" refForName="FiveNodes_3" fact="0.65"/>
          <dgm:constr type="ctrY" for="ch" forName="FiveConn_3-4" refType="h" fact="0.597"/>
          <dgm:constr type="r" for="ch" forName="FiveConn_3-4" refType="r" refFor="ch" refForName="FiveNodes_3"/>
          <dgm:constr type="w" for="ch" forName="FiveConn_4-5" refType="h" refFor="ch" refForName="FiveNodes_4" fact="0.65"/>
          <dgm:constr type="h" for="ch" forName="FiveConn_4-5" refType="h" refFor="ch" refForName="FiveNodes_4" fact="0.65"/>
          <dgm:constr type="ctrY" for="ch" forName="FiveConn_4-5" refType="h" fact="0.804"/>
          <dgm:constr type="r" for="ch" forName="FiveConn_4-5" refType="r" refFor="ch" refForName="FiveNodes_4"/>
          <dgm:constr type="r" for="ch" forName="FiveNodes_1_text" refType="l" refFor="ch" refForName="FiveConn_1-2"/>
          <dgm:constr type="rOff" for="ch" forName="FiveNodes_1_text" refType="w" refFor="ch" refForName="FiveConn_1-2" fact="-0.75"/>
          <dgm:constr type="t" for="ch" forName="FiveNodes_1_text" refType="t" refFor="ch" refForName="FiveNodes_1"/>
          <dgm:constr type="b" for="ch" forName="FiveNodes_1_text" refType="b" refFor="ch" refForName="FiveNodes_1"/>
          <dgm:constr type="l" for="ch" forName="FiveNodes_1_text" refType="l" refFor="ch" refForName="FiveNodes_1"/>
          <dgm:constr type="r" for="ch" forName="FiveNodes_2_text" refType="l" refFor="ch" refForName="FiveConn_1-2"/>
          <dgm:constr type="t" for="ch" forName="FiveNodes_2_text" refType="t" refFor="ch" refForName="FiveNodes_2"/>
          <dgm:constr type="b" for="ch" forName="FiveNodes_2_text" refType="b" refFor="ch" refForName="FiveNodes_2"/>
          <dgm:constr type="l" for="ch" forName="FiveNodes_2_text" refType="l" refFor="ch" refForName="FiveNodes_2"/>
          <dgm:constr type="r" for="ch" forName="FiveNodes_3_text" refType="l" refFor="ch" refForName="FiveConn_2-3"/>
          <dgm:constr type="t" for="ch" forName="FiveNodes_3_text" refType="t" refFor="ch" refForName="FiveNodes_3"/>
          <dgm:constr type="b" for="ch" forName="FiveNodes_3_text" refType="b" refFor="ch" refForName="FiveNodes_3"/>
          <dgm:constr type="l" for="ch" forName="FiveNodes_3_text" refType="l" refFor="ch" refForName="FiveNodes_3"/>
          <dgm:constr type="r" for="ch" forName="FiveNodes_4_text" refType="l" refFor="ch" refForName="FiveConn_3-4"/>
          <dgm:constr type="t" for="ch" forName="FiveNodes_4_text" refType="t" refFor="ch" refForName="FiveNodes_4"/>
          <dgm:constr type="b" for="ch" forName="FiveNodes_4_text" refType="b" refFor="ch" refForName="FiveNodes_4"/>
          <dgm:constr type="l" for="ch" forName="FiveNodes_4_text" refType="l" refFor="ch" refForName="FiveNodes_4"/>
          <dgm:constr type="r" for="ch" forName="FiveNodes_5_text" refType="l" refFor="ch" refForName="FiveConn_4-5"/>
          <dgm:constr type="t" for="ch" forName="FiveNodes_5_text" refType="t" refFor="ch" refForName="FiveNodes_5"/>
          <dgm:constr type="b" for="ch" forName="FiveNodes_5_text" refType="b" refFor="ch" refForName="FiveNodes_5"/>
          <dgm:constr type="l" for="ch" forName="FiveNodes_5_text" refType="l" refFor="ch" refForName="FiveNodes_5"/>
        </dgm:constrLst>
      </dgm:if>
      <dgm:else name="Name2">
        <dgm:constrLst>
          <dgm:constr type="primFontSz" for="ch" ptType="node" op="equ" val="65"/>
          <dgm:constr type="w" for="ch" forName="dummyMaxCanvas" refType="w"/>
          <dgm:constr type="h" for="ch" forName="dummyMaxCanvas" refType="h"/>
          <dgm:constr type="w" for="ch" forName="OneNode_1" refType="w"/>
          <dgm:constr type="h" for="ch" forName="OneNode_1" refType="h" fact="0.5"/>
          <dgm:constr type="ctrY" for="ch" forName="OneNode_1" refType="h" fact="0.5"/>
          <dgm:constr type="w" for="ch" forName="TwoNodes_1" refType="w" fact="0.85"/>
          <dgm:constr type="h" for="ch" forName="TwoNodes_1" refType="h" fact="0.45"/>
          <dgm:constr type="t" for="ch" forName="TwoNodes_1"/>
          <dgm:constr type="r" for="ch" forName="TwoNodes_1" refType="w"/>
          <dgm:constr type="w" for="ch" forName="TwoNodes_2" refType="w" fact="0.85"/>
          <dgm:constr type="h" for="ch" forName="TwoNodes_2" refType="h" fact="0.45"/>
          <dgm:constr type="b" for="ch" forName="TwoNodes_2" refType="h"/>
          <dgm:constr type="l" for="ch" forName="TwoNodes_2"/>
          <dgm:constr type="w" for="ch" forName="TwoConn_1-2" refType="h" refFor="ch" refForName="TwoNodes_1" fact="0.65"/>
          <dgm:constr type="h" for="ch" forName="TwoConn_1-2" refType="h" refFor="ch" refForName="TwoNodes_1" fact="0.65"/>
          <dgm:constr type="ctrY" for="ch" forName="TwoConn_1-2" refType="h" fact="0.5"/>
          <dgm:constr type="l" for="ch" forName="TwoConn_1-2" refType="l" refFor="ch" refForName="TwoNodes_1"/>
          <dgm:constr type="l" for="ch" forName="TwoNodes_1_text" refType="r" refFor="ch" refForName="TwoConn_1-2"/>
          <dgm:constr type="lOff" for="ch" forName="TwoNodes_1_text" refType="w" refFor="ch" refForName="TwoConn_1-2" fact="0.5"/>
          <dgm:constr type="t" for="ch" forName="TwoNodes_1_text" refType="t" refFor="ch" refForName="TwoNodes_1"/>
          <dgm:constr type="b" for="ch" forName="TwoNodes_1_text" refType="b" refFor="ch" refForName="TwoNodes_1"/>
          <dgm:constr type="r" for="ch" forName="TwoNodes_1_text" refType="r" refFor="ch" refForName="TwoNodes_1"/>
          <dgm:constr type="l" for="ch" forName="TwoNodes_2_text" refType="r" refFor="ch" refForName="TwoConn_1-2"/>
          <dgm:constr type="t" for="ch" forName="TwoNodes_2_text" refType="t" refFor="ch" refForName="TwoNodes_2"/>
          <dgm:constr type="b" for="ch" forName="TwoNodes_2_text" refType="b" refFor="ch" refForName="TwoNodes_2"/>
          <dgm:constr type="r" for="ch" forName="TwoNodes_2_text" refType="r" refFor="ch" refForName="TwoNodes_2"/>
          <dgm:constr type="w" for="ch" forName="ThreeNodes_1" refType="w" fact="0.85"/>
          <dgm:constr type="h" for="ch" forName="ThreeNodes_1" refType="h" fact="0.3"/>
          <dgm:constr type="t" for="ch" forName="ThreeNodes_1"/>
          <dgm:constr type="r" for="ch" forName="ThreeNodes_1" refType="w"/>
          <dgm:constr type="w" for="ch" forName="ThreeNodes_2" refType="w" fact="0.85"/>
          <dgm:constr type="h" for="ch" forName="ThreeNodes_2" refType="h" fact="0.3"/>
          <dgm:constr type="ctrY" for="ch" forName="ThreeNodes_2" refType="h" fact="0.5"/>
          <dgm:constr type="ctrX" for="ch" forName="ThreeNodes_2" refType="w" fact="0.5"/>
          <dgm:constr type="w" for="ch" forName="ThreeNodes_3" refType="w" fact="0.85"/>
          <dgm:constr type="h" for="ch" forName="ThreeNodes_3" refType="h" fact="0.3"/>
          <dgm:constr type="b" for="ch" forName="ThreeNodes_3" refType="h"/>
          <dgm:constr type="l" for="ch" forName="ThreeNodes_3"/>
          <dgm:constr type="w" for="ch" forName="ThreeConn_1-2" refType="h" refFor="ch" refForName="ThreeNodes_1" fact="0.65"/>
          <dgm:constr type="h" for="ch" forName="ThreeConn_1-2" refType="h" refFor="ch" refForName="ThreeNodes_1" fact="0.65"/>
          <dgm:constr type="ctrY" for="ch" forName="ThreeConn_1-2" refType="h" fact="0.325"/>
          <dgm:constr type="l" for="ch" forName="ThreeConn_1-2" refType="l" refFor="ch" refForName="ThreeNodes_1"/>
          <dgm:constr type="w" for="ch" forName="ThreeConn_2-3" refType="h" refFor="ch" refForName="ThreeNodes_2" fact="0.65"/>
          <dgm:constr type="h" for="ch" forName="ThreeConn_2-3" refType="h" refFor="ch" refForName="ThreeNodes_2" fact="0.65"/>
          <dgm:constr type="ctrY" for="ch" forName="ThreeConn_2-3" refType="h" fact="0.673"/>
          <dgm:constr type="l" for="ch" forName="ThreeConn_2-3" refType="l" refFor="ch" refForName="ThreeNodes_2"/>
          <dgm:constr type="l" for="ch" forName="ThreeNodes_1_text" refType="r" refFor="ch" refForName="ThreeConn_1-2"/>
          <dgm:constr type="lOff" for="ch" forName="ThreeNodes_1_text" refType="w" refFor="ch" refForName="ThreeConn_1-2" fact="0.55"/>
          <dgm:constr type="t" for="ch" forName="ThreeNodes_1_text" refType="t" refFor="ch" refForName="ThreeNodes_1"/>
          <dgm:constr type="b" for="ch" forName="ThreeNodes_1_text" refType="b" refFor="ch" refForName="ThreeNodes_1"/>
          <dgm:constr type="r" for="ch" forName="ThreeNodes_1_text" refType="r" refFor="ch" refForName="ThreeNodes_1"/>
          <dgm:constr type="l" for="ch" forName="ThreeNodes_2_text" refType="r" refFor="ch" refForName="ThreeConn_1-2"/>
          <dgm:constr type="t" for="ch" forName="ThreeNodes_2_text" refType="t" refFor="ch" refForName="ThreeNodes_2"/>
          <dgm:constr type="b" for="ch" forName="ThreeNodes_2_text" refType="b" refFor="ch" refForName="ThreeNodes_2"/>
          <dgm:constr type="r" for="ch" forName="ThreeNodes_2_text" refType="r" refFor="ch" refForName="ThreeNodes_2"/>
          <dgm:constr type="l" for="ch" forName="ThreeNodes_3_text" refType="r" refFor="ch" refForName="ThreeConn_2-3"/>
          <dgm:constr type="t" for="ch" forName="ThreeNodes_3_text" refType="t" refFor="ch" refForName="ThreeNodes_3"/>
          <dgm:constr type="b" for="ch" forName="ThreeNodes_3_text" refType="b" refFor="ch" refForName="ThreeNodes_3"/>
          <dgm:constr type="r" for="ch" forName="ThreeNodes_3_text" refType="r" refFor="ch" refForName="ThreeNodes_3"/>
          <dgm:constr type="w" for="ch" forName="FourNodes_1" refType="w" fact="0.8"/>
          <dgm:constr type="h" for="ch" forName="FourNodes_1" refType="h" fact="0.22"/>
          <dgm:constr type="t" for="ch" forName="FourNodes_1"/>
          <dgm:constr type="r" for="ch" forName="FourNodes_1" refType="w"/>
          <dgm:constr type="w" for="ch" forName="FourNodes_2" refType="w" fact="0.8"/>
          <dgm:constr type="h" for="ch" forName="FourNodes_2" refType="h" fact="0.22"/>
          <dgm:constr type="ctrY" for="ch" forName="FourNodes_2" refType="h" fact="0.37"/>
          <dgm:constr type="ctrX" for="ch" forName="FourNodes_2" refType="w" fact="0.533"/>
          <dgm:constr type="w" for="ch" forName="FourNodes_3" refType="w" fact="0.8"/>
          <dgm:constr type="h" for="ch" forName="FourNodes_3" refType="h" fact="0.22"/>
          <dgm:constr type="ctrY" for="ch" forName="FourNodes_3" refType="h" fact="0.63"/>
          <dgm:constr type="ctrX" for="ch" forName="FourNodes_3" refType="w" fact="0.467"/>
          <dgm:constr type="w" for="ch" forName="FourNodes_4" refType="w" fact="0.8"/>
          <dgm:constr type="h" for="ch" forName="FourNodes_4" refType="h" fact="0.22"/>
          <dgm:constr type="b" for="ch" forName="FourNodes_4" refType="h"/>
          <dgm:constr type="l" for="ch" forName="FourNodes_4"/>
          <dgm:constr type="w" for="ch" forName="FourConn_1-2" refType="h" refFor="ch" refForName="FourNodes_1" fact="0.65"/>
          <dgm:constr type="h" for="ch" forName="FourConn_1-2" refType="h" refFor="ch" refForName="FourNodes_1" fact="0.65"/>
          <dgm:constr type="ctrY" for="ch" forName="FourConn_1-2" refType="h" fact="0.24"/>
          <dgm:constr type="l" for="ch" forName="FourConn_1-2" refType="l" refFor="ch" refForName="FourNodes_1"/>
          <dgm:constr type="w" for="ch" forName="FourConn_2-3" refType="h" refFor="ch" refForName="FourNodes_2" fact="0.65"/>
          <dgm:constr type="h" for="ch" forName="FourConn_2-3" refType="h" refFor="ch" refForName="FourNodes_2" fact="0.65"/>
          <dgm:constr type="ctrY" for="ch" forName="FourConn_2-3" refType="h" fact="0.5"/>
          <dgm:constr type="l" for="ch" forName="FourConn_2-3" refType="l" refFor="ch" refForName="FourNodes_2"/>
          <dgm:constr type="w" for="ch" forName="FourConn_3-4" refType="h" refFor="ch" refForName="FourNodes_3" fact="0.65"/>
          <dgm:constr type="h" for="ch" forName="FourConn_3-4" refType="h" refFor="ch" refForName="FourNodes_3" fact="0.65"/>
          <dgm:constr type="ctrY" for="ch" forName="FourConn_3-4" refType="h" fact="0.76"/>
          <dgm:constr type="l" for="ch" forName="FourConn_3-4" refType="l" refFor="ch" refForName="FourNodes_3"/>
          <dgm:constr type="l" for="ch" forName="FourNodes_1_text" refType="r" refFor="ch" refForName="FourConn_1-2"/>
          <dgm:constr type="lOff" for="ch" forName="FourNodes_1_text" refType="w" refFor="ch" refForName="FourConn_1-2" fact="0.69"/>
          <dgm:constr type="t" for="ch" forName="FourNodes_1_text" refType="t" refFor="ch" refForName="FourNodes_1"/>
          <dgm:constr type="b" for="ch" forName="FourNodes_1_text" refType="b" refFor="ch" refForName="FourNodes_1"/>
          <dgm:constr type="r" for="ch" forName="FourNodes_1_text" refType="r" refFor="ch" refForName="FourNodes_1"/>
          <dgm:constr type="l" for="ch" forName="FourNodes_2_text" refType="r" refFor="ch" refForName="FourConn_1-2"/>
          <dgm:constr type="t" for="ch" forName="FourNodes_2_text" refType="t" refFor="ch" refForName="FourNodes_2"/>
          <dgm:constr type="b" for="ch" forName="FourNodes_2_text" refType="b" refFor="ch" refForName="FourNodes_2"/>
          <dgm:constr type="r" for="ch" forName="FourNodes_2_text" refType="r" refFor="ch" refForName="FourNodes_2"/>
          <dgm:constr type="l" for="ch" forName="FourNodes_3_text" refType="r" refFor="ch" refForName="FourConn_2-3"/>
          <dgm:constr type="t" for="ch" forName="FourNodes_3_text" refType="t" refFor="ch" refForName="FourNodes_3"/>
          <dgm:constr type="b" for="ch" forName="FourNodes_3_text" refType="b" refFor="ch" refForName="FourNodes_3"/>
          <dgm:constr type="r" for="ch" forName="FourNodes_3_text" refType="r" refFor="ch" refForName="FourNodes_3"/>
          <dgm:constr type="l" for="ch" forName="FourNodes_4_text" refType="r" refFor="ch" refForName="FourConn_3-4"/>
          <dgm:constr type="t" for="ch" forName="FourNodes_4_text" refType="t" refFor="ch" refForName="FourNodes_4"/>
          <dgm:constr type="b" for="ch" forName="FourNodes_4_text" refType="b" refFor="ch" refForName="FourNodes_4"/>
          <dgm:constr type="r" for="ch" forName="FourNodes_4_text" refType="r" refFor="ch" refForName="FourNodes_4"/>
          <dgm:constr type="w" for="ch" forName="FiveNodes_1" refType="w" fact="0.77"/>
          <dgm:constr type="h" for="ch" forName="FiveNodes_1" refType="h" fact="0.18"/>
          <dgm:constr type="t" for="ch" forName="FiveNodes_1"/>
          <dgm:constr type="r" for="ch" forName="FiveNodes_1" refType="w"/>
          <dgm:constr type="w" for="ch" forName="FiveNodes_2" refType="w" fact="0.77"/>
          <dgm:constr type="h" for="ch" forName="FiveNodes_2" refType="h" fact="0.18"/>
          <dgm:constr type="ctrY" for="ch" forName="FiveNodes_2" refType="h" fact="0.295"/>
          <dgm:constr type="ctrX" for="ch" forName="FiveNodes_2" refType="w" fact="0.5575"/>
          <dgm:constr type="w" for="ch" forName="FiveNodes_3" refType="w" fact="0.77"/>
          <dgm:constr type="h" for="ch" forName="FiveNodes_3" refType="h" fact="0.18"/>
          <dgm:constr type="ctrY" for="ch" forName="FiveNodes_3" refType="h" fact="0.5"/>
          <dgm:constr type="ctrX" for="ch" forName="FiveNodes_3" refType="w" fact="0.5"/>
          <dgm:constr type="w" for="ch" forName="FiveNodes_4" refType="w" fact="0.77"/>
          <dgm:constr type="h" for="ch" forName="FiveNodes_4" refType="h" fact="0.18"/>
          <dgm:constr type="ctrY" for="ch" forName="FiveNodes_4" refType="h" fact="0.705"/>
          <dgm:constr type="ctrX" for="ch" forName="FiveNodes_4" refType="w" fact="0.4425"/>
          <dgm:constr type="w" for="ch" forName="FiveNodes_5" refType="w" fact="0.77"/>
          <dgm:constr type="h" for="ch" forName="FiveNodes_5" refType="h" fact="0.18"/>
          <dgm:constr type="b" for="ch" forName="FiveNodes_5" refType="h"/>
          <dgm:constr type="l" for="ch" forName="FiveNodes_5"/>
          <dgm:constr type="w" for="ch" forName="FiveConn_1-2" refType="h" refFor="ch" refForName="FiveNodes_1" fact="0.65"/>
          <dgm:constr type="h" for="ch" forName="FiveConn_1-2" refType="h" refFor="ch" refForName="FiveNodes_1" fact="0.65"/>
          <dgm:constr type="ctrY" for="ch" forName="FiveConn_1-2" refType="h" fact="0.19"/>
          <dgm:constr type="l" for="ch" forName="FiveConn_1-2" refType="l" refFor="ch" refForName="FiveNodes_1"/>
          <dgm:constr type="w" for="ch" forName="FiveConn_2-3" refType="h" refFor="ch" refForName="FiveNodes_2" fact="0.65"/>
          <dgm:constr type="h" for="ch" forName="FiveConn_2-3" refType="h" refFor="ch" refForName="FiveNodes_2" fact="0.65"/>
          <dgm:constr type="ctrY" for="ch" forName="FiveConn_2-3" refType="h" fact="0.395"/>
          <dgm:constr type="l" for="ch" forName="FiveConn_2-3" refType="l" refFor="ch" refForName="FiveNodes_2"/>
          <dgm:constr type="w" for="ch" forName="FiveConn_3-4" refType="h" refFor="ch" refForName="FiveNodes_3" fact="0.65"/>
          <dgm:constr type="h" for="ch" forName="FiveConn_3-4" refType="h" refFor="ch" refForName="FiveNodes_3" fact="0.65"/>
          <dgm:constr type="ctrY" for="ch" forName="FiveConn_3-4" refType="h" fact="0.597"/>
          <dgm:constr type="l" for="ch" forName="FiveConn_3-4" refType="l" refFor="ch" refForName="FiveNodes_3"/>
          <dgm:constr type="w" for="ch" forName="FiveConn_4-5" refType="h" refFor="ch" refForName="FiveNodes_4" fact="0.65"/>
          <dgm:constr type="h" for="ch" forName="FiveConn_4-5" refType="h" refFor="ch" refForName="FiveNodes_4" fact="0.65"/>
          <dgm:constr type="ctrY" for="ch" forName="FiveConn_4-5" refType="h" fact="0.804"/>
          <dgm:constr type="l" for="ch" forName="FiveConn_4-5" refType="l" refFor="ch" refForName="FiveNodes_4"/>
          <dgm:constr type="l" for="ch" forName="FiveNodes_1_text" refType="r" refFor="ch" refForName="FiveConn_1-2"/>
          <dgm:constr type="lOff" for="ch" forName="FiveNodes_1_text" refType="w" refFor="ch" refForName="FiveConn_1-2" fact="0.73"/>
          <dgm:constr type="t" for="ch" forName="FiveNodes_1_text" refType="t" refFor="ch" refForName="FiveNodes_1"/>
          <dgm:constr type="b" for="ch" forName="FiveNodes_1_text" refType="b" refFor="ch" refForName="FiveNodes_1"/>
          <dgm:constr type="r" for="ch" forName="FiveNodes_1_text" refType="r" refFor="ch" refForName="FiveNodes_1"/>
          <dgm:constr type="l" for="ch" forName="FiveNodes_2_text" refType="r" refFor="ch" refForName="FiveConn_1-2"/>
          <dgm:constr type="t" for="ch" forName="FiveNodes_2_text" refType="t" refFor="ch" refForName="FiveNodes_2"/>
          <dgm:constr type="b" for="ch" forName="FiveNodes_2_text" refType="b" refFor="ch" refForName="FiveNodes_2"/>
          <dgm:constr type="r" for="ch" forName="FiveNodes_2_text" refType="r" refFor="ch" refForName="FiveNodes_2"/>
          <dgm:constr type="l" for="ch" forName="FiveNodes_3_text" refType="r" refFor="ch" refForName="FiveConn_2-3"/>
          <dgm:constr type="t" for="ch" forName="FiveNodes_3_text" refType="t" refFor="ch" refForName="FiveNodes_3"/>
          <dgm:constr type="b" for="ch" forName="FiveNodes_3_text" refType="b" refFor="ch" refForName="FiveNodes_3"/>
          <dgm:constr type="r" for="ch" forName="FiveNodes_3_text" refType="r" refFor="ch" refForName="FiveNodes_3"/>
          <dgm:constr type="l" for="ch" forName="FiveNodes_4_text" refType="r" refFor="ch" refForName="FiveConn_3-4"/>
          <dgm:constr type="t" for="ch" forName="FiveNodes_4_text" refType="t" refFor="ch" refForName="FiveNodes_4"/>
          <dgm:constr type="b" for="ch" forName="FiveNodes_4_text" refType="b" refFor="ch" refForName="FiveNodes_4"/>
          <dgm:constr type="r" for="ch" forName="FiveNodes_4_text" refType="r" refFor="ch" refForName="FiveNodes_4"/>
          <dgm:constr type="l" for="ch" forName="FiveNodes_5_text" refType="r" refFor="ch" refForName="FiveConn_4-5"/>
          <dgm:constr type="t" for="ch" forName="FiveNodes_5_text" refType="t" refFor="ch" refForName="FiveNodes_5"/>
          <dgm:constr type="b" for="ch" forName="FiveNodes_5_text" refType="b" refFor="ch" refForName="FiveNodes_5"/>
          <dgm:constr type="r" for="ch" forName="FiveNodes_5_text" refType="r" refFor="ch" refForName="FiveNodes_5"/>
        </dgm:constrLst>
      </dgm:else>
    </dgm:choose>
    <dgm:ruleLst/>
    <dgm:layoutNode name="dummyMaxCanvas">
      <dgm:varLst/>
      <dgm:alg type="sp"/>
      <dgm:shape xmlns:r="http://schemas.openxmlformats.org/officeDocument/2006/relationships" r:blip="">
        <dgm:adjLst/>
      </dgm:shape>
      <dgm:presOf/>
      <dgm:constrLst/>
      <dgm:ruleLst/>
    </dgm:layoutNode>
    <dgm:choose name="Name3">
      <dgm:if name="Name4" axis="ch" ptType="node" func="cnt" op="equ" val="1">
        <dgm:layoutNode name="OneNode_1">
          <dgm:varLst>
            <dgm:bulletEnabled val="1"/>
          </dgm:varLst>
          <dgm:alg type="tx"/>
          <dgm:shape xmlns:r="http://schemas.openxmlformats.org/officeDocument/2006/relationships" type="roundRect" r:blip="">
            <dgm:adjLst>
              <dgm:adj idx="1" val="0.1"/>
            </dgm:adjLst>
          </dgm:shape>
          <dgm:presOf axis="ch desOrSelf" ptType="node node" st="1 1" cnt="1 0"/>
          <dgm:constrLst>
            <dgm:constr type="lMarg" refType="primFontSz" fact="0.3"/>
            <dgm:constr type="rMarg" refType="primFontSz" fact="0.3"/>
            <dgm:constr type="tMarg" refType="primFontSz" fact="0.3"/>
            <dgm:constr type="bMarg" refType="primFontSz" fact="0.3"/>
          </dgm:constrLst>
          <dgm:ruleLst>
            <dgm:rule type="primFontSz" val="5" fact="NaN" max="NaN"/>
          </dgm:ruleLst>
        </dgm:layoutNode>
      </dgm:if>
      <dgm:else name="Name5">
        <dgm:choose name="Name6">
          <dgm:if name="Name7" axis="ch" ptType="node" func="cnt" op="equ" val="2">
            <dgm:layoutNode name="TwoNodes_1">
              <dgm:varLst>
                <dgm:bulletEnabled val="1"/>
              </dgm:varLst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ch desOrSelf" ptType="node node" st="1 1" cnt="1 0"/>
              <dgm:constrLst/>
              <dgm:ruleLst/>
            </dgm:layoutNode>
            <dgm:layoutNode name="TwoNodes_2">
              <dgm:varLst>
                <dgm:bulletEnabled val="1"/>
              </dgm:varLst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ch desOrSelf" ptType="node node" st="2 1" cnt="1 0"/>
              <dgm:constrLst/>
              <dgm:ruleLst/>
            </dgm:layoutNode>
            <dgm:layoutNode name="TwoConn_1-2" styleLbl="fgAccFollowNode1">
              <dgm:varLst>
                <dgm:bulletEnabled val="1"/>
              </dgm:varLst>
              <dgm:alg type="tx"/>
              <dgm:shape xmlns:r="http://schemas.openxmlformats.org/officeDocument/2006/relationships" type="downArrow" r:blip="">
                <dgm:adjLst>
                  <dgm:adj idx="1" val="0.55"/>
                  <dgm:adj idx="2" val="0.45"/>
                </dgm:adjLst>
              </dgm:shape>
              <dgm:presOf axis="ch" ptType="sibTrans" cnt="1"/>
              <dgm:constrLst>
                <dgm:constr type="lMarg" refType="primFontSz" fact="0.1"/>
                <dgm:constr type="rMarg" refType="primFontSz" fact="0.1"/>
                <dgm:constr type="tMarg" refType="primFontSz" fact="0.1"/>
                <dgm:constr type="bMarg" refType="primFontSz" fact="0.1"/>
              </dgm:constrLst>
              <dgm:ruleLst>
                <dgm:rule type="primFontSz" val="5" fact="NaN" max="NaN"/>
              </dgm:ruleLst>
            </dgm:layoutNode>
            <dgm:layoutNode name="TwoNodes_1_text">
              <dgm:varLst>
                <dgm:bulletEnabled val="1"/>
              </dgm:varLst>
              <dgm:alg type="tx">
                <dgm:param type="parTxLTRAlign" val="l"/>
                <dgm:param type="txAnchorVertCh" val="mid"/>
              </dgm:alg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ch desOrSelf" ptType="node node" st="1 1" cnt="1 0"/>
              <dgm:constrLst>
                <dgm:constr type="lMarg" refType="primFontSz" fact="0.3"/>
                <dgm:constr type="rMarg" refType="primFontSz" fact="0.3"/>
                <dgm:constr type="tMarg" refType="primFontSz" fact="0.3"/>
                <dgm:constr type="bMarg" refType="primFontSz" fact="0.3"/>
              </dgm:constrLst>
              <dgm:ruleLst>
                <dgm:rule type="primFontSz" val="5" fact="NaN" max="NaN"/>
              </dgm:ruleLst>
            </dgm:layoutNode>
            <dgm:layoutNode name="TwoNodes_2_text">
              <dgm:varLst>
                <dgm:bulletEnabled val="1"/>
              </dgm:varLst>
              <dgm:alg type="tx">
                <dgm:param type="parTxLTRAlign" val="l"/>
                <dgm:param type="txAnchorVertCh" val="mid"/>
              </dgm:alg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ch desOrSelf" ptType="node node" st="2 1" cnt="1 0"/>
              <dgm:constrLst>
                <dgm:constr type="lMarg" refType="primFontSz" fact="0.3"/>
                <dgm:constr type="rMarg" refType="primFontSz" fact="0.3"/>
                <dgm:constr type="tMarg" refType="primFontSz" fact="0.3"/>
                <dgm:constr type="bMarg" refType="primFontSz" fact="0.3"/>
              </dgm:constrLst>
              <dgm:ruleLst>
                <dgm:rule type="primFontSz" val="5" fact="NaN" max="NaN"/>
              </dgm:ruleLst>
            </dgm:layoutNode>
          </dgm:if>
          <dgm:else name="Name8">
            <dgm:choose name="Name9">
              <dgm:if name="Name10" axis="ch" ptType="node" func="cnt" op="equ" val="3">
                <dgm:layoutNode name="ThreeNodes_1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1 1" cnt="1 0"/>
                  <dgm:constrLst/>
                  <dgm:ruleLst/>
                </dgm:layoutNode>
                <dgm:layoutNode name="ThreeNodes_2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2 1" cnt="1 0"/>
                  <dgm:constrLst/>
                  <dgm:ruleLst/>
                </dgm:layoutNode>
                <dgm:layoutNode name="ThreeNodes_3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3 1" cnt="1 0"/>
                  <dgm:constrLst/>
                  <dgm:ruleLst/>
                </dgm:layoutNode>
                <dgm:layoutNode name="ThreeConn_1-2" styleLbl="fgAccFollowNode1">
                  <dgm:varLst>
                    <dgm:bulletEnabled val="1"/>
                  </dgm:varLst>
                  <dgm:alg type="tx"/>
                  <dgm:shape xmlns:r="http://schemas.openxmlformats.org/officeDocument/2006/relationships" type="downArrow" r:blip="">
                    <dgm:adjLst>
                      <dgm:adj idx="1" val="0.55"/>
                      <dgm:adj idx="2" val="0.45"/>
                    </dgm:adjLst>
                  </dgm:shape>
                  <dgm:presOf axis="ch" ptType="sibTrans" cnt="1"/>
                  <dgm:constrLst>
                    <dgm:constr type="lMarg" refType="primFontSz" fact="0.1"/>
                    <dgm:constr type="rMarg" refType="primFontSz" fact="0.1"/>
                    <dgm:constr type="tMarg" refType="primFontSz" fact="0.1"/>
                    <dgm:constr type="bMarg" refType="primFontSz" fact="0.1"/>
                  </dgm:constrLst>
                  <dgm:ruleLst>
                    <dgm:rule type="primFontSz" val="5" fact="NaN" max="NaN"/>
                  </dgm:ruleLst>
                </dgm:layoutNode>
                <dgm:layoutNode name="ThreeConn_2-3" styleLbl="fgAccFollowNode1">
                  <dgm:varLst>
                    <dgm:bulletEnabled val="1"/>
                  </dgm:varLst>
                  <dgm:alg type="tx"/>
                  <dgm:shape xmlns:r="http://schemas.openxmlformats.org/officeDocument/2006/relationships" type="downArrow" r:blip="">
                    <dgm:adjLst>
                      <dgm:adj idx="1" val="0.55"/>
                      <dgm:adj idx="2" val="0.45"/>
                    </dgm:adjLst>
                  </dgm:shape>
                  <dgm:presOf axis="ch" ptType="sibTrans" st="2" cnt="1"/>
                  <dgm:constrLst>
                    <dgm:constr type="lMarg" refType="primFontSz" fact="0.1"/>
                    <dgm:constr type="rMarg" refType="primFontSz" fact="0.1"/>
                    <dgm:constr type="tMarg" refType="primFontSz" fact="0.1"/>
                    <dgm:constr type="bMarg" refType="primFontSz" fact="0.1"/>
                  </dgm:constrLst>
                  <dgm:ruleLst>
                    <dgm:rule type="primFontSz" val="5" fact="NaN" max="NaN"/>
                  </dgm:ruleLst>
                </dgm:layoutNode>
                <dgm:layoutNode name="ThreeNodes_1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1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  <dgm:layoutNode name="ThreeNodes_2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2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  <dgm:layoutNode name="ThreeNodes_3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3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</dgm:if>
              <dgm:else name="Name11">
                <dgm:choose name="Name12">
                  <dgm:if name="Name13" axis="ch" ptType="node" func="cnt" op="equ" val="4">
                    <dgm:layoutNode name="FourNodes_1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1 1" cnt="1 0"/>
                      <dgm:constrLst/>
                      <dgm:ruleLst/>
                    </dgm:layoutNode>
                    <dgm:layoutNode name="FourNodes_2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2 1" cnt="1 0"/>
                      <dgm:constrLst/>
                      <dgm:ruleLst/>
                    </dgm:layoutNode>
                    <dgm:layoutNode name="FourNodes_3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3 1" cnt="1 0"/>
                      <dgm:constrLst/>
                      <dgm:ruleLst/>
                    </dgm:layoutNode>
                    <dgm:layoutNode name="FourNodes_4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4 1" cnt="1 0"/>
                      <dgm:constrLst/>
                      <dgm:ruleLst/>
                    </dgm:layoutNode>
                    <dgm:layoutNode name="FourConn_1-2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Conn_2-3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st="2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Conn_3-4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st="3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1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1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2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2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3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3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4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4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if>
                  <dgm:else name="Name14">
                    <dgm:choose name="Name15">
                      <dgm:if name="Name16" axis="ch" ptType="node" func="cnt" op="gte" val="5">
                        <dgm:layoutNode name="FiveNodes_1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1 1" cnt="1 0"/>
                          <dgm:constrLst/>
                          <dgm:ruleLst/>
                        </dgm:layoutNode>
                        <dgm:layoutNode name="FiveNodes_2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2 1" cnt="1 0"/>
                          <dgm:constrLst/>
                          <dgm:ruleLst/>
                        </dgm:layoutNode>
                        <dgm:layoutNode name="FiveNodes_3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3 1" cnt="1 0"/>
                          <dgm:constrLst/>
                          <dgm:ruleLst/>
                        </dgm:layoutNode>
                        <dgm:layoutNode name="FiveNodes_4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4 1" cnt="1 0"/>
                          <dgm:constrLst/>
                          <dgm:ruleLst/>
                        </dgm:layoutNode>
                        <dgm:layoutNode name="FiveNodes_5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5 1" cnt="1 0"/>
                          <dgm:constrLst/>
                          <dgm:ruleLst/>
                        </dgm:layoutNode>
                        <dgm:layoutNode name="FiveConn_1-2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2-3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2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3-4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3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4-5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4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1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1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2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2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3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3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4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4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5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5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</dgm:if>
                      <dgm:else name="Name17"/>
                    </dgm:choose>
                  </dgm:else>
                </dgm:choose>
              </dgm:else>
            </dgm:choose>
          </dgm:else>
        </dgm:choose>
      </dgm:else>
    </dgm:choose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4212" y="685799"/>
            <a:ext cx="8001000" cy="2971801"/>
          </a:xfrm>
        </p:spPr>
        <p:txBody>
          <a:bodyPr anchor="b">
            <a:normAutofit/>
          </a:bodyPr>
          <a:lstStyle>
            <a:lvl1pPr algn="l">
              <a:defRPr sz="4800">
                <a:effectLst/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84212" y="3843867"/>
            <a:ext cx="6400800" cy="1947333"/>
          </a:xfrm>
        </p:spPr>
        <p:txBody>
          <a:bodyPr anchor="t">
            <a:normAutofit/>
          </a:bodyPr>
          <a:lstStyle>
            <a:lvl1pPr marL="0" indent="0" algn="l">
              <a:buNone/>
              <a:defRPr sz="21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2CECD3-3569-4D6E-AA1B-67789CA6B4B3}" type="datetimeFigureOut">
              <a:rPr lang="en-GB" smtClean="0"/>
              <a:t>18/05/2026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76CC4B-E144-4E39-896C-007A1FA960E0}" type="slidenum">
              <a:rPr lang="en-GB" smtClean="0"/>
              <a:t>‹#›</a:t>
            </a:fld>
            <a:endParaRPr lang="en-GB"/>
          </a:p>
        </p:txBody>
      </p:sp>
      <p:cxnSp>
        <p:nvCxnSpPr>
          <p:cNvPr id="16" name="Straight Connector 15"/>
          <p:cNvCxnSpPr/>
          <p:nvPr/>
        </p:nvCxnSpPr>
        <p:spPr>
          <a:xfrm flipH="1">
            <a:off x="8228012" y="8467"/>
            <a:ext cx="3810000" cy="3810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/>
          <p:cNvCxnSpPr/>
          <p:nvPr/>
        </p:nvCxnSpPr>
        <p:spPr>
          <a:xfrm flipH="1">
            <a:off x="6108170" y="91545"/>
            <a:ext cx="6080655" cy="6080655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/>
          <p:cNvCxnSpPr/>
          <p:nvPr/>
        </p:nvCxnSpPr>
        <p:spPr>
          <a:xfrm flipH="1">
            <a:off x="7235825" y="228600"/>
            <a:ext cx="4953000" cy="4953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/>
          <p:cNvCxnSpPr/>
          <p:nvPr/>
        </p:nvCxnSpPr>
        <p:spPr>
          <a:xfrm flipH="1">
            <a:off x="7335837" y="32278"/>
            <a:ext cx="4852989" cy="4852989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/>
          <p:cNvCxnSpPr/>
          <p:nvPr/>
        </p:nvCxnSpPr>
        <p:spPr>
          <a:xfrm flipH="1">
            <a:off x="7845426" y="609601"/>
            <a:ext cx="4343399" cy="4343399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4211287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2CECD3-3569-4D6E-AA1B-67789CA6B4B3}" type="datetimeFigureOut">
              <a:rPr lang="en-GB" smtClean="0"/>
              <a:t>18/05/2026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76CC4B-E144-4E39-896C-007A1FA960E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559080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1" y="2006600"/>
            <a:ext cx="8534401" cy="2281600"/>
          </a:xfrm>
        </p:spPr>
        <p:txBody>
          <a:bodyPr anchor="b">
            <a:normAutofit/>
          </a:bodyPr>
          <a:lstStyle>
            <a:lvl1pPr algn="l">
              <a:defRPr sz="3600" b="0" cap="all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3" y="4495800"/>
            <a:ext cx="8534400" cy="14986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2CECD3-3569-4D6E-AA1B-67789CA6B4B3}" type="datetimeFigureOut">
              <a:rPr lang="en-GB" smtClean="0"/>
              <a:t>18/05/2026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76CC4B-E144-4E39-896C-007A1FA960E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607229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4211" y="685800"/>
            <a:ext cx="4937655" cy="3615267"/>
          </a:xfrm>
        </p:spPr>
        <p:txBody>
          <a:bodyPr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08133" y="685801"/>
            <a:ext cx="4934479" cy="3615266"/>
          </a:xfrm>
        </p:spPr>
        <p:txBody>
          <a:bodyPr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2CECD3-3569-4D6E-AA1B-67789CA6B4B3}" type="datetimeFigureOut">
              <a:rPr lang="en-GB" smtClean="0"/>
              <a:t>18/05/2026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76CC4B-E144-4E39-896C-007A1FA960E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321720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72080" y="685800"/>
            <a:ext cx="4649787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4211" y="1270529"/>
            <a:ext cx="4937655" cy="3030538"/>
          </a:xfrm>
        </p:spPr>
        <p:txBody>
          <a:bodyPr anchor="t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079066" y="685800"/>
            <a:ext cx="4665134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806545" y="1262062"/>
            <a:ext cx="4929188" cy="3030538"/>
          </a:xfrm>
        </p:spPr>
        <p:txBody>
          <a:bodyPr anchor="t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2CECD3-3569-4D6E-AA1B-67789CA6B4B3}" type="datetimeFigureOut">
              <a:rPr lang="en-GB" smtClean="0"/>
              <a:t>18/05/2026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76CC4B-E144-4E39-896C-007A1FA960E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69157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2CECD3-3569-4D6E-AA1B-67789CA6B4B3}" type="datetimeFigureOut">
              <a:rPr lang="en-GB" smtClean="0"/>
              <a:t>18/05/2026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76CC4B-E144-4E39-896C-007A1FA960E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9921114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2CECD3-3569-4D6E-AA1B-67789CA6B4B3}" type="datetimeFigureOut">
              <a:rPr lang="en-GB" smtClean="0"/>
              <a:t>18/05/2026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76CC4B-E144-4E39-896C-007A1FA960E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2553003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085012" y="685800"/>
            <a:ext cx="3657600" cy="1371600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4212" y="685800"/>
            <a:ext cx="5943601" cy="5308600"/>
          </a:xfrm>
        </p:spPr>
        <p:txBody>
          <a:bodyPr anchor="ctr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085012" y="2209799"/>
            <a:ext cx="3657600" cy="2091267"/>
          </a:xfrm>
        </p:spPr>
        <p:txBody>
          <a:bodyPr anchor="t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2CECD3-3569-4D6E-AA1B-67789CA6B4B3}" type="datetimeFigureOut">
              <a:rPr lang="en-GB" smtClean="0"/>
              <a:t>18/05/2026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76CC4B-E144-4E39-896C-007A1FA960E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3243606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2812" y="1447800"/>
            <a:ext cx="6019800" cy="1143000"/>
          </a:xfrm>
        </p:spPr>
        <p:txBody>
          <a:bodyPr anchor="b">
            <a:normAutofit/>
          </a:bodyPr>
          <a:lstStyle>
            <a:lvl1pPr algn="l">
              <a:defRPr sz="2800" b="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4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989012" y="914400"/>
            <a:ext cx="3280974" cy="4572000"/>
          </a:xfrm>
          <a:prstGeom prst="snip2DiagRect">
            <a:avLst>
              <a:gd name="adj1" fmla="val 10815"/>
              <a:gd name="adj2" fmla="val 0"/>
            </a:avLst>
          </a:prstGeom>
          <a:ln w="15875">
            <a:solidFill>
              <a:schemeClr val="tx1">
                <a:alpha val="40000"/>
              </a:schemeClr>
            </a:soli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2812" y="2777066"/>
            <a:ext cx="6021388" cy="2048933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2CECD3-3569-4D6E-AA1B-67789CA6B4B3}" type="datetimeFigureOut">
              <a:rPr lang="en-GB" smtClean="0"/>
              <a:t>18/05/2026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76CC4B-E144-4E39-896C-007A1FA960E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7629005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7" name="Picture Placeholder 2"/>
          <p:cNvSpPr>
            <a:spLocks noGrp="1" noChangeAspect="1"/>
          </p:cNvSpPr>
          <p:nvPr>
            <p:ph type="pic" idx="13"/>
          </p:nvPr>
        </p:nvSpPr>
        <p:spPr>
          <a:xfrm>
            <a:off x="685800" y="533400"/>
            <a:ext cx="10818812" cy="3124200"/>
          </a:xfrm>
          <a:prstGeom prst="snip2DiagRect">
            <a:avLst>
              <a:gd name="adj1" fmla="val 10815"/>
              <a:gd name="adj2" fmla="val 0"/>
            </a:avLst>
          </a:prstGeom>
          <a:ln w="15875">
            <a:solidFill>
              <a:schemeClr val="tx1">
                <a:alpha val="40000"/>
              </a:schemeClr>
            </a:soli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16" name="Text Placeholder 9"/>
          <p:cNvSpPr>
            <a:spLocks noGrp="1"/>
          </p:cNvSpPr>
          <p:nvPr>
            <p:ph type="body" sz="quarter" idx="14"/>
          </p:nvPr>
        </p:nvSpPr>
        <p:spPr>
          <a:xfrm>
            <a:off x="914402" y="3843867"/>
            <a:ext cx="8304210" cy="457200"/>
          </a:xfrm>
        </p:spPr>
        <p:txBody>
          <a:bodyPr anchor="t">
            <a:normAutofit/>
          </a:bodyPr>
          <a:lstStyle>
            <a:lvl1pPr marL="0" indent="0">
              <a:buFontTx/>
              <a:buNone/>
              <a:defRPr sz="1600"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2CECD3-3569-4D6E-AA1B-67789CA6B4B3}" type="datetimeFigureOut">
              <a:rPr lang="en-GB" smtClean="0"/>
              <a:t>18/05/2026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76CC4B-E144-4E39-896C-007A1FA960E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362098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3" y="685800"/>
            <a:ext cx="10058400" cy="2743200"/>
          </a:xfrm>
        </p:spPr>
        <p:txBody>
          <a:bodyPr anchor="ctr">
            <a:normAutofit/>
          </a:bodyPr>
          <a:lstStyle>
            <a:lvl1pPr algn="l">
              <a:defRPr sz="3200" b="0" cap="all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2" y="4114800"/>
            <a:ext cx="8535988" cy="1879600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2CECD3-3569-4D6E-AA1B-67789CA6B4B3}" type="datetimeFigureOut">
              <a:rPr lang="en-GB" smtClean="0"/>
              <a:t>18/05/2026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76CC4B-E144-4E39-896C-007A1FA960E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4351695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85800"/>
            <a:ext cx="9144001" cy="2743200"/>
          </a:xfrm>
        </p:spPr>
        <p:txBody>
          <a:bodyPr anchor="ctr">
            <a:normAutofit/>
          </a:bodyPr>
          <a:lstStyle>
            <a:lvl1pPr algn="l">
              <a:defRPr sz="3200" b="0" cap="all">
                <a:solidFill>
                  <a:schemeClr val="tx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446212" y="3429000"/>
            <a:ext cx="8534400" cy="381000"/>
          </a:xfrm>
        </p:spPr>
        <p:txBody>
          <a:bodyPr anchor="ctr"/>
          <a:lstStyle>
            <a:lvl1pPr marL="0" indent="0">
              <a:buFontTx/>
              <a:buNone/>
              <a:defRPr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3" y="4301067"/>
            <a:ext cx="8534400" cy="1684865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2CECD3-3569-4D6E-AA1B-67789CA6B4B3}" type="datetimeFigureOut">
              <a:rPr lang="en-GB" smtClean="0"/>
              <a:t>18/05/2026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76CC4B-E144-4E39-896C-007A1FA960E0}" type="slidenum">
              <a:rPr lang="en-GB" smtClean="0"/>
              <a:t>‹#›</a:t>
            </a:fld>
            <a:endParaRPr lang="en-GB"/>
          </a:p>
        </p:txBody>
      </p:sp>
      <p:sp>
        <p:nvSpPr>
          <p:cNvPr id="14" name="TextBox 13"/>
          <p:cNvSpPr txBox="1"/>
          <p:nvPr/>
        </p:nvSpPr>
        <p:spPr>
          <a:xfrm>
            <a:off x="531812" y="81222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85412" y="276860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64318862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2" y="3429000"/>
            <a:ext cx="8534400" cy="1697400"/>
          </a:xfrm>
        </p:spPr>
        <p:txBody>
          <a:bodyPr anchor="b">
            <a:normAutofit/>
          </a:bodyPr>
          <a:lstStyle>
            <a:lvl1pPr algn="l">
              <a:defRPr sz="3200" b="0" cap="all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1" y="5132981"/>
            <a:ext cx="8535990" cy="860400"/>
          </a:xfrm>
        </p:spPr>
        <p:txBody>
          <a:bodyPr anchor="t">
            <a:normAutofit/>
          </a:bodyPr>
          <a:lstStyle>
            <a:lvl1pPr marL="0" indent="0" algn="l">
              <a:buNone/>
              <a:defRPr sz="20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2CECD3-3569-4D6E-AA1B-67789CA6B4B3}" type="datetimeFigureOut">
              <a:rPr lang="en-GB" smtClean="0"/>
              <a:t>18/05/2026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76CC4B-E144-4E39-896C-007A1FA960E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762386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85800"/>
            <a:ext cx="9144000" cy="2743200"/>
          </a:xfrm>
        </p:spPr>
        <p:txBody>
          <a:bodyPr anchor="ctr">
            <a:normAutofit/>
          </a:bodyPr>
          <a:lstStyle>
            <a:lvl1pPr algn="l">
              <a:defRPr sz="3200" b="0" cap="all">
                <a:solidFill>
                  <a:schemeClr val="tx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84212" y="3928534"/>
            <a:ext cx="8534401" cy="1049866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400" b="0" cap="all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n-GB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1" y="4978400"/>
            <a:ext cx="8534401" cy="10160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2CECD3-3569-4D6E-AA1B-67789CA6B4B3}" type="datetimeFigureOut">
              <a:rPr lang="en-GB" smtClean="0"/>
              <a:t>18/05/2026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76CC4B-E144-4E39-896C-007A1FA960E0}" type="slidenum">
              <a:rPr lang="en-GB" smtClean="0"/>
              <a:t>‹#›</a:t>
            </a:fld>
            <a:endParaRPr lang="en-GB"/>
          </a:p>
        </p:txBody>
      </p:sp>
      <p:sp>
        <p:nvSpPr>
          <p:cNvPr id="11" name="TextBox 10"/>
          <p:cNvSpPr txBox="1"/>
          <p:nvPr/>
        </p:nvSpPr>
        <p:spPr>
          <a:xfrm>
            <a:off x="531812" y="81222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5412" y="276860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39119268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3" y="685800"/>
            <a:ext cx="10058400" cy="2743200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84212" y="3928534"/>
            <a:ext cx="8534400" cy="8382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400" b="0" cap="all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n-GB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1" y="4766732"/>
            <a:ext cx="8534401" cy="1227667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2CECD3-3569-4D6E-AA1B-67789CA6B4B3}" type="datetimeFigureOut">
              <a:rPr lang="en-GB" smtClean="0"/>
              <a:t>18/05/2026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76CC4B-E144-4E39-896C-007A1FA960E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869129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2CECD3-3569-4D6E-AA1B-67789CA6B4B3}" type="datetimeFigureOut">
              <a:rPr lang="en-GB" smtClean="0"/>
              <a:t>18/05/2026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76CC4B-E144-4E39-896C-007A1FA960E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6210027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85212" y="685800"/>
            <a:ext cx="2057400" cy="4572000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5800" y="685800"/>
            <a:ext cx="7823200" cy="5308600"/>
          </a:xfrm>
        </p:spPr>
        <p:txBody>
          <a:bodyPr vert="eaVert" anchor="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2CECD3-3569-4D6E-AA1B-67789CA6B4B3}" type="datetimeFigureOut">
              <a:rPr lang="en-GB" smtClean="0"/>
              <a:t>18/05/2026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76CC4B-E144-4E39-896C-007A1FA960E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1899683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2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9206969" y="2963333"/>
            <a:ext cx="2981858" cy="3208867"/>
            <a:chOff x="9206969" y="2963333"/>
            <a:chExt cx="2981858" cy="3208867"/>
          </a:xfrm>
        </p:grpSpPr>
        <p:cxnSp>
          <p:nvCxnSpPr>
            <p:cNvPr id="8" name="Straight Connector 7"/>
            <p:cNvCxnSpPr/>
            <p:nvPr/>
          </p:nvCxnSpPr>
          <p:spPr>
            <a:xfrm flipH="1">
              <a:off x="11276012" y="2963333"/>
              <a:ext cx="912814" cy="912812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/>
            <p:cNvCxnSpPr/>
            <p:nvPr/>
          </p:nvCxnSpPr>
          <p:spPr>
            <a:xfrm flipH="1">
              <a:off x="9206969" y="3190344"/>
              <a:ext cx="2981857" cy="2981856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/>
            <p:cNvCxnSpPr/>
            <p:nvPr/>
          </p:nvCxnSpPr>
          <p:spPr>
            <a:xfrm flipH="1">
              <a:off x="10292292" y="3285067"/>
              <a:ext cx="1896534" cy="1896533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/>
            <p:cNvCxnSpPr/>
            <p:nvPr/>
          </p:nvCxnSpPr>
          <p:spPr>
            <a:xfrm flipH="1">
              <a:off x="10443103" y="3131080"/>
              <a:ext cx="1745722" cy="174572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/>
            <p:cNvCxnSpPr/>
            <p:nvPr/>
          </p:nvCxnSpPr>
          <p:spPr>
            <a:xfrm flipH="1">
              <a:off x="10918826" y="3683001"/>
              <a:ext cx="1270001" cy="1269999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4212" y="4487332"/>
            <a:ext cx="8534400" cy="1507067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2" y="685800"/>
            <a:ext cx="8534400" cy="361526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9904412" y="617220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r">
              <a:defRPr sz="1000" b="0" i="0">
                <a:solidFill>
                  <a:schemeClr val="bg2">
                    <a:lumMod val="50000"/>
                  </a:schemeClr>
                </a:solidFill>
                <a:effectLst/>
                <a:latin typeface="+mn-lt"/>
              </a:defRPr>
            </a:lvl1pPr>
          </a:lstStyle>
          <a:p>
            <a:fld id="{842CECD3-3569-4D6E-AA1B-67789CA6B4B3}" type="datetimeFigureOut">
              <a:rPr lang="en-GB" smtClean="0"/>
              <a:t>18/05/2026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4212" y="6172200"/>
            <a:ext cx="7543800" cy="365125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000" b="0" i="0">
                <a:solidFill>
                  <a:schemeClr val="bg2">
                    <a:lumMod val="50000"/>
                  </a:schemeClr>
                </a:solidFill>
                <a:effectLst/>
                <a:latin typeface="+mn-lt"/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363200" y="5578475"/>
            <a:ext cx="1142245" cy="6699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3200" b="0" i="0">
                <a:solidFill>
                  <a:schemeClr val="bg2">
                    <a:lumMod val="50000"/>
                  </a:schemeClr>
                </a:solidFill>
                <a:effectLst/>
                <a:latin typeface="+mn-lt"/>
              </a:defRPr>
            </a:lvl1pPr>
          </a:lstStyle>
          <a:p>
            <a:fld id="{3B76CC4B-E144-4E39-896C-007A1FA960E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25451251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 cap="all">
          <a:ln w="3175" cmpd="sng">
            <a:noFill/>
          </a:ln>
          <a:solidFill>
            <a:schemeClr val="tx1"/>
          </a:solidFill>
          <a:effectLst/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20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8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6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2.xml"/><Relationship Id="rId5" Type="http://schemas.openxmlformats.org/officeDocument/2006/relationships/chart" Target="../charts/chart4.xml"/><Relationship Id="rId4" Type="http://schemas.openxmlformats.org/officeDocument/2006/relationships/chart" Target="../charts/chart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6.xml"/><Relationship Id="rId2" Type="http://schemas.openxmlformats.org/officeDocument/2006/relationships/chart" Target="../charts/chart5.xml"/><Relationship Id="rId1" Type="http://schemas.openxmlformats.org/officeDocument/2006/relationships/slideLayout" Target="../slideLayouts/slideLayout2.xml"/><Relationship Id="rId5" Type="http://schemas.openxmlformats.org/officeDocument/2006/relationships/chart" Target="../charts/chart8.xml"/><Relationship Id="rId4" Type="http://schemas.openxmlformats.org/officeDocument/2006/relationships/chart" Target="../charts/char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chart" Target="../charts/chart9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F7ECC8-7CF2-F5EC-537B-618D889B1E4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noProof="1"/>
              <a:t>Gsasrec: modello di raccomandazione sequenziale</a:t>
            </a:r>
            <a:endParaRPr lang="en-GB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2168DDE-7BDC-4B0A-9910-84F2E5322A1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it-IT" dirty="0"/>
              <a:t>Da Python a Rust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68884089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10000">
              <a:schemeClr val="bg2">
                <a:tint val="97000"/>
                <a:hueMod val="92000"/>
                <a:satMod val="169000"/>
                <a:lumMod val="164000"/>
              </a:schemeClr>
            </a:gs>
            <a:gs pos="100000">
              <a:schemeClr val="bg2">
                <a:shade val="96000"/>
                <a:satMod val="120000"/>
                <a:lumMod val="90000"/>
              </a:schemeClr>
            </a:gs>
          </a:gsLst>
          <a:lin ang="612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290FE681-1E05-478A-89DC-5F7AB37CFD7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50E1411-6A86-DF1E-8A42-AB381FF876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4212" y="685799"/>
            <a:ext cx="3747111" cy="4892040"/>
          </a:xfrm>
        </p:spPr>
        <p:txBody>
          <a:bodyPr>
            <a:normAutofit/>
          </a:bodyPr>
          <a:lstStyle/>
          <a:p>
            <a:pPr algn="r"/>
            <a:r>
              <a:rPr lang="it-IT" dirty="0"/>
              <a:t>ESPORTAZIONE DEL MODELLO</a:t>
            </a:r>
            <a:endParaRPr lang="en-GB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2E2F21DC-5F0E-42CF-B89C-C1E25E175C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650783" y="1532373"/>
            <a:ext cx="0" cy="3198892"/>
          </a:xfrm>
          <a:prstGeom prst="line">
            <a:avLst/>
          </a:prstGeom>
          <a:ln w="19050">
            <a:solidFill>
              <a:schemeClr val="tx1">
                <a:alpha val="6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C31CD2-50DE-0241-7843-CE0E80CFB65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79962" y="685799"/>
            <a:ext cx="6288260" cy="489204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it-IT" dirty="0">
                <a:solidFill>
                  <a:schemeClr val="tx1"/>
                </a:solidFill>
              </a:rPr>
              <a:t>Uso della libreria ONNX, tramite: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it-IT">
                <a:solidFill>
                  <a:schemeClr val="tx1"/>
                </a:solidFill>
              </a:rPr>
              <a:t>export_model</a:t>
            </a:r>
            <a:r>
              <a:rPr lang="it-IT" dirty="0">
                <a:solidFill>
                  <a:schemeClr val="tx1"/>
                </a:solidFill>
              </a:rPr>
              <a:t>(): funzione per l’esportazione del modello.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it-IT">
                <a:solidFill>
                  <a:schemeClr val="tx1"/>
                </a:solidFill>
              </a:rPr>
              <a:t>ModelWrapper</a:t>
            </a:r>
            <a:r>
              <a:rPr lang="it-IT" dirty="0">
                <a:solidFill>
                  <a:schemeClr val="tx1"/>
                </a:solidFill>
              </a:rPr>
              <a:t>: classe per racchiudere il modello in un </a:t>
            </a:r>
            <a:r>
              <a:rPr lang="it-IT">
                <a:solidFill>
                  <a:schemeClr val="tx1"/>
                </a:solidFill>
              </a:rPr>
              <a:t>wrapper</a:t>
            </a:r>
            <a:r>
              <a:rPr lang="it-IT" dirty="0">
                <a:solidFill>
                  <a:schemeClr val="tx1"/>
                </a:solidFill>
              </a:rPr>
              <a:t> che permettesse di fare inferenza in Rust, ottenendo direttamente i risultati.</a:t>
            </a:r>
            <a:endParaRPr lang="en-GB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1077166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AA43B6-E834-FB6D-8C7B-8FDE246A93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INFERENZA IN RUST</a:t>
            </a:r>
            <a:endParaRPr lang="en-GB" dirty="0"/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BC52C4CE-C471-B81C-405C-4285852C2091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684212" y="685800"/>
          <a:ext cx="8534400" cy="361526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22823865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10000">
              <a:schemeClr val="bg2">
                <a:tint val="97000"/>
                <a:hueMod val="92000"/>
                <a:satMod val="169000"/>
                <a:lumMod val="164000"/>
              </a:schemeClr>
            </a:gs>
            <a:gs pos="100000">
              <a:schemeClr val="bg2">
                <a:shade val="96000"/>
                <a:satMod val="120000"/>
                <a:lumMod val="90000"/>
              </a:schemeClr>
            </a:gs>
          </a:gsLst>
          <a:lin ang="612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Rectangle 14">
            <a:extLst>
              <a:ext uri="{FF2B5EF4-FFF2-40B4-BE49-F238E27FC236}">
                <a16:creationId xmlns:a16="http://schemas.microsoft.com/office/drawing/2014/main" id="{290FE681-1E05-478A-89DC-5F7AB37CFD7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8CCD3D9-7742-EAF7-9302-1F096FD85E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4212" y="685799"/>
            <a:ext cx="3747111" cy="4892040"/>
          </a:xfrm>
        </p:spPr>
        <p:txBody>
          <a:bodyPr>
            <a:normAutofit/>
          </a:bodyPr>
          <a:lstStyle/>
          <a:p>
            <a:pPr algn="r"/>
            <a:r>
              <a:rPr lang="it-IT"/>
              <a:t>REPLICAZIONE DEL </a:t>
            </a:r>
            <a:r>
              <a:rPr lang="it-IT" dirty="0"/>
              <a:t>MODELLO IN RUST</a:t>
            </a:r>
            <a:endParaRPr lang="en-GB" dirty="0"/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2E2F21DC-5F0E-42CF-B89C-C1E25E175C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650783" y="1532373"/>
            <a:ext cx="0" cy="3198892"/>
          </a:xfrm>
          <a:prstGeom prst="line">
            <a:avLst/>
          </a:prstGeom>
          <a:ln w="19050">
            <a:solidFill>
              <a:schemeClr val="tx1">
                <a:alpha val="6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919C57-8564-E69B-7F54-8DC0EC3F58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79962" y="685799"/>
            <a:ext cx="6288260" cy="489204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it-IT" dirty="0">
                <a:solidFill>
                  <a:schemeClr val="tx1"/>
                </a:solidFill>
              </a:rPr>
              <a:t>Utilizzare </a:t>
            </a:r>
            <a:r>
              <a:rPr lang="it-IT">
                <a:solidFill>
                  <a:schemeClr val="tx1"/>
                </a:solidFill>
              </a:rPr>
              <a:t>Candle</a:t>
            </a:r>
            <a:r>
              <a:rPr lang="it-IT" dirty="0">
                <a:solidFill>
                  <a:schemeClr val="tx1"/>
                </a:solidFill>
              </a:rPr>
              <a:t> per poter replicare le funzionalità di </a:t>
            </a:r>
            <a:r>
              <a:rPr lang="it-IT">
                <a:solidFill>
                  <a:schemeClr val="tx1"/>
                </a:solidFill>
              </a:rPr>
              <a:t>GSASRec</a:t>
            </a:r>
            <a:r>
              <a:rPr lang="it-IT" dirty="0">
                <a:solidFill>
                  <a:schemeClr val="tx1"/>
                </a:solidFill>
              </a:rPr>
              <a:t>, considerando diversi moduli per:</a:t>
            </a:r>
          </a:p>
          <a:p>
            <a:r>
              <a:rPr lang="it-IT" dirty="0">
                <a:solidFill>
                  <a:schemeClr val="tx1"/>
                </a:solidFill>
              </a:rPr>
              <a:t>Ottenere i dati per l’input e per l’output a partire dai dati </a:t>
            </a:r>
            <a:r>
              <a:rPr lang="it-IT">
                <a:solidFill>
                  <a:schemeClr val="tx1"/>
                </a:solidFill>
              </a:rPr>
              <a:t>pre</a:t>
            </a:r>
            <a:r>
              <a:rPr lang="it-IT" dirty="0">
                <a:solidFill>
                  <a:schemeClr val="tx1"/>
                </a:solidFill>
              </a:rPr>
              <a:t>-elaborati del dataset </a:t>
            </a:r>
            <a:r>
              <a:rPr lang="it-IT">
                <a:solidFill>
                  <a:schemeClr val="tx1"/>
                </a:solidFill>
              </a:rPr>
              <a:t>MovieLens</a:t>
            </a:r>
            <a:r>
              <a:rPr lang="it-IT" dirty="0">
                <a:solidFill>
                  <a:schemeClr val="tx1"/>
                </a:solidFill>
              </a:rPr>
              <a:t> 1M.</a:t>
            </a:r>
          </a:p>
          <a:p>
            <a:r>
              <a:rPr lang="it-IT" dirty="0">
                <a:solidFill>
                  <a:schemeClr val="tx1"/>
                </a:solidFill>
              </a:rPr>
              <a:t>Impostare la configurazione del modello</a:t>
            </a:r>
          </a:p>
          <a:p>
            <a:r>
              <a:rPr lang="it-IT" dirty="0">
                <a:solidFill>
                  <a:schemeClr val="tx1"/>
                </a:solidFill>
              </a:rPr>
              <a:t>Progettare i transformer </a:t>
            </a:r>
            <a:r>
              <a:rPr lang="it-IT">
                <a:solidFill>
                  <a:schemeClr val="tx1"/>
                </a:solidFill>
              </a:rPr>
              <a:t>block</a:t>
            </a:r>
            <a:r>
              <a:rPr lang="it-IT" dirty="0">
                <a:solidFill>
                  <a:schemeClr val="tx1"/>
                </a:solidFill>
              </a:rPr>
              <a:t>, componenti del modello stesso</a:t>
            </a:r>
            <a:r>
              <a:rPr lang="en-GB" dirty="0">
                <a:solidFill>
                  <a:schemeClr val="tx1"/>
                </a:solidFill>
              </a:rPr>
              <a:t>.</a:t>
            </a:r>
          </a:p>
          <a:p>
            <a:r>
              <a:rPr lang="en-GB">
                <a:solidFill>
                  <a:schemeClr val="tx1"/>
                </a:solidFill>
              </a:rPr>
              <a:t>Sviluppare</a:t>
            </a:r>
            <a:r>
              <a:rPr lang="en-GB" dirty="0">
                <a:solidFill>
                  <a:schemeClr val="tx1"/>
                </a:solidFill>
              </a:rPr>
              <a:t> il </a:t>
            </a:r>
            <a:r>
              <a:rPr lang="en-GB">
                <a:solidFill>
                  <a:schemeClr val="tx1"/>
                </a:solidFill>
              </a:rPr>
              <a:t>modello</a:t>
            </a:r>
            <a:r>
              <a:rPr lang="en-GB" dirty="0">
                <a:solidFill>
                  <a:schemeClr val="tx1"/>
                </a:solidFill>
              </a:rPr>
              <a:t> finale in </a:t>
            </a:r>
            <a:r>
              <a:rPr lang="en-GB">
                <a:solidFill>
                  <a:schemeClr val="tx1"/>
                </a:solidFill>
              </a:rPr>
              <a:t>grado</a:t>
            </a:r>
            <a:r>
              <a:rPr lang="en-GB" dirty="0">
                <a:solidFill>
                  <a:schemeClr val="tx1"/>
                </a:solidFill>
              </a:rPr>
              <a:t> di </a:t>
            </a:r>
            <a:r>
              <a:rPr lang="en-GB">
                <a:solidFill>
                  <a:schemeClr val="tx1"/>
                </a:solidFill>
              </a:rPr>
              <a:t>restituire</a:t>
            </a:r>
            <a:r>
              <a:rPr lang="en-GB" dirty="0">
                <a:solidFill>
                  <a:schemeClr val="tx1"/>
                </a:solidFill>
              </a:rPr>
              <a:t> le </a:t>
            </a:r>
            <a:r>
              <a:rPr lang="en-GB">
                <a:solidFill>
                  <a:schemeClr val="tx1"/>
                </a:solidFill>
              </a:rPr>
              <a:t>risposte</a:t>
            </a:r>
            <a:endParaRPr lang="it-IT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2941682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26E562-9200-6B06-79DD-5FB4111A91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Differenze </a:t>
            </a:r>
            <a:r>
              <a:rPr lang="it-IT" dirty="0" err="1"/>
              <a:t>riscontraTe</a:t>
            </a:r>
            <a:endParaRPr lang="en-GB" dirty="0"/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7A414C01-EA80-F170-449D-27F03734FBE2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684212" y="685800"/>
          <a:ext cx="8534400" cy="361526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90808078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10000">
              <a:schemeClr val="bg2">
                <a:tint val="97000"/>
                <a:hueMod val="92000"/>
                <a:satMod val="169000"/>
                <a:lumMod val="164000"/>
              </a:schemeClr>
            </a:gs>
            <a:gs pos="100000">
              <a:schemeClr val="bg2">
                <a:shade val="96000"/>
                <a:satMod val="120000"/>
                <a:lumMod val="90000"/>
              </a:schemeClr>
            </a:gs>
          </a:gsLst>
          <a:lin ang="612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290FE681-1E05-478A-89DC-5F7AB37CFD7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6A0011C-6B98-DFE0-47EA-CC24EF774E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4212" y="685799"/>
            <a:ext cx="3747111" cy="4892040"/>
          </a:xfrm>
        </p:spPr>
        <p:txBody>
          <a:bodyPr>
            <a:normAutofit/>
          </a:bodyPr>
          <a:lstStyle/>
          <a:p>
            <a:pPr algn="r"/>
            <a:r>
              <a:rPr lang="it-IT" dirty="0"/>
              <a:t>TRAINING CON AMAZON ALL BEAUTY</a:t>
            </a:r>
            <a:endParaRPr lang="en-GB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2E2F21DC-5F0E-42CF-B89C-C1E25E175C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650783" y="1532373"/>
            <a:ext cx="0" cy="3198892"/>
          </a:xfrm>
          <a:prstGeom prst="line">
            <a:avLst/>
          </a:prstGeom>
          <a:ln w="19050">
            <a:solidFill>
              <a:schemeClr val="tx1">
                <a:alpha val="6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380315-1648-4B63-279B-4F9AB5153D3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79962" y="685799"/>
            <a:ext cx="6288260" cy="489204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it-IT" dirty="0">
                <a:solidFill>
                  <a:schemeClr val="tx1"/>
                </a:solidFill>
              </a:rPr>
              <a:t>Sia il modello basato su BPR che il </a:t>
            </a:r>
            <a:r>
              <a:rPr lang="it-IT">
                <a:solidFill>
                  <a:schemeClr val="tx1"/>
                </a:solidFill>
              </a:rPr>
              <a:t>gSASRec</a:t>
            </a:r>
            <a:r>
              <a:rPr lang="it-IT" dirty="0">
                <a:solidFill>
                  <a:schemeClr val="tx1"/>
                </a:solidFill>
              </a:rPr>
              <a:t> sono stati allenati con il </a:t>
            </a:r>
            <a:r>
              <a:rPr lang="it-IT">
                <a:solidFill>
                  <a:schemeClr val="tx1"/>
                </a:solidFill>
              </a:rPr>
              <a:t>MovieLens</a:t>
            </a:r>
            <a:r>
              <a:rPr lang="it-IT" dirty="0">
                <a:solidFill>
                  <a:schemeClr val="tx1"/>
                </a:solidFill>
              </a:rPr>
              <a:t> 1M, per permettere l’utilizzo di </a:t>
            </a:r>
            <a:r>
              <a:rPr lang="it-IT">
                <a:solidFill>
                  <a:schemeClr val="tx1"/>
                </a:solidFill>
              </a:rPr>
              <a:t>Amazon:All</a:t>
            </a:r>
            <a:r>
              <a:rPr lang="it-IT" dirty="0">
                <a:solidFill>
                  <a:schemeClr val="tx1"/>
                </a:solidFill>
              </a:rPr>
              <a:t> Beauty è stato necessario:</a:t>
            </a:r>
          </a:p>
          <a:p>
            <a:r>
              <a:rPr lang="en-GB">
                <a:solidFill>
                  <a:schemeClr val="tx1"/>
                </a:solidFill>
              </a:rPr>
              <a:t>Generalizzare</a:t>
            </a:r>
            <a:r>
              <a:rPr lang="en-GB" dirty="0">
                <a:solidFill>
                  <a:schemeClr val="tx1"/>
                </a:solidFill>
              </a:rPr>
              <a:t> la </a:t>
            </a:r>
            <a:r>
              <a:rPr lang="en-GB">
                <a:solidFill>
                  <a:schemeClr val="tx1"/>
                </a:solidFill>
              </a:rPr>
              <a:t>creazione</a:t>
            </a:r>
            <a:r>
              <a:rPr lang="en-GB" dirty="0">
                <a:solidFill>
                  <a:schemeClr val="tx1"/>
                </a:solidFill>
              </a:rPr>
              <a:t> del dataset a </a:t>
            </a:r>
            <a:r>
              <a:rPr lang="en-GB">
                <a:solidFill>
                  <a:schemeClr val="tx1"/>
                </a:solidFill>
              </a:rPr>
              <a:t>partire</a:t>
            </a:r>
            <a:r>
              <a:rPr lang="en-GB" dirty="0">
                <a:solidFill>
                  <a:schemeClr val="tx1"/>
                </a:solidFill>
              </a:rPr>
              <a:t> </a:t>
            </a:r>
            <a:r>
              <a:rPr lang="en-GB">
                <a:solidFill>
                  <a:schemeClr val="tx1"/>
                </a:solidFill>
              </a:rPr>
              <a:t>dai</a:t>
            </a:r>
            <a:r>
              <a:rPr lang="en-GB" dirty="0">
                <a:solidFill>
                  <a:schemeClr val="tx1"/>
                </a:solidFill>
              </a:rPr>
              <a:t> </a:t>
            </a:r>
            <a:r>
              <a:rPr lang="en-GB">
                <a:solidFill>
                  <a:schemeClr val="tx1"/>
                </a:solidFill>
              </a:rPr>
              <a:t>dati</a:t>
            </a:r>
            <a:r>
              <a:rPr lang="en-GB" dirty="0">
                <a:solidFill>
                  <a:schemeClr val="tx1"/>
                </a:solidFill>
              </a:rPr>
              <a:t>.</a:t>
            </a:r>
          </a:p>
          <a:p>
            <a:r>
              <a:rPr lang="en-GB">
                <a:solidFill>
                  <a:schemeClr val="tx1"/>
                </a:solidFill>
              </a:rPr>
              <a:t>Modificare</a:t>
            </a:r>
            <a:r>
              <a:rPr lang="en-GB" dirty="0">
                <a:solidFill>
                  <a:schemeClr val="tx1"/>
                </a:solidFill>
              </a:rPr>
              <a:t> la </a:t>
            </a:r>
            <a:r>
              <a:rPr lang="en-GB">
                <a:solidFill>
                  <a:schemeClr val="tx1"/>
                </a:solidFill>
              </a:rPr>
              <a:t>fase</a:t>
            </a:r>
            <a:r>
              <a:rPr lang="en-GB" dirty="0">
                <a:solidFill>
                  <a:schemeClr val="tx1"/>
                </a:solidFill>
              </a:rPr>
              <a:t> di training, </a:t>
            </a:r>
            <a:r>
              <a:rPr lang="en-GB">
                <a:solidFill>
                  <a:schemeClr val="tx1"/>
                </a:solidFill>
              </a:rPr>
              <a:t>permettendo</a:t>
            </a:r>
            <a:r>
              <a:rPr lang="en-GB" dirty="0">
                <a:solidFill>
                  <a:schemeClr val="tx1"/>
                </a:solidFill>
              </a:rPr>
              <a:t> di </a:t>
            </a:r>
            <a:r>
              <a:rPr lang="en-GB">
                <a:solidFill>
                  <a:schemeClr val="tx1"/>
                </a:solidFill>
              </a:rPr>
              <a:t>specificare</a:t>
            </a:r>
            <a:r>
              <a:rPr lang="en-GB" dirty="0">
                <a:solidFill>
                  <a:schemeClr val="tx1"/>
                </a:solidFill>
              </a:rPr>
              <a:t> il dataset e </a:t>
            </a:r>
            <a:r>
              <a:rPr lang="en-GB">
                <a:solidFill>
                  <a:schemeClr val="tx1"/>
                </a:solidFill>
              </a:rPr>
              <a:t>comportandosi</a:t>
            </a:r>
            <a:r>
              <a:rPr lang="en-GB" dirty="0">
                <a:solidFill>
                  <a:schemeClr val="tx1"/>
                </a:solidFill>
              </a:rPr>
              <a:t> di </a:t>
            </a:r>
            <a:r>
              <a:rPr lang="en-GB">
                <a:solidFill>
                  <a:schemeClr val="tx1"/>
                </a:solidFill>
              </a:rPr>
              <a:t>conseguenza</a:t>
            </a:r>
            <a:r>
              <a:rPr lang="en-GB" dirty="0">
                <a:solidFill>
                  <a:schemeClr val="tx1"/>
                </a:solidFill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37218260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D7ED4F-0F95-CEF3-0E15-8F0911D434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DIFFERENZE MOVIELENS 1M E AMAZON: ALL BEAUTY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EA9BC5-67B0-548C-C5DB-E9EF87C9E7D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4212" y="675752"/>
            <a:ext cx="8534400" cy="3615267"/>
          </a:xfrm>
        </p:spPr>
        <p:txBody>
          <a:bodyPr/>
          <a:lstStyle/>
          <a:p>
            <a:pPr marL="0" indent="0">
              <a:buNone/>
            </a:pPr>
            <a:r>
              <a:rPr lang="it-IT">
                <a:solidFill>
                  <a:schemeClr val="tx1"/>
                </a:solidFill>
              </a:rPr>
              <a:t>In precedenza si è impostata la creazione del dataset a partire da MovieLens considerando User e Item Id interi e file .csv. Amazon: All Beauty presenta un singolo file .jsonl con tutte le interazioni, Item (ASIN) e User ID come stringe e un file ulteriore con i meta dati (tra cui il titolo).</a:t>
            </a:r>
            <a:endParaRPr lang="en-GB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4674475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10000">
              <a:schemeClr val="bg2">
                <a:tint val="97000"/>
                <a:hueMod val="92000"/>
                <a:satMod val="169000"/>
                <a:lumMod val="164000"/>
              </a:schemeClr>
            </a:gs>
            <a:gs pos="100000">
              <a:schemeClr val="bg2">
                <a:shade val="96000"/>
                <a:satMod val="120000"/>
                <a:lumMod val="90000"/>
              </a:schemeClr>
            </a:gs>
          </a:gsLst>
          <a:lin ang="612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290FE681-1E05-478A-89DC-5F7AB37CFD7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B3641A8-174E-3D35-84CE-9A1113883A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4212" y="685799"/>
            <a:ext cx="3747111" cy="4892040"/>
          </a:xfrm>
        </p:spPr>
        <p:txBody>
          <a:bodyPr>
            <a:normAutofit/>
          </a:bodyPr>
          <a:lstStyle/>
          <a:p>
            <a:pPr algn="r"/>
            <a:r>
              <a:rPr lang="it-IT" dirty="0"/>
              <a:t>Data.py generalizzato</a:t>
            </a:r>
            <a:endParaRPr lang="en-GB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2E2F21DC-5F0E-42CF-B89C-C1E25E175C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650783" y="1532373"/>
            <a:ext cx="0" cy="3198892"/>
          </a:xfrm>
          <a:prstGeom prst="line">
            <a:avLst/>
          </a:prstGeom>
          <a:ln w="19050">
            <a:solidFill>
              <a:schemeClr val="tx1">
                <a:alpha val="6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ED201C-C794-A16E-4042-CBE571A5BF5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79962" y="685799"/>
            <a:ext cx="6288260" cy="4892040"/>
          </a:xfrm>
        </p:spPr>
        <p:txBody>
          <a:bodyPr>
            <a:normAutofit/>
          </a:bodyPr>
          <a:lstStyle/>
          <a:p>
            <a:pPr marL="0" indent="0">
              <a:lnSpc>
                <a:spcPct val="90000"/>
              </a:lnSpc>
              <a:buNone/>
            </a:pPr>
            <a:r>
              <a:rPr lang="it-IT" dirty="0">
                <a:solidFill>
                  <a:schemeClr val="tx1"/>
                </a:solidFill>
              </a:rPr>
              <a:t>Per poter permettere al modello di essere allenato sia su uno che sull’altro dataset, mantenendo la stessa logica in fase di training e valutazione si è deciso di:</a:t>
            </a:r>
          </a:p>
          <a:p>
            <a:pPr>
              <a:lnSpc>
                <a:spcPct val="90000"/>
              </a:lnSpc>
            </a:pPr>
            <a:r>
              <a:rPr lang="en-GB" dirty="0" err="1">
                <a:solidFill>
                  <a:schemeClr val="tx1"/>
                </a:solidFill>
              </a:rPr>
              <a:t>Creare</a:t>
            </a:r>
            <a:r>
              <a:rPr lang="en-GB" dirty="0">
                <a:solidFill>
                  <a:schemeClr val="tx1"/>
                </a:solidFill>
              </a:rPr>
              <a:t> </a:t>
            </a:r>
            <a:r>
              <a:rPr lang="en-GB" dirty="0" err="1">
                <a:solidFill>
                  <a:schemeClr val="tx1"/>
                </a:solidFill>
              </a:rPr>
              <a:t>una</a:t>
            </a:r>
            <a:r>
              <a:rPr lang="en-GB" dirty="0">
                <a:solidFill>
                  <a:schemeClr val="tx1"/>
                </a:solidFill>
              </a:rPr>
              <a:t> </a:t>
            </a:r>
            <a:r>
              <a:rPr lang="en-GB" dirty="0" err="1">
                <a:solidFill>
                  <a:schemeClr val="tx1"/>
                </a:solidFill>
              </a:rPr>
              <a:t>classe</a:t>
            </a:r>
            <a:r>
              <a:rPr lang="en-GB" dirty="0">
                <a:solidFill>
                  <a:schemeClr val="tx1"/>
                </a:solidFill>
              </a:rPr>
              <a:t> padre BaseRecSysData </a:t>
            </a:r>
            <a:r>
              <a:rPr lang="en-GB" dirty="0" err="1">
                <a:solidFill>
                  <a:schemeClr val="tx1"/>
                </a:solidFill>
              </a:rPr>
              <a:t>che</a:t>
            </a:r>
            <a:r>
              <a:rPr lang="en-GB" dirty="0">
                <a:solidFill>
                  <a:schemeClr val="tx1"/>
                </a:solidFill>
              </a:rPr>
              <a:t> </a:t>
            </a:r>
            <a:r>
              <a:rPr lang="en-GB" dirty="0" err="1">
                <a:solidFill>
                  <a:schemeClr val="tx1"/>
                </a:solidFill>
              </a:rPr>
              <a:t>contenesse</a:t>
            </a:r>
            <a:r>
              <a:rPr lang="en-GB" dirty="0">
                <a:solidFill>
                  <a:schemeClr val="tx1"/>
                </a:solidFill>
              </a:rPr>
              <a:t> la </a:t>
            </a:r>
            <a:r>
              <a:rPr lang="en-GB" dirty="0" err="1">
                <a:solidFill>
                  <a:schemeClr val="tx1"/>
                </a:solidFill>
              </a:rPr>
              <a:t>logica</a:t>
            </a:r>
            <a:r>
              <a:rPr lang="en-GB" dirty="0">
                <a:solidFill>
                  <a:schemeClr val="tx1"/>
                </a:solidFill>
              </a:rPr>
              <a:t> per </a:t>
            </a:r>
            <a:r>
              <a:rPr lang="en-GB" dirty="0" err="1">
                <a:solidFill>
                  <a:schemeClr val="tx1"/>
                </a:solidFill>
              </a:rPr>
              <a:t>ottenere</a:t>
            </a:r>
            <a:r>
              <a:rPr lang="en-GB" dirty="0">
                <a:solidFill>
                  <a:schemeClr val="tx1"/>
                </a:solidFill>
              </a:rPr>
              <a:t> </a:t>
            </a:r>
            <a:r>
              <a:rPr lang="en-GB" dirty="0" err="1">
                <a:solidFill>
                  <a:schemeClr val="tx1"/>
                </a:solidFill>
              </a:rPr>
              <a:t>i</a:t>
            </a:r>
            <a:r>
              <a:rPr lang="en-GB" dirty="0">
                <a:solidFill>
                  <a:schemeClr val="tx1"/>
                </a:solidFill>
              </a:rPr>
              <a:t> batch.</a:t>
            </a:r>
          </a:p>
          <a:p>
            <a:pPr>
              <a:lnSpc>
                <a:spcPct val="90000"/>
              </a:lnSpc>
            </a:pPr>
            <a:r>
              <a:rPr lang="en-GB" dirty="0" err="1">
                <a:solidFill>
                  <a:schemeClr val="tx1"/>
                </a:solidFill>
              </a:rPr>
              <a:t>Creare</a:t>
            </a:r>
            <a:r>
              <a:rPr lang="en-GB" dirty="0">
                <a:solidFill>
                  <a:schemeClr val="tx1"/>
                </a:solidFill>
              </a:rPr>
              <a:t> due </a:t>
            </a:r>
            <a:r>
              <a:rPr lang="en-GB" dirty="0" err="1">
                <a:solidFill>
                  <a:schemeClr val="tx1"/>
                </a:solidFill>
              </a:rPr>
              <a:t>classi</a:t>
            </a:r>
            <a:r>
              <a:rPr lang="en-GB" dirty="0">
                <a:solidFill>
                  <a:schemeClr val="tx1"/>
                </a:solidFill>
              </a:rPr>
              <a:t> </a:t>
            </a:r>
            <a:r>
              <a:rPr lang="en-GB" dirty="0" err="1">
                <a:solidFill>
                  <a:schemeClr val="tx1"/>
                </a:solidFill>
              </a:rPr>
              <a:t>figlie</a:t>
            </a:r>
            <a:r>
              <a:rPr lang="en-GB" dirty="0">
                <a:solidFill>
                  <a:schemeClr val="tx1"/>
                </a:solidFill>
              </a:rPr>
              <a:t> </a:t>
            </a:r>
            <a:r>
              <a:rPr lang="en-GB" dirty="0" err="1">
                <a:solidFill>
                  <a:schemeClr val="tx1"/>
                </a:solidFill>
              </a:rPr>
              <a:t>specifiche</a:t>
            </a:r>
            <a:r>
              <a:rPr lang="en-GB" dirty="0">
                <a:solidFill>
                  <a:schemeClr val="tx1"/>
                </a:solidFill>
              </a:rPr>
              <a:t> in base ai </a:t>
            </a:r>
            <a:r>
              <a:rPr lang="en-GB" dirty="0" err="1">
                <a:solidFill>
                  <a:schemeClr val="tx1"/>
                </a:solidFill>
              </a:rPr>
              <a:t>dati</a:t>
            </a:r>
            <a:r>
              <a:rPr lang="en-GB" dirty="0">
                <a:solidFill>
                  <a:schemeClr val="tx1"/>
                </a:solidFill>
              </a:rPr>
              <a:t> (</a:t>
            </a:r>
            <a:r>
              <a:rPr lang="en-GB" dirty="0" err="1">
                <a:solidFill>
                  <a:schemeClr val="tx1"/>
                </a:solidFill>
              </a:rPr>
              <a:t>MovieLensData</a:t>
            </a:r>
            <a:r>
              <a:rPr lang="en-GB" dirty="0">
                <a:solidFill>
                  <a:schemeClr val="tx1"/>
                </a:solidFill>
              </a:rPr>
              <a:t> e </a:t>
            </a:r>
            <a:r>
              <a:rPr lang="en-GB" dirty="0" err="1">
                <a:solidFill>
                  <a:schemeClr val="tx1"/>
                </a:solidFill>
              </a:rPr>
              <a:t>AmazonBeautyData</a:t>
            </a:r>
            <a:r>
              <a:rPr lang="en-GB" dirty="0">
                <a:solidFill>
                  <a:schemeClr val="tx1"/>
                </a:solidFill>
              </a:rPr>
              <a:t>), ma </a:t>
            </a:r>
            <a:r>
              <a:rPr lang="en-GB" dirty="0" err="1">
                <a:solidFill>
                  <a:schemeClr val="tx1"/>
                </a:solidFill>
              </a:rPr>
              <a:t>che</a:t>
            </a:r>
            <a:r>
              <a:rPr lang="en-GB" dirty="0">
                <a:solidFill>
                  <a:schemeClr val="tx1"/>
                </a:solidFill>
              </a:rPr>
              <a:t> </a:t>
            </a:r>
            <a:r>
              <a:rPr lang="en-GB" dirty="0" err="1">
                <a:solidFill>
                  <a:schemeClr val="tx1"/>
                </a:solidFill>
              </a:rPr>
              <a:t>presentassero</a:t>
            </a:r>
            <a:r>
              <a:rPr lang="en-GB" dirty="0">
                <a:solidFill>
                  <a:schemeClr val="tx1"/>
                </a:solidFill>
              </a:rPr>
              <a:t> </a:t>
            </a:r>
            <a:r>
              <a:rPr lang="en-GB" dirty="0" err="1">
                <a:solidFill>
                  <a:schemeClr val="tx1"/>
                </a:solidFill>
              </a:rPr>
              <a:t>variabili</a:t>
            </a:r>
            <a:r>
              <a:rPr lang="en-GB" dirty="0">
                <a:solidFill>
                  <a:schemeClr val="tx1"/>
                </a:solidFill>
              </a:rPr>
              <a:t> di mapping </a:t>
            </a:r>
            <a:r>
              <a:rPr lang="en-GB" dirty="0" err="1">
                <a:solidFill>
                  <a:schemeClr val="tx1"/>
                </a:solidFill>
              </a:rPr>
              <a:t>che</a:t>
            </a:r>
            <a:r>
              <a:rPr lang="en-GB" dirty="0">
                <a:solidFill>
                  <a:schemeClr val="tx1"/>
                </a:solidFill>
              </a:rPr>
              <a:t> </a:t>
            </a:r>
            <a:r>
              <a:rPr lang="en-GB" dirty="0" err="1">
                <a:solidFill>
                  <a:schemeClr val="tx1"/>
                </a:solidFill>
              </a:rPr>
              <a:t>partissero</a:t>
            </a:r>
            <a:r>
              <a:rPr lang="en-GB" dirty="0">
                <a:solidFill>
                  <a:schemeClr val="tx1"/>
                </a:solidFill>
              </a:rPr>
              <a:t> sempre da </a:t>
            </a:r>
            <a:r>
              <a:rPr lang="en-GB" dirty="0" err="1">
                <a:solidFill>
                  <a:schemeClr val="tx1"/>
                </a:solidFill>
              </a:rPr>
              <a:t>stringhe</a:t>
            </a:r>
            <a:r>
              <a:rPr lang="en-GB" dirty="0">
                <a:solidFill>
                  <a:schemeClr val="tx1"/>
                </a:solidFill>
              </a:rPr>
              <a:t>.</a:t>
            </a:r>
          </a:p>
          <a:p>
            <a:pPr>
              <a:lnSpc>
                <a:spcPct val="90000"/>
              </a:lnSpc>
            </a:pPr>
            <a:r>
              <a:rPr lang="en-GB" dirty="0">
                <a:solidFill>
                  <a:schemeClr val="tx1"/>
                </a:solidFill>
              </a:rPr>
              <a:t>Dare la </a:t>
            </a:r>
            <a:r>
              <a:rPr lang="en-GB" dirty="0" err="1">
                <a:solidFill>
                  <a:schemeClr val="tx1"/>
                </a:solidFill>
              </a:rPr>
              <a:t>possibilità</a:t>
            </a:r>
            <a:r>
              <a:rPr lang="en-GB" dirty="0">
                <a:solidFill>
                  <a:schemeClr val="tx1"/>
                </a:solidFill>
              </a:rPr>
              <a:t> di </a:t>
            </a:r>
            <a:r>
              <a:rPr lang="en-GB" dirty="0" err="1">
                <a:solidFill>
                  <a:schemeClr val="tx1"/>
                </a:solidFill>
              </a:rPr>
              <a:t>scegliere</a:t>
            </a:r>
            <a:r>
              <a:rPr lang="en-GB" dirty="0">
                <a:solidFill>
                  <a:schemeClr val="tx1"/>
                </a:solidFill>
              </a:rPr>
              <a:t> da </a:t>
            </a:r>
            <a:r>
              <a:rPr lang="en-GB" dirty="0" err="1">
                <a:solidFill>
                  <a:schemeClr val="tx1"/>
                </a:solidFill>
              </a:rPr>
              <a:t>linea</a:t>
            </a:r>
            <a:r>
              <a:rPr lang="en-GB" dirty="0">
                <a:solidFill>
                  <a:schemeClr val="tx1"/>
                </a:solidFill>
              </a:rPr>
              <a:t> di </a:t>
            </a:r>
            <a:r>
              <a:rPr lang="en-GB" dirty="0" err="1">
                <a:solidFill>
                  <a:schemeClr val="tx1"/>
                </a:solidFill>
              </a:rPr>
              <a:t>comando</a:t>
            </a:r>
            <a:r>
              <a:rPr lang="en-GB" dirty="0">
                <a:solidFill>
                  <a:schemeClr val="tx1"/>
                </a:solidFill>
              </a:rPr>
              <a:t>, </a:t>
            </a:r>
            <a:r>
              <a:rPr lang="en-GB" dirty="0" err="1">
                <a:solidFill>
                  <a:schemeClr val="tx1"/>
                </a:solidFill>
              </a:rPr>
              <a:t>all’esecuzione</a:t>
            </a:r>
            <a:r>
              <a:rPr lang="en-GB" dirty="0">
                <a:solidFill>
                  <a:schemeClr val="tx1"/>
                </a:solidFill>
              </a:rPr>
              <a:t> del main, il dataset da </a:t>
            </a:r>
            <a:r>
              <a:rPr lang="en-GB" dirty="0" err="1">
                <a:solidFill>
                  <a:schemeClr val="tx1"/>
                </a:solidFill>
              </a:rPr>
              <a:t>utilizzare</a:t>
            </a:r>
            <a:r>
              <a:rPr lang="en-GB" dirty="0">
                <a:solidFill>
                  <a:schemeClr val="tx1"/>
                </a:solidFill>
              </a:rPr>
              <a:t>.</a:t>
            </a:r>
          </a:p>
          <a:p>
            <a:pPr>
              <a:lnSpc>
                <a:spcPct val="90000"/>
              </a:lnSpc>
            </a:pPr>
            <a:r>
              <a:rPr lang="en-GB" dirty="0" err="1">
                <a:solidFill>
                  <a:schemeClr val="tx1"/>
                </a:solidFill>
              </a:rPr>
              <a:t>Generalizzare</a:t>
            </a:r>
            <a:r>
              <a:rPr lang="en-GB" dirty="0">
                <a:solidFill>
                  <a:schemeClr val="tx1"/>
                </a:solidFill>
              </a:rPr>
              <a:t> </a:t>
            </a:r>
            <a:r>
              <a:rPr lang="en-GB" dirty="0" err="1">
                <a:solidFill>
                  <a:schemeClr val="tx1"/>
                </a:solidFill>
              </a:rPr>
              <a:t>i</a:t>
            </a:r>
            <a:r>
              <a:rPr lang="en-GB" dirty="0">
                <a:solidFill>
                  <a:schemeClr val="tx1"/>
                </a:solidFill>
              </a:rPr>
              <a:t> sanity check.</a:t>
            </a:r>
          </a:p>
        </p:txBody>
      </p:sp>
    </p:spTree>
    <p:extLst>
      <p:ext uri="{BB962C8B-B14F-4D97-AF65-F5344CB8AC3E}">
        <p14:creationId xmlns:p14="http://schemas.microsoft.com/office/powerpoint/2010/main" val="108889626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407DDA-F500-A431-CD56-C5435F5CF4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implementazione in rust della creazione generica del dataset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913C98-459C-488E-5D20-2B84605E6B0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it-IT">
                <a:solidFill>
                  <a:schemeClr val="tx1"/>
                </a:solidFill>
              </a:rPr>
              <a:t>In data.rs si è mantenuta la stessa logica di creazione del dataset precedente, con alcune modifiche per consentire la scelta dei dati da usare per il training e la valutazione:</a:t>
            </a:r>
          </a:p>
          <a:p>
            <a:r>
              <a:rPr lang="it-IT">
                <a:solidFill>
                  <a:schemeClr val="tx1"/>
                </a:solidFill>
              </a:rPr>
              <a:t>Struct generica RecSysData con funzioni comuni get_batch() e build_data(), quest’ultima per restituire tutte le variabili utili alla manipolazione del dataset.</a:t>
            </a:r>
          </a:p>
          <a:p>
            <a:r>
              <a:rPr lang="it-IT">
                <a:solidFill>
                  <a:schemeClr val="tx1"/>
                </a:solidFill>
              </a:rPr>
              <a:t>Funzioni specifiche load_amazon() e load_movielens() per aprire i rispettivi file e restituire tutti i dati restituiti a sua volta da build_data(), a partire dai dati grezzi e dai titoli degli item.</a:t>
            </a:r>
            <a:endParaRPr lang="en-GB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4263879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10000">
              <a:schemeClr val="bg2">
                <a:tint val="97000"/>
                <a:hueMod val="92000"/>
                <a:satMod val="169000"/>
                <a:lumMod val="164000"/>
              </a:schemeClr>
            </a:gs>
            <a:gs pos="100000">
              <a:schemeClr val="bg2">
                <a:shade val="96000"/>
                <a:satMod val="120000"/>
                <a:lumMod val="90000"/>
              </a:schemeClr>
            </a:gs>
          </a:gsLst>
          <a:lin ang="612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290FE681-1E05-478A-89DC-5F7AB37CFD7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B906F71-5893-0C82-0352-53900B1252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4212" y="685799"/>
            <a:ext cx="3747111" cy="4892040"/>
          </a:xfrm>
        </p:spPr>
        <p:txBody>
          <a:bodyPr>
            <a:normAutofit/>
          </a:bodyPr>
          <a:lstStyle/>
          <a:p>
            <a:pPr algn="r"/>
            <a:r>
              <a:rPr lang="it-IT" dirty="0"/>
              <a:t>Gestione dei </a:t>
            </a:r>
            <a:r>
              <a:rPr lang="it-IT" dirty="0" err="1"/>
              <a:t>sanity</a:t>
            </a:r>
            <a:r>
              <a:rPr lang="it-IT" dirty="0"/>
              <a:t> check e del training</a:t>
            </a:r>
            <a:endParaRPr lang="en-GB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2E2F21DC-5F0E-42CF-B89C-C1E25E175C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650783" y="1532373"/>
            <a:ext cx="0" cy="3198892"/>
          </a:xfrm>
          <a:prstGeom prst="line">
            <a:avLst/>
          </a:prstGeom>
          <a:ln w="19050">
            <a:solidFill>
              <a:schemeClr val="tx1">
                <a:alpha val="6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D36BF7-9BEF-EC5C-618B-876D253A99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79962" y="685799"/>
            <a:ext cx="6288260" cy="4892040"/>
          </a:xfrm>
        </p:spPr>
        <p:txBody>
          <a:bodyPr>
            <a:normAutofit/>
          </a:bodyPr>
          <a:lstStyle/>
          <a:p>
            <a:r>
              <a:rPr lang="it-IT">
                <a:solidFill>
                  <a:schemeClr val="tx1"/>
                </a:solidFill>
              </a:rPr>
              <a:t>Sanity</a:t>
            </a:r>
            <a:r>
              <a:rPr lang="it-IT" dirty="0">
                <a:solidFill>
                  <a:schemeClr val="tx1"/>
                </a:solidFill>
              </a:rPr>
              <a:t> check generalizzati, grazie all’utilizzo di una variabile d’ambiente statica per evitare di caricare il dataset ad ogni controllo e per personalizzarlo in funzione dei dati in input. Nelle funzioni sono specificati i valori raccolti durante i check in </a:t>
            </a:r>
            <a:r>
              <a:rPr lang="it-IT">
                <a:solidFill>
                  <a:schemeClr val="tx1"/>
                </a:solidFill>
              </a:rPr>
              <a:t>python</a:t>
            </a:r>
            <a:r>
              <a:rPr lang="it-IT" dirty="0">
                <a:solidFill>
                  <a:schemeClr val="tx1"/>
                </a:solidFill>
              </a:rPr>
              <a:t>. </a:t>
            </a:r>
          </a:p>
          <a:p>
            <a:r>
              <a:rPr lang="it-IT" dirty="0">
                <a:solidFill>
                  <a:schemeClr val="tx1"/>
                </a:solidFill>
              </a:rPr>
              <a:t>Per la fase di training si carica il dataset in funzione del valore specificato tramite linea di comando, la restante parte rimane invariata.</a:t>
            </a:r>
          </a:p>
          <a:p>
            <a:r>
              <a:rPr lang="it-IT" dirty="0">
                <a:solidFill>
                  <a:schemeClr val="tx1"/>
                </a:solidFill>
              </a:rPr>
              <a:t>Per la valutazione del modello il codice rimane il medesimo, perché la struttura del dataset ricavato dai dati non è cambiato.</a:t>
            </a:r>
            <a:endParaRPr lang="en-GB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3581019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C950C5-BD42-D313-9BBD-40EBD12436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OTTIMIZZAZIONE DEGLI IPERPARAMETRI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3D878F-729D-FE9B-1482-69E151CB93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it-IT" dirty="0">
                <a:solidFill>
                  <a:schemeClr val="tx1"/>
                </a:solidFill>
              </a:rPr>
              <a:t>Per poter verificare quale sia la miglior combinazione di </a:t>
            </a:r>
            <a:r>
              <a:rPr lang="it-IT" dirty="0" err="1">
                <a:solidFill>
                  <a:schemeClr val="tx1"/>
                </a:solidFill>
              </a:rPr>
              <a:t>iperparametri</a:t>
            </a:r>
            <a:r>
              <a:rPr lang="it-IT" dirty="0">
                <a:solidFill>
                  <a:schemeClr val="tx1"/>
                </a:solidFill>
              </a:rPr>
              <a:t>:</a:t>
            </a:r>
          </a:p>
          <a:p>
            <a:r>
              <a:rPr lang="it-IT" dirty="0">
                <a:solidFill>
                  <a:schemeClr val="tx1"/>
                </a:solidFill>
              </a:rPr>
              <a:t>È stata utilizzata NDCG@10 come metrica di valutazione.</a:t>
            </a:r>
          </a:p>
          <a:p>
            <a:r>
              <a:rPr lang="it-IT" dirty="0">
                <a:solidFill>
                  <a:schemeClr val="tx1"/>
                </a:solidFill>
              </a:rPr>
              <a:t>È stato creato fine_tuning.py che si appoggia a </a:t>
            </a:r>
            <a:r>
              <a:rPr lang="it-IT" dirty="0" err="1">
                <a:solidFill>
                  <a:schemeClr val="tx1"/>
                </a:solidFill>
              </a:rPr>
              <a:t>optuna</a:t>
            </a:r>
            <a:r>
              <a:rPr lang="it-IT" dirty="0">
                <a:solidFill>
                  <a:schemeClr val="tx1"/>
                </a:solidFill>
              </a:rPr>
              <a:t>.</a:t>
            </a:r>
          </a:p>
          <a:p>
            <a:r>
              <a:rPr lang="it-IT" dirty="0">
                <a:solidFill>
                  <a:schemeClr val="tx1"/>
                </a:solidFill>
              </a:rPr>
              <a:t>È stato modificato </a:t>
            </a:r>
            <a:r>
              <a:rPr lang="it-IT" dirty="0" err="1">
                <a:solidFill>
                  <a:schemeClr val="tx1"/>
                </a:solidFill>
              </a:rPr>
              <a:t>train_gsasrec</a:t>
            </a:r>
            <a:r>
              <a:rPr lang="it-IT" dirty="0">
                <a:solidFill>
                  <a:schemeClr val="tx1"/>
                </a:solidFill>
              </a:rPr>
              <a:t> per poter esser richiamato ogni volta fosse necessario provare una combinazione.</a:t>
            </a:r>
          </a:p>
          <a:p>
            <a:r>
              <a:rPr lang="it-IT" dirty="0">
                <a:solidFill>
                  <a:schemeClr val="tx1"/>
                </a:solidFill>
              </a:rPr>
              <a:t>Si è </a:t>
            </a:r>
            <a:r>
              <a:rPr lang="it-IT">
                <a:solidFill>
                  <a:schemeClr val="tx1"/>
                </a:solidFill>
              </a:rPr>
              <a:t>fatto affidamento su una GPU RTX 2000 Ada (16 GB VRAM)</a:t>
            </a:r>
            <a:endParaRPr lang="it-IT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7740936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7F82B6-D018-2AD1-80FD-CD347D5659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Fine_tuning.py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576F9B-23DA-306F-F2F1-63A1205B3C6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it-IT" dirty="0">
                <a:solidFill>
                  <a:schemeClr val="tx1"/>
                </a:solidFill>
              </a:rPr>
              <a:t>Questo file va a creare e poi ogni volta modificare config_optuna.py da passare tramite linea di comando per poter specificare ogni volta i parametri. </a:t>
            </a:r>
            <a:r>
              <a:rPr lang="it-IT" dirty="0" err="1">
                <a:solidFill>
                  <a:schemeClr val="tx1"/>
                </a:solidFill>
              </a:rPr>
              <a:t>Optuna</a:t>
            </a:r>
            <a:r>
              <a:rPr lang="it-IT" dirty="0">
                <a:solidFill>
                  <a:schemeClr val="tx1"/>
                </a:solidFill>
              </a:rPr>
              <a:t> si basa sull’ottimizzazione </a:t>
            </a:r>
            <a:r>
              <a:rPr lang="it-IT" dirty="0" err="1">
                <a:solidFill>
                  <a:schemeClr val="tx1"/>
                </a:solidFill>
              </a:rPr>
              <a:t>Bayesiana</a:t>
            </a:r>
            <a:r>
              <a:rPr lang="it-IT" dirty="0">
                <a:solidFill>
                  <a:schemeClr val="tx1"/>
                </a:solidFill>
              </a:rPr>
              <a:t>, per ogni tentativo prevede quali potrebbero essere i parametri migliori per il tentativo successivo. Scelto perché:</a:t>
            </a:r>
          </a:p>
          <a:p>
            <a:r>
              <a:rPr lang="it-IT" dirty="0">
                <a:solidFill>
                  <a:schemeClr val="tx1"/>
                </a:solidFill>
              </a:rPr>
              <a:t>Impara dal passato.</a:t>
            </a:r>
          </a:p>
          <a:p>
            <a:r>
              <a:rPr lang="it-IT" dirty="0">
                <a:solidFill>
                  <a:schemeClr val="tx1"/>
                </a:solidFill>
              </a:rPr>
              <a:t>Fa risparmiare tempo, utile soprattutto in contesti di training lunghi.</a:t>
            </a:r>
          </a:p>
          <a:p>
            <a:r>
              <a:rPr lang="it-IT" dirty="0">
                <a:solidFill>
                  <a:schemeClr val="tx1"/>
                </a:solidFill>
              </a:rPr>
              <a:t>Framework </a:t>
            </a:r>
            <a:r>
              <a:rPr lang="it-IT" dirty="0" err="1">
                <a:solidFill>
                  <a:schemeClr val="tx1"/>
                </a:solidFill>
              </a:rPr>
              <a:t>agnostic</a:t>
            </a:r>
            <a:r>
              <a:rPr lang="it-IT" dirty="0">
                <a:solidFill>
                  <a:schemeClr val="tx1"/>
                </a:solidFill>
              </a:rPr>
              <a:t> (a differenza di </a:t>
            </a:r>
            <a:r>
              <a:rPr lang="it-IT" dirty="0" err="1">
                <a:solidFill>
                  <a:schemeClr val="tx1"/>
                </a:solidFill>
              </a:rPr>
              <a:t>GridSearchCV</a:t>
            </a:r>
            <a:r>
              <a:rPr lang="it-IT" dirty="0">
                <a:solidFill>
                  <a:schemeClr val="tx1"/>
                </a:solidFill>
              </a:rPr>
              <a:t>)</a:t>
            </a:r>
            <a:endParaRPr lang="en-GB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5364656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06D4DC-3F3E-33DC-2BDE-8023342EDA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Range degli </a:t>
            </a:r>
            <a:r>
              <a:rPr lang="it-IT" dirty="0" err="1"/>
              <a:t>iperparametri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6D75B8-7ECB-AD6F-8118-0610B93CBFD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it-IT" dirty="0" err="1">
                <a:solidFill>
                  <a:schemeClr val="tx1"/>
                </a:solidFill>
              </a:rPr>
              <a:t>Gbce_t</a:t>
            </a:r>
            <a:r>
              <a:rPr lang="it-IT" dirty="0">
                <a:solidFill>
                  <a:schemeClr val="tx1"/>
                </a:solidFill>
              </a:rPr>
              <a:t>: [0.0, 0.5, 0.75, 1.0]*</a:t>
            </a:r>
          </a:p>
          <a:p>
            <a:r>
              <a:rPr lang="it-IT" dirty="0" err="1">
                <a:solidFill>
                  <a:schemeClr val="tx1"/>
                </a:solidFill>
              </a:rPr>
              <a:t>Num_blocks</a:t>
            </a:r>
            <a:r>
              <a:rPr lang="it-IT" dirty="0">
                <a:solidFill>
                  <a:schemeClr val="tx1"/>
                </a:solidFill>
              </a:rPr>
              <a:t>: [1, 3]</a:t>
            </a:r>
          </a:p>
          <a:p>
            <a:r>
              <a:rPr lang="it-IT" dirty="0" err="1">
                <a:solidFill>
                  <a:schemeClr val="tx1"/>
                </a:solidFill>
              </a:rPr>
              <a:t>Embedding_dim</a:t>
            </a:r>
            <a:r>
              <a:rPr lang="it-IT" dirty="0">
                <a:solidFill>
                  <a:schemeClr val="tx1"/>
                </a:solidFill>
              </a:rPr>
              <a:t>: [128, 256]*</a:t>
            </a:r>
          </a:p>
          <a:p>
            <a:r>
              <a:rPr lang="it-IT" dirty="0" err="1">
                <a:solidFill>
                  <a:schemeClr val="tx1"/>
                </a:solidFill>
              </a:rPr>
              <a:t>Num_heads</a:t>
            </a:r>
            <a:r>
              <a:rPr lang="it-IT" dirty="0">
                <a:solidFill>
                  <a:schemeClr val="tx1"/>
                </a:solidFill>
              </a:rPr>
              <a:t>: [2, 4]*</a:t>
            </a:r>
          </a:p>
          <a:p>
            <a:r>
              <a:rPr lang="it-IT" dirty="0" err="1">
                <a:solidFill>
                  <a:schemeClr val="tx1"/>
                </a:solidFill>
              </a:rPr>
              <a:t>Dropout_rate</a:t>
            </a:r>
            <a:r>
              <a:rPr lang="it-IT" dirty="0">
                <a:solidFill>
                  <a:schemeClr val="tx1"/>
                </a:solidFill>
              </a:rPr>
              <a:t>: [0.1, 0.5]</a:t>
            </a:r>
          </a:p>
          <a:p>
            <a:r>
              <a:rPr lang="it-IT" dirty="0" err="1">
                <a:solidFill>
                  <a:schemeClr val="tx1"/>
                </a:solidFill>
              </a:rPr>
              <a:t>Train_batch_size</a:t>
            </a:r>
            <a:r>
              <a:rPr lang="it-IT" dirty="0">
                <a:solidFill>
                  <a:schemeClr val="tx1"/>
                </a:solidFill>
              </a:rPr>
              <a:t>: [64, 128]*</a:t>
            </a:r>
          </a:p>
          <a:p>
            <a:r>
              <a:rPr lang="it-IT" dirty="0" err="1">
                <a:solidFill>
                  <a:schemeClr val="tx1"/>
                </a:solidFill>
              </a:rPr>
              <a:t>Sequence_length</a:t>
            </a:r>
            <a:r>
              <a:rPr lang="it-IT" dirty="0">
                <a:solidFill>
                  <a:schemeClr val="tx1"/>
                </a:solidFill>
              </a:rPr>
              <a:t>: [50, 100, 200]*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830D6F5-3392-1923-6944-A4BA6AB756FB}"/>
              </a:ext>
            </a:extLst>
          </p:cNvPr>
          <p:cNvSpPr txBox="1"/>
          <p:nvPr/>
        </p:nvSpPr>
        <p:spPr>
          <a:xfrm>
            <a:off x="186812" y="6361470"/>
            <a:ext cx="21723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/>
              <a:t>*range categorici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82426674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5B4631-4F9F-3FD6-4B56-D870AD8F3E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MIGLIOR CONFIGURAZIONE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763A6F-58BE-4F86-3846-CEA3F0DF2B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10000"/>
          </a:bodyPr>
          <a:lstStyle/>
          <a:p>
            <a:pPr marL="0" indent="0">
              <a:buNone/>
            </a:pPr>
            <a:r>
              <a:rPr lang="it-IT" dirty="0">
                <a:solidFill>
                  <a:schemeClr val="tx1"/>
                </a:solidFill>
              </a:rPr>
              <a:t>La miglior configurazione dopo 20 trials, ha presentato i seguenti parametri (messi a confronto con quelli usati dagli autori del modello): </a:t>
            </a:r>
          </a:p>
          <a:p>
            <a:r>
              <a:rPr lang="it-IT" dirty="0" err="1">
                <a:solidFill>
                  <a:schemeClr val="tx1"/>
                </a:solidFill>
              </a:rPr>
              <a:t>gbce_t</a:t>
            </a:r>
            <a:r>
              <a:rPr lang="it-IT" dirty="0">
                <a:solidFill>
                  <a:schemeClr val="tx1"/>
                </a:solidFill>
              </a:rPr>
              <a:t>: 0.5 (0.75)</a:t>
            </a:r>
          </a:p>
          <a:p>
            <a:r>
              <a:rPr lang="it-IT" dirty="0" err="1">
                <a:solidFill>
                  <a:schemeClr val="tx1"/>
                </a:solidFill>
              </a:rPr>
              <a:t>num_blocks</a:t>
            </a:r>
            <a:r>
              <a:rPr lang="it-IT" dirty="0">
                <a:solidFill>
                  <a:schemeClr val="tx1"/>
                </a:solidFill>
              </a:rPr>
              <a:t>: 1 (2)</a:t>
            </a:r>
          </a:p>
          <a:p>
            <a:r>
              <a:rPr lang="it-IT" dirty="0" err="1">
                <a:solidFill>
                  <a:schemeClr val="tx1"/>
                </a:solidFill>
              </a:rPr>
              <a:t>embedding_dim</a:t>
            </a:r>
            <a:r>
              <a:rPr lang="it-IT" dirty="0">
                <a:solidFill>
                  <a:schemeClr val="tx1"/>
                </a:solidFill>
              </a:rPr>
              <a:t>: 256 (128)</a:t>
            </a:r>
          </a:p>
          <a:p>
            <a:r>
              <a:rPr lang="it-IT" dirty="0" err="1">
                <a:solidFill>
                  <a:schemeClr val="tx1"/>
                </a:solidFill>
              </a:rPr>
              <a:t>num_heads</a:t>
            </a:r>
            <a:r>
              <a:rPr lang="it-IT" dirty="0">
                <a:solidFill>
                  <a:schemeClr val="tx1"/>
                </a:solidFill>
              </a:rPr>
              <a:t>: 4 (1)</a:t>
            </a:r>
          </a:p>
          <a:p>
            <a:r>
              <a:rPr lang="it-IT" dirty="0" err="1">
                <a:solidFill>
                  <a:schemeClr val="tx1"/>
                </a:solidFill>
              </a:rPr>
              <a:t>dropout_rate</a:t>
            </a:r>
            <a:r>
              <a:rPr lang="it-IT" dirty="0">
                <a:solidFill>
                  <a:schemeClr val="tx1"/>
                </a:solidFill>
              </a:rPr>
              <a:t>: 0.16519583830077267 (0.5)</a:t>
            </a:r>
          </a:p>
          <a:p>
            <a:r>
              <a:rPr lang="it-IT" dirty="0" err="1">
                <a:solidFill>
                  <a:schemeClr val="tx1"/>
                </a:solidFill>
              </a:rPr>
              <a:t>train_batch_size</a:t>
            </a:r>
            <a:r>
              <a:rPr lang="it-IT" dirty="0">
                <a:solidFill>
                  <a:schemeClr val="tx1"/>
                </a:solidFill>
              </a:rPr>
              <a:t>: 64 (128)</a:t>
            </a:r>
          </a:p>
          <a:p>
            <a:r>
              <a:rPr lang="it-IT" dirty="0" err="1">
                <a:solidFill>
                  <a:schemeClr val="tx1"/>
                </a:solidFill>
              </a:rPr>
              <a:t>sequence_length</a:t>
            </a:r>
            <a:r>
              <a:rPr lang="it-IT" dirty="0">
                <a:solidFill>
                  <a:schemeClr val="tx1"/>
                </a:solidFill>
              </a:rPr>
              <a:t>: 200 (200)</a:t>
            </a:r>
          </a:p>
          <a:p>
            <a:pPr marL="0" indent="0">
              <a:buNone/>
            </a:pPr>
            <a:r>
              <a:rPr lang="it-IT" dirty="0">
                <a:solidFill>
                  <a:schemeClr val="tx1"/>
                </a:solidFill>
              </a:rPr>
              <a:t>Con NDCG@10 pari a 0.1349321142424068 (0.197) dopo 3910 (47520) step.</a:t>
            </a:r>
            <a:endParaRPr lang="en-GB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9905115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C8BED9-814F-5653-73A0-116D668333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CONFronto</a:t>
            </a:r>
            <a:r>
              <a:rPr lang="it-IT" dirty="0"/>
              <a:t> </a:t>
            </a:r>
            <a:r>
              <a:rPr lang="it-IT" dirty="0" err="1"/>
              <a:t>evaluation</a:t>
            </a:r>
            <a:r>
              <a:rPr lang="it-IT" dirty="0"/>
              <a:t> test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2E907B-C619-80AB-4390-B2B94F2F8EE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it-IT" dirty="0">
                <a:solidFill>
                  <a:schemeClr val="tx1"/>
                </a:solidFill>
              </a:rPr>
              <a:t>Qui di seguito i risultati differenti </a:t>
            </a:r>
            <a:r>
              <a:rPr lang="it-IT" dirty="0" err="1">
                <a:solidFill>
                  <a:schemeClr val="tx1"/>
                </a:solidFill>
              </a:rPr>
              <a:t>sull’evaluation</a:t>
            </a:r>
            <a:r>
              <a:rPr lang="it-IT" dirty="0">
                <a:solidFill>
                  <a:schemeClr val="tx1"/>
                </a:solidFill>
              </a:rPr>
              <a:t> set per il miglior modello e l’originale del paper:</a:t>
            </a:r>
          </a:p>
          <a:p>
            <a:r>
              <a:rPr lang="it-IT" dirty="0">
                <a:solidFill>
                  <a:schemeClr val="tx1"/>
                </a:solidFill>
              </a:rPr>
              <a:t>Miglior modello: {R@1: 0.05099337748344371, R@10: 0.2052980132450331, nDCG@10: 0.11809304395337882}</a:t>
            </a:r>
          </a:p>
          <a:p>
            <a:r>
              <a:rPr lang="it-IT" dirty="0">
                <a:solidFill>
                  <a:schemeClr val="tx1"/>
                </a:solidFill>
              </a:rPr>
              <a:t>Originale: {R@1: 0.07549668874172186, nDCG@10: 0.17261420098894456, R@10: 0.30033112582781457}</a:t>
            </a:r>
            <a:endParaRPr lang="en-GB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836943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4BB684-58E5-DF5B-0C8D-284EEEA5AA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DIFFERENZE DOPO IL TRAINING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2C392E-B43F-50FE-F1BE-1537598A1C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it-IT" dirty="0">
                <a:solidFill>
                  <a:schemeClr val="tx1"/>
                </a:solidFill>
              </a:rPr>
              <a:t>Per poter fare una valutazione migliore si è eseguito il training con gli </a:t>
            </a:r>
            <a:r>
              <a:rPr lang="it-IT" dirty="0" err="1">
                <a:solidFill>
                  <a:schemeClr val="tx1"/>
                </a:solidFill>
              </a:rPr>
              <a:t>iperparametri</a:t>
            </a:r>
            <a:r>
              <a:rPr lang="it-IT" dirty="0">
                <a:solidFill>
                  <a:schemeClr val="tx1"/>
                </a:solidFill>
              </a:rPr>
              <a:t> forniti dagli autori del modello originale e quelli trovati con l’</a:t>
            </a:r>
            <a:r>
              <a:rPr lang="it-IT" dirty="0" err="1">
                <a:solidFill>
                  <a:schemeClr val="tx1"/>
                </a:solidFill>
              </a:rPr>
              <a:t>optimization</a:t>
            </a:r>
            <a:r>
              <a:rPr lang="it-IT" dirty="0">
                <a:solidFill>
                  <a:schemeClr val="tx1"/>
                </a:solidFill>
              </a:rPr>
              <a:t>, portando il numero massimo di epoche a 10000 e di epoche senza miglioramenti a 200, ottenendo rispettivamente:</a:t>
            </a:r>
          </a:p>
          <a:p>
            <a:r>
              <a:rPr lang="en-GB" dirty="0">
                <a:solidFill>
                  <a:schemeClr val="tx1"/>
                </a:solidFill>
              </a:rPr>
              <a:t>NDCG@10: 0.18758218569025115 e 0.1801849853504413</a:t>
            </a:r>
          </a:p>
          <a:p>
            <a:r>
              <a:rPr lang="en-GB" dirty="0" err="1">
                <a:solidFill>
                  <a:schemeClr val="tx1"/>
                </a:solidFill>
              </a:rPr>
              <a:t>Numero</a:t>
            </a:r>
            <a:r>
              <a:rPr lang="en-GB" dirty="0">
                <a:solidFill>
                  <a:schemeClr val="tx1"/>
                </a:solidFill>
              </a:rPr>
              <a:t> di step: 57984 e 24225</a:t>
            </a:r>
          </a:p>
        </p:txBody>
      </p:sp>
    </p:spTree>
    <p:extLst>
      <p:ext uri="{BB962C8B-B14F-4D97-AF65-F5344CB8AC3E}">
        <p14:creationId xmlns:p14="http://schemas.microsoft.com/office/powerpoint/2010/main" val="228959240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F74094-A1ED-5C9A-8BBB-897F5AD101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CONFRONTO EVALUATION TEST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389E17-40AA-D96A-C0CB-D311F8B4DE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it-IT" dirty="0">
                <a:solidFill>
                  <a:schemeClr val="tx1"/>
                </a:solidFill>
              </a:rPr>
              <a:t>Qui di seguito i risultati differenti </a:t>
            </a:r>
            <a:r>
              <a:rPr lang="it-IT" dirty="0" err="1">
                <a:solidFill>
                  <a:schemeClr val="tx1"/>
                </a:solidFill>
              </a:rPr>
              <a:t>sull’evaluation</a:t>
            </a:r>
            <a:r>
              <a:rPr lang="it-IT" dirty="0">
                <a:solidFill>
                  <a:schemeClr val="tx1"/>
                </a:solidFill>
              </a:rPr>
              <a:t> set per il modello originale del paper e il migliore ottenuto con l’</a:t>
            </a:r>
            <a:r>
              <a:rPr lang="it-IT" dirty="0" err="1">
                <a:solidFill>
                  <a:schemeClr val="tx1"/>
                </a:solidFill>
              </a:rPr>
              <a:t>optimization</a:t>
            </a:r>
            <a:r>
              <a:rPr lang="it-IT" dirty="0">
                <a:solidFill>
                  <a:schemeClr val="tx1"/>
                </a:solidFill>
              </a:rPr>
              <a:t>:</a:t>
            </a:r>
            <a:endParaRPr lang="en-GB" dirty="0">
              <a:solidFill>
                <a:schemeClr val="tx1"/>
              </a:solidFill>
            </a:endParaRPr>
          </a:p>
          <a:p>
            <a:r>
              <a:rPr lang="it-IT" dirty="0">
                <a:solidFill>
                  <a:schemeClr val="tx1"/>
                </a:solidFill>
              </a:rPr>
              <a:t>{nDCG@10: 0.1722703304771199, R@1: 0.07980132450331126, R@10: 0.2950331125827815}</a:t>
            </a:r>
          </a:p>
          <a:p>
            <a:r>
              <a:rPr lang="it-IT" dirty="0">
                <a:solidFill>
                  <a:schemeClr val="tx1"/>
                </a:solidFill>
              </a:rPr>
              <a:t>{R@1: 0.07102649006622516, R@10: 0.2766556291390728, nDCG@10: 0.16060628260624635}</a:t>
            </a:r>
          </a:p>
        </p:txBody>
      </p:sp>
    </p:spTree>
    <p:extLst>
      <p:ext uri="{BB962C8B-B14F-4D97-AF65-F5344CB8AC3E}">
        <p14:creationId xmlns:p14="http://schemas.microsoft.com/office/powerpoint/2010/main" val="36187920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AFFDF8-5E3F-9581-5FF9-5EB5596A51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LOAd</a:t>
            </a:r>
            <a:r>
              <a:rPr lang="it-IT" dirty="0"/>
              <a:t> test con endpoint </a:t>
            </a:r>
            <a:r>
              <a:rPr lang="it-IT" dirty="0" err="1"/>
              <a:t>fastapi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63E86A-01D2-7699-8636-267948E8D7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it-IT" dirty="0">
                <a:solidFill>
                  <a:schemeClr val="tx1"/>
                </a:solidFill>
              </a:rPr>
              <a:t>Per poter testare il modello sottoposto a un carico crescente di richieste bisogna creare un endpoint che possa esporlo e renderlo accessibile. Si è proceduto inizialmente utilizzando un percorso in locale e specificando la porta 8081, consentendo di inviare richieste HTTP al miglior modello preso in considerazione (l’originale). Successivamente si è deciso di creare un secondo endpoint per sfruttare il modello </a:t>
            </a:r>
            <a:r>
              <a:rPr lang="it-IT" dirty="0" err="1">
                <a:solidFill>
                  <a:schemeClr val="tx1"/>
                </a:solidFill>
              </a:rPr>
              <a:t>onnx</a:t>
            </a:r>
            <a:r>
              <a:rPr lang="it-IT" dirty="0">
                <a:solidFill>
                  <a:schemeClr val="tx1"/>
                </a:solidFill>
              </a:rPr>
              <a:t> e testarlo.</a:t>
            </a:r>
            <a:endParaRPr lang="en-GB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0727654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ED1417-4A6D-96DC-281C-E055652AD4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SCRIPT PYTHON E </a:t>
            </a:r>
            <a:r>
              <a:rPr lang="it-IT" dirty="0" err="1"/>
              <a:t>UTILITà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9EB5B8-5019-6FBA-FA89-BC68A452F4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it-IT" dirty="0">
                <a:solidFill>
                  <a:schemeClr val="tx1"/>
                </a:solidFill>
              </a:rPr>
              <a:t>Di seguito i file utili allo scopo e la loro funzione:</a:t>
            </a:r>
          </a:p>
          <a:p>
            <a:r>
              <a:rPr lang="it-IT" dirty="0">
                <a:solidFill>
                  <a:schemeClr val="tx1"/>
                </a:solidFill>
              </a:rPr>
              <a:t>engine.py: logica dietro il load testing</a:t>
            </a:r>
          </a:p>
          <a:p>
            <a:r>
              <a:rPr lang="it-IT" dirty="0">
                <a:solidFill>
                  <a:schemeClr val="tx1"/>
                </a:solidFill>
              </a:rPr>
              <a:t>http_transport.py: creazione del client http, si appoggia a </a:t>
            </a:r>
            <a:r>
              <a:rPr lang="it-IT" dirty="0" err="1">
                <a:solidFill>
                  <a:schemeClr val="tx1"/>
                </a:solidFill>
              </a:rPr>
              <a:t>aiohttp</a:t>
            </a:r>
            <a:endParaRPr lang="it-IT" dirty="0">
              <a:solidFill>
                <a:schemeClr val="tx1"/>
              </a:solidFill>
            </a:endParaRPr>
          </a:p>
          <a:p>
            <a:r>
              <a:rPr lang="it-IT" dirty="0">
                <a:solidFill>
                  <a:schemeClr val="tx1"/>
                </a:solidFill>
              </a:rPr>
              <a:t>request_builder.py: creazione del client tramite quello generato da http_transport.py e del payload da inviare al modello</a:t>
            </a:r>
          </a:p>
          <a:p>
            <a:r>
              <a:rPr lang="it-IT" dirty="0">
                <a:solidFill>
                  <a:schemeClr val="tx1"/>
                </a:solidFill>
              </a:rPr>
              <a:t>endpoint.py: creazione dell’endpoint per il modello</a:t>
            </a:r>
          </a:p>
          <a:p>
            <a:r>
              <a:rPr lang="it-IT" dirty="0">
                <a:solidFill>
                  <a:schemeClr val="tx1"/>
                </a:solidFill>
              </a:rPr>
              <a:t>load_test.py: esecuzione del test di carico verso l’endpoint specificato</a:t>
            </a:r>
          </a:p>
          <a:p>
            <a:r>
              <a:rPr lang="it-IT" dirty="0" err="1">
                <a:solidFill>
                  <a:schemeClr val="tx1"/>
                </a:solidFill>
              </a:rPr>
              <a:t>config.yaml</a:t>
            </a:r>
            <a:r>
              <a:rPr lang="it-IT" dirty="0">
                <a:solidFill>
                  <a:schemeClr val="tx1"/>
                </a:solidFill>
              </a:rPr>
              <a:t>: dettagli sul test di carico</a:t>
            </a:r>
            <a:endParaRPr lang="en-GB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2541074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5858B3-1DCA-C160-3137-DE588E63DC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VALORI DI CONFIGURAZIONE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E42B70-9C7B-0387-D125-C963B866DCE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4212" y="1492865"/>
            <a:ext cx="8534400" cy="2862825"/>
          </a:xfrm>
        </p:spPr>
        <p:txBody>
          <a:bodyPr>
            <a:normAutofit fontScale="92500" lnSpcReduction="10000"/>
          </a:bodyPr>
          <a:lstStyle/>
          <a:p>
            <a:r>
              <a:rPr lang="it-IT" dirty="0" err="1">
                <a:solidFill>
                  <a:schemeClr val="tx1"/>
                </a:solidFill>
              </a:rPr>
              <a:t>target_rps</a:t>
            </a:r>
            <a:r>
              <a:rPr lang="it-IT" dirty="0">
                <a:solidFill>
                  <a:schemeClr val="tx1"/>
                </a:solidFill>
              </a:rPr>
              <a:t>: [10, 50]</a:t>
            </a:r>
          </a:p>
          <a:p>
            <a:r>
              <a:rPr lang="it-IT" dirty="0" err="1">
                <a:solidFill>
                  <a:schemeClr val="tx1"/>
                </a:solidFill>
              </a:rPr>
              <a:t>duration_seconds</a:t>
            </a:r>
            <a:r>
              <a:rPr lang="it-IT" dirty="0">
                <a:solidFill>
                  <a:schemeClr val="tx1"/>
                </a:solidFill>
              </a:rPr>
              <a:t>: 60</a:t>
            </a:r>
          </a:p>
          <a:p>
            <a:r>
              <a:rPr lang="it-IT" dirty="0" err="1">
                <a:solidFill>
                  <a:schemeClr val="tx1"/>
                </a:solidFill>
              </a:rPr>
              <a:t>num_clients</a:t>
            </a:r>
            <a:r>
              <a:rPr lang="it-IT" dirty="0">
                <a:solidFill>
                  <a:schemeClr val="tx1"/>
                </a:solidFill>
              </a:rPr>
              <a:t>: 32/64</a:t>
            </a:r>
          </a:p>
          <a:p>
            <a:r>
              <a:rPr lang="it-IT" dirty="0" err="1">
                <a:solidFill>
                  <a:schemeClr val="tx1"/>
                </a:solidFill>
              </a:rPr>
              <a:t>batch_size</a:t>
            </a:r>
            <a:r>
              <a:rPr lang="it-IT" dirty="0">
                <a:solidFill>
                  <a:schemeClr val="tx1"/>
                </a:solidFill>
              </a:rPr>
              <a:t>: 16</a:t>
            </a:r>
          </a:p>
          <a:p>
            <a:r>
              <a:rPr lang="it-IT" dirty="0">
                <a:solidFill>
                  <a:schemeClr val="tx1"/>
                </a:solidFill>
              </a:rPr>
              <a:t>GPU: RTX A4500</a:t>
            </a:r>
          </a:p>
          <a:p>
            <a:r>
              <a:rPr lang="it-IT" dirty="0" err="1">
                <a:solidFill>
                  <a:schemeClr val="tx1"/>
                </a:solidFill>
              </a:rPr>
              <a:t>vCPU</a:t>
            </a:r>
            <a:r>
              <a:rPr lang="it-IT" dirty="0">
                <a:solidFill>
                  <a:schemeClr val="tx1"/>
                </a:solidFill>
              </a:rPr>
              <a:t>: 12 (AMD EPYC 7352 24-Core Processor)</a:t>
            </a:r>
          </a:p>
          <a:p>
            <a:r>
              <a:rPr lang="it-IT" dirty="0">
                <a:solidFill>
                  <a:schemeClr val="tx1"/>
                </a:solidFill>
              </a:rPr>
              <a:t>Memoria: 62 GB</a:t>
            </a:r>
          </a:p>
          <a:p>
            <a:endParaRPr lang="it-IT" dirty="0">
              <a:solidFill>
                <a:schemeClr val="tx1"/>
              </a:solidFill>
            </a:endParaRPr>
          </a:p>
          <a:p>
            <a:endParaRPr lang="it-IT" dirty="0">
              <a:solidFill>
                <a:schemeClr val="tx1"/>
              </a:solidFill>
            </a:endParaRPr>
          </a:p>
          <a:p>
            <a:endParaRPr lang="en-GB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884283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71EC63-FDBE-551E-E3D3-7C6632604F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Risultati modello </a:t>
            </a:r>
            <a:r>
              <a:rPr lang="it-IT" dirty="0" err="1"/>
              <a:t>python</a:t>
            </a:r>
            <a:r>
              <a:rPr lang="it-IT" dirty="0"/>
              <a:t> nativo</a:t>
            </a:r>
            <a:endParaRPr lang="en-GB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EAF7EEBD-2FFC-53BA-16B5-7BB2B45EFB6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780602273"/>
              </p:ext>
            </p:extLst>
          </p:nvPr>
        </p:nvGraphicFramePr>
        <p:xfrm>
          <a:off x="684211" y="685800"/>
          <a:ext cx="9639657" cy="2672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71073">
                  <a:extLst>
                    <a:ext uri="{9D8B030D-6E8A-4147-A177-3AD203B41FA5}">
                      <a16:colId xmlns:a16="http://schemas.microsoft.com/office/drawing/2014/main" val="713660421"/>
                    </a:ext>
                  </a:extLst>
                </a:gridCol>
                <a:gridCol w="1071073">
                  <a:extLst>
                    <a:ext uri="{9D8B030D-6E8A-4147-A177-3AD203B41FA5}">
                      <a16:colId xmlns:a16="http://schemas.microsoft.com/office/drawing/2014/main" val="2605851528"/>
                    </a:ext>
                  </a:extLst>
                </a:gridCol>
                <a:gridCol w="1071073">
                  <a:extLst>
                    <a:ext uri="{9D8B030D-6E8A-4147-A177-3AD203B41FA5}">
                      <a16:colId xmlns:a16="http://schemas.microsoft.com/office/drawing/2014/main" val="4131664428"/>
                    </a:ext>
                  </a:extLst>
                </a:gridCol>
                <a:gridCol w="1071073">
                  <a:extLst>
                    <a:ext uri="{9D8B030D-6E8A-4147-A177-3AD203B41FA5}">
                      <a16:colId xmlns:a16="http://schemas.microsoft.com/office/drawing/2014/main" val="2682047389"/>
                    </a:ext>
                  </a:extLst>
                </a:gridCol>
                <a:gridCol w="1071073">
                  <a:extLst>
                    <a:ext uri="{9D8B030D-6E8A-4147-A177-3AD203B41FA5}">
                      <a16:colId xmlns:a16="http://schemas.microsoft.com/office/drawing/2014/main" val="560020995"/>
                    </a:ext>
                  </a:extLst>
                </a:gridCol>
                <a:gridCol w="1071073">
                  <a:extLst>
                    <a:ext uri="{9D8B030D-6E8A-4147-A177-3AD203B41FA5}">
                      <a16:colId xmlns:a16="http://schemas.microsoft.com/office/drawing/2014/main" val="2200272610"/>
                    </a:ext>
                  </a:extLst>
                </a:gridCol>
                <a:gridCol w="1071073">
                  <a:extLst>
                    <a:ext uri="{9D8B030D-6E8A-4147-A177-3AD203B41FA5}">
                      <a16:colId xmlns:a16="http://schemas.microsoft.com/office/drawing/2014/main" val="1594005505"/>
                    </a:ext>
                  </a:extLst>
                </a:gridCol>
                <a:gridCol w="1071073">
                  <a:extLst>
                    <a:ext uri="{9D8B030D-6E8A-4147-A177-3AD203B41FA5}">
                      <a16:colId xmlns:a16="http://schemas.microsoft.com/office/drawing/2014/main" val="748764634"/>
                    </a:ext>
                  </a:extLst>
                </a:gridCol>
                <a:gridCol w="1071073">
                  <a:extLst>
                    <a:ext uri="{9D8B030D-6E8A-4147-A177-3AD203B41FA5}">
                      <a16:colId xmlns:a16="http://schemas.microsoft.com/office/drawing/2014/main" val="317248759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it-IT" dirty="0"/>
                        <a:t>Connessioni simultanee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Target RPS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Richieste totali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Richieste risolte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Media latenze (</a:t>
                      </a:r>
                      <a:r>
                        <a:rPr lang="it-IT" dirty="0" err="1"/>
                        <a:t>ms</a:t>
                      </a:r>
                      <a:r>
                        <a:rPr lang="it-IT" dirty="0"/>
                        <a:t>)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P50 (</a:t>
                      </a:r>
                      <a:r>
                        <a:rPr lang="it-IT" dirty="0" err="1"/>
                        <a:t>ms</a:t>
                      </a:r>
                      <a:r>
                        <a:rPr lang="it-IT" dirty="0"/>
                        <a:t>)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P90 (</a:t>
                      </a:r>
                      <a:r>
                        <a:rPr lang="it-IT" dirty="0" err="1"/>
                        <a:t>ms</a:t>
                      </a:r>
                      <a:r>
                        <a:rPr lang="it-IT" dirty="0"/>
                        <a:t>)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P95 (</a:t>
                      </a:r>
                      <a:r>
                        <a:rPr lang="it-IT" dirty="0" err="1"/>
                        <a:t>ms</a:t>
                      </a:r>
                      <a:r>
                        <a:rPr lang="it-IT" dirty="0"/>
                        <a:t>)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P99 (</a:t>
                      </a:r>
                      <a:r>
                        <a:rPr lang="it-IT" dirty="0" err="1"/>
                        <a:t>ms</a:t>
                      </a:r>
                      <a:r>
                        <a:rPr lang="it-IT" dirty="0"/>
                        <a:t>)</a:t>
                      </a:r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1961644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it-IT" dirty="0"/>
                        <a:t>32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10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600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600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144,6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107,1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262,6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298,1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362,6</a:t>
                      </a:r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335223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it-IT" dirty="0"/>
                        <a:t>32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50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3000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1083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4493,5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4772,4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4867,2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4885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4917,5</a:t>
                      </a:r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7424956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it-IT" dirty="0"/>
                        <a:t>64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10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600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600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118,6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85,9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231,3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262,8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336,4</a:t>
                      </a:r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5816045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it-IT" dirty="0"/>
                        <a:t>64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50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3000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1120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6085,9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6557,9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6762,2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6815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7059,8</a:t>
                      </a:r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1213294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8426968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1BD3F6-3E3A-31AF-0DB3-4FFFDBFF20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B0CC12-4353-9F7F-1210-5719111916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Risultati modello ONNX IN PYTHON</a:t>
            </a:r>
            <a:endParaRPr lang="en-GB" dirty="0"/>
          </a:p>
        </p:txBody>
      </p:sp>
      <p:graphicFrame>
        <p:nvGraphicFramePr>
          <p:cNvPr id="6" name="Content Placeholder 3">
            <a:extLst>
              <a:ext uri="{FF2B5EF4-FFF2-40B4-BE49-F238E27FC236}">
                <a16:creationId xmlns:a16="http://schemas.microsoft.com/office/drawing/2014/main" id="{94337BDA-DFDB-74EB-7748-562151421BE8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391205341"/>
              </p:ext>
            </p:extLst>
          </p:nvPr>
        </p:nvGraphicFramePr>
        <p:xfrm>
          <a:off x="684212" y="685800"/>
          <a:ext cx="9639657" cy="2672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71073">
                  <a:extLst>
                    <a:ext uri="{9D8B030D-6E8A-4147-A177-3AD203B41FA5}">
                      <a16:colId xmlns:a16="http://schemas.microsoft.com/office/drawing/2014/main" val="713660421"/>
                    </a:ext>
                  </a:extLst>
                </a:gridCol>
                <a:gridCol w="1071073">
                  <a:extLst>
                    <a:ext uri="{9D8B030D-6E8A-4147-A177-3AD203B41FA5}">
                      <a16:colId xmlns:a16="http://schemas.microsoft.com/office/drawing/2014/main" val="2605851528"/>
                    </a:ext>
                  </a:extLst>
                </a:gridCol>
                <a:gridCol w="1071073">
                  <a:extLst>
                    <a:ext uri="{9D8B030D-6E8A-4147-A177-3AD203B41FA5}">
                      <a16:colId xmlns:a16="http://schemas.microsoft.com/office/drawing/2014/main" val="4131664428"/>
                    </a:ext>
                  </a:extLst>
                </a:gridCol>
                <a:gridCol w="1071073">
                  <a:extLst>
                    <a:ext uri="{9D8B030D-6E8A-4147-A177-3AD203B41FA5}">
                      <a16:colId xmlns:a16="http://schemas.microsoft.com/office/drawing/2014/main" val="2682047389"/>
                    </a:ext>
                  </a:extLst>
                </a:gridCol>
                <a:gridCol w="1071073">
                  <a:extLst>
                    <a:ext uri="{9D8B030D-6E8A-4147-A177-3AD203B41FA5}">
                      <a16:colId xmlns:a16="http://schemas.microsoft.com/office/drawing/2014/main" val="560020995"/>
                    </a:ext>
                  </a:extLst>
                </a:gridCol>
                <a:gridCol w="1071073">
                  <a:extLst>
                    <a:ext uri="{9D8B030D-6E8A-4147-A177-3AD203B41FA5}">
                      <a16:colId xmlns:a16="http://schemas.microsoft.com/office/drawing/2014/main" val="2200272610"/>
                    </a:ext>
                  </a:extLst>
                </a:gridCol>
                <a:gridCol w="1071073">
                  <a:extLst>
                    <a:ext uri="{9D8B030D-6E8A-4147-A177-3AD203B41FA5}">
                      <a16:colId xmlns:a16="http://schemas.microsoft.com/office/drawing/2014/main" val="1594005505"/>
                    </a:ext>
                  </a:extLst>
                </a:gridCol>
                <a:gridCol w="1071073">
                  <a:extLst>
                    <a:ext uri="{9D8B030D-6E8A-4147-A177-3AD203B41FA5}">
                      <a16:colId xmlns:a16="http://schemas.microsoft.com/office/drawing/2014/main" val="748764634"/>
                    </a:ext>
                  </a:extLst>
                </a:gridCol>
                <a:gridCol w="1071073">
                  <a:extLst>
                    <a:ext uri="{9D8B030D-6E8A-4147-A177-3AD203B41FA5}">
                      <a16:colId xmlns:a16="http://schemas.microsoft.com/office/drawing/2014/main" val="317248759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it-IT" dirty="0"/>
                        <a:t>Connessioni simultanee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Target RPS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Richieste totali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Richieste risolte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Media latenze (</a:t>
                      </a:r>
                      <a:r>
                        <a:rPr lang="it-IT" dirty="0" err="1"/>
                        <a:t>ms</a:t>
                      </a:r>
                      <a:r>
                        <a:rPr lang="it-IT" dirty="0"/>
                        <a:t>)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P50 (</a:t>
                      </a:r>
                      <a:r>
                        <a:rPr lang="it-IT" dirty="0" err="1"/>
                        <a:t>ms</a:t>
                      </a:r>
                      <a:r>
                        <a:rPr lang="it-IT" dirty="0"/>
                        <a:t>)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P90 (</a:t>
                      </a:r>
                      <a:r>
                        <a:rPr lang="it-IT" dirty="0" err="1"/>
                        <a:t>ms</a:t>
                      </a:r>
                      <a:r>
                        <a:rPr lang="it-IT" dirty="0"/>
                        <a:t>)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P95 (</a:t>
                      </a:r>
                      <a:r>
                        <a:rPr lang="it-IT" dirty="0" err="1"/>
                        <a:t>ms</a:t>
                      </a:r>
                      <a:r>
                        <a:rPr lang="it-IT" dirty="0"/>
                        <a:t>)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P99 (</a:t>
                      </a:r>
                      <a:r>
                        <a:rPr lang="it-IT" dirty="0" err="1"/>
                        <a:t>ms</a:t>
                      </a:r>
                      <a:r>
                        <a:rPr lang="it-IT" dirty="0"/>
                        <a:t>)</a:t>
                      </a:r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1961644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it-IT" dirty="0"/>
                        <a:t>32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10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600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600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97,4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/>
                        <a:t>79,8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162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191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263,5</a:t>
                      </a:r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335223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it-IT" dirty="0"/>
                        <a:t>32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50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3000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1179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4442,3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4678,3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4754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4761,9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/>
                        <a:t>5247,1</a:t>
                      </a:r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7424956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it-IT" dirty="0"/>
                        <a:t>64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10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600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600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111,6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92,9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194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238,1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318,6</a:t>
                      </a:r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5816045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it-IT" dirty="0"/>
                        <a:t>64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50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3000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1244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5910,9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6363,8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6432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6442,4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8558,5</a:t>
                      </a:r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1213294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9226104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475EFA-89FD-D07C-7E91-301FCA0A8E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4212" y="4969113"/>
            <a:ext cx="8534400" cy="1507067"/>
          </a:xfrm>
        </p:spPr>
        <p:txBody>
          <a:bodyPr/>
          <a:lstStyle/>
          <a:p>
            <a:r>
              <a:rPr lang="it-IT" dirty="0"/>
              <a:t>Grafici di comparazione</a:t>
            </a:r>
            <a:endParaRPr lang="en-GB" dirty="0"/>
          </a:p>
        </p:txBody>
      </p:sp>
      <p:graphicFrame>
        <p:nvGraphicFramePr>
          <p:cNvPr id="17" name="Content Placeholder 16">
            <a:extLst>
              <a:ext uri="{FF2B5EF4-FFF2-40B4-BE49-F238E27FC236}">
                <a16:creationId xmlns:a16="http://schemas.microsoft.com/office/drawing/2014/main" id="{E81637C5-5E17-FFBB-3FC2-E1823A571A2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32028408"/>
              </p:ext>
            </p:extLst>
          </p:nvPr>
        </p:nvGraphicFramePr>
        <p:xfrm>
          <a:off x="684212" y="243348"/>
          <a:ext cx="4231916" cy="251951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18" name="Content Placeholder 16">
            <a:extLst>
              <a:ext uri="{FF2B5EF4-FFF2-40B4-BE49-F238E27FC236}">
                <a16:creationId xmlns:a16="http://schemas.microsoft.com/office/drawing/2014/main" id="{4C21F744-4B20-130C-91D9-D578B4CF9594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66593612"/>
              </p:ext>
            </p:extLst>
          </p:nvPr>
        </p:nvGraphicFramePr>
        <p:xfrm>
          <a:off x="5575762" y="243348"/>
          <a:ext cx="4231916" cy="251951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9" name="Content Placeholder 16">
            <a:extLst>
              <a:ext uri="{FF2B5EF4-FFF2-40B4-BE49-F238E27FC236}">
                <a16:creationId xmlns:a16="http://schemas.microsoft.com/office/drawing/2014/main" id="{450D4C37-7453-0BCE-EE0C-E6D7664FDE2B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908854217"/>
              </p:ext>
            </p:extLst>
          </p:nvPr>
        </p:nvGraphicFramePr>
        <p:xfrm>
          <a:off x="684212" y="2762864"/>
          <a:ext cx="4231916" cy="251951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22" name="Content Placeholder 16">
            <a:extLst>
              <a:ext uri="{FF2B5EF4-FFF2-40B4-BE49-F238E27FC236}">
                <a16:creationId xmlns:a16="http://schemas.microsoft.com/office/drawing/2014/main" id="{088EA53E-CB2B-3673-A5C3-2D2BFCD9ECED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307275515"/>
              </p:ext>
            </p:extLst>
          </p:nvPr>
        </p:nvGraphicFramePr>
        <p:xfrm>
          <a:off x="5575762" y="2762864"/>
          <a:ext cx="4231916" cy="251951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</p:spTree>
    <p:extLst>
      <p:ext uri="{BB962C8B-B14F-4D97-AF65-F5344CB8AC3E}">
        <p14:creationId xmlns:p14="http://schemas.microsoft.com/office/powerpoint/2010/main" val="66420468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334D19-9D1B-B626-55FF-AA6D2AC331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LOAD TEST CON BATCH SIZE pari a 32 (PYTHON NATIVO)</a:t>
            </a:r>
            <a:endParaRPr lang="en-GB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EB6520DC-C4C9-DA75-CB98-938C09A45BA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29223929"/>
              </p:ext>
            </p:extLst>
          </p:nvPr>
        </p:nvGraphicFramePr>
        <p:xfrm>
          <a:off x="684211" y="685800"/>
          <a:ext cx="9639657" cy="2672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71073">
                  <a:extLst>
                    <a:ext uri="{9D8B030D-6E8A-4147-A177-3AD203B41FA5}">
                      <a16:colId xmlns:a16="http://schemas.microsoft.com/office/drawing/2014/main" val="713660421"/>
                    </a:ext>
                  </a:extLst>
                </a:gridCol>
                <a:gridCol w="1071073">
                  <a:extLst>
                    <a:ext uri="{9D8B030D-6E8A-4147-A177-3AD203B41FA5}">
                      <a16:colId xmlns:a16="http://schemas.microsoft.com/office/drawing/2014/main" val="2605851528"/>
                    </a:ext>
                  </a:extLst>
                </a:gridCol>
                <a:gridCol w="1071073">
                  <a:extLst>
                    <a:ext uri="{9D8B030D-6E8A-4147-A177-3AD203B41FA5}">
                      <a16:colId xmlns:a16="http://schemas.microsoft.com/office/drawing/2014/main" val="4131664428"/>
                    </a:ext>
                  </a:extLst>
                </a:gridCol>
                <a:gridCol w="1071073">
                  <a:extLst>
                    <a:ext uri="{9D8B030D-6E8A-4147-A177-3AD203B41FA5}">
                      <a16:colId xmlns:a16="http://schemas.microsoft.com/office/drawing/2014/main" val="2682047389"/>
                    </a:ext>
                  </a:extLst>
                </a:gridCol>
                <a:gridCol w="1071073">
                  <a:extLst>
                    <a:ext uri="{9D8B030D-6E8A-4147-A177-3AD203B41FA5}">
                      <a16:colId xmlns:a16="http://schemas.microsoft.com/office/drawing/2014/main" val="560020995"/>
                    </a:ext>
                  </a:extLst>
                </a:gridCol>
                <a:gridCol w="1071073">
                  <a:extLst>
                    <a:ext uri="{9D8B030D-6E8A-4147-A177-3AD203B41FA5}">
                      <a16:colId xmlns:a16="http://schemas.microsoft.com/office/drawing/2014/main" val="2200272610"/>
                    </a:ext>
                  </a:extLst>
                </a:gridCol>
                <a:gridCol w="1071073">
                  <a:extLst>
                    <a:ext uri="{9D8B030D-6E8A-4147-A177-3AD203B41FA5}">
                      <a16:colId xmlns:a16="http://schemas.microsoft.com/office/drawing/2014/main" val="1594005505"/>
                    </a:ext>
                  </a:extLst>
                </a:gridCol>
                <a:gridCol w="1071073">
                  <a:extLst>
                    <a:ext uri="{9D8B030D-6E8A-4147-A177-3AD203B41FA5}">
                      <a16:colId xmlns:a16="http://schemas.microsoft.com/office/drawing/2014/main" val="748764634"/>
                    </a:ext>
                  </a:extLst>
                </a:gridCol>
                <a:gridCol w="1071073">
                  <a:extLst>
                    <a:ext uri="{9D8B030D-6E8A-4147-A177-3AD203B41FA5}">
                      <a16:colId xmlns:a16="http://schemas.microsoft.com/office/drawing/2014/main" val="317248759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it-IT" dirty="0"/>
                        <a:t>Connessioni simultanee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Target RPS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Richieste totali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Richieste risolte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Media latenze (</a:t>
                      </a:r>
                      <a:r>
                        <a:rPr lang="it-IT" dirty="0" err="1"/>
                        <a:t>ms</a:t>
                      </a:r>
                      <a:r>
                        <a:rPr lang="it-IT" dirty="0"/>
                        <a:t>)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P50 (</a:t>
                      </a:r>
                      <a:r>
                        <a:rPr lang="it-IT" dirty="0" err="1"/>
                        <a:t>ms</a:t>
                      </a:r>
                      <a:r>
                        <a:rPr lang="it-IT" dirty="0"/>
                        <a:t>)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P90 (</a:t>
                      </a:r>
                      <a:r>
                        <a:rPr lang="it-IT" dirty="0" err="1"/>
                        <a:t>ms</a:t>
                      </a:r>
                      <a:r>
                        <a:rPr lang="it-IT" dirty="0"/>
                        <a:t>)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P95 (</a:t>
                      </a:r>
                      <a:r>
                        <a:rPr lang="it-IT" dirty="0" err="1"/>
                        <a:t>ms</a:t>
                      </a:r>
                      <a:r>
                        <a:rPr lang="it-IT" dirty="0"/>
                        <a:t>)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P99 (</a:t>
                      </a:r>
                      <a:r>
                        <a:rPr lang="it-IT" dirty="0" err="1"/>
                        <a:t>ms</a:t>
                      </a:r>
                      <a:r>
                        <a:rPr lang="it-IT" dirty="0"/>
                        <a:t>)</a:t>
                      </a:r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1961644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it-IT" dirty="0"/>
                        <a:t>32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10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600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584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4761,1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5497,1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6425,5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7769,6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8756,7</a:t>
                      </a:r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335223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it-IT" dirty="0"/>
                        <a:t>32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50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3000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599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6239,6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6469,1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6684,9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8073,9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9480,8</a:t>
                      </a:r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7424956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it-IT" dirty="0"/>
                        <a:t>64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10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600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565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4969,6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4855,8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10282,3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12558,8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16011,5</a:t>
                      </a:r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5816045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it-IT" dirty="0"/>
                        <a:t>64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50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3000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603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9275,2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8297,7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14084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19135,9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22981,8</a:t>
                      </a:r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1213294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2526142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FAAD99-0E67-A22D-5C7C-4FF8C049A3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3EEEEA-AF45-63B1-3CEA-3649064D90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LOAD TEST CON BATCH SIZE pari a 32 (ONNX)</a:t>
            </a:r>
            <a:endParaRPr lang="en-GB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5DEEBD52-29D3-F569-85E2-8775511194F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22780872"/>
              </p:ext>
            </p:extLst>
          </p:nvPr>
        </p:nvGraphicFramePr>
        <p:xfrm>
          <a:off x="684211" y="685800"/>
          <a:ext cx="9639657" cy="2672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71073">
                  <a:extLst>
                    <a:ext uri="{9D8B030D-6E8A-4147-A177-3AD203B41FA5}">
                      <a16:colId xmlns:a16="http://schemas.microsoft.com/office/drawing/2014/main" val="713660421"/>
                    </a:ext>
                  </a:extLst>
                </a:gridCol>
                <a:gridCol w="1071073">
                  <a:extLst>
                    <a:ext uri="{9D8B030D-6E8A-4147-A177-3AD203B41FA5}">
                      <a16:colId xmlns:a16="http://schemas.microsoft.com/office/drawing/2014/main" val="2605851528"/>
                    </a:ext>
                  </a:extLst>
                </a:gridCol>
                <a:gridCol w="1071073">
                  <a:extLst>
                    <a:ext uri="{9D8B030D-6E8A-4147-A177-3AD203B41FA5}">
                      <a16:colId xmlns:a16="http://schemas.microsoft.com/office/drawing/2014/main" val="4131664428"/>
                    </a:ext>
                  </a:extLst>
                </a:gridCol>
                <a:gridCol w="1071073">
                  <a:extLst>
                    <a:ext uri="{9D8B030D-6E8A-4147-A177-3AD203B41FA5}">
                      <a16:colId xmlns:a16="http://schemas.microsoft.com/office/drawing/2014/main" val="2682047389"/>
                    </a:ext>
                  </a:extLst>
                </a:gridCol>
                <a:gridCol w="1071073">
                  <a:extLst>
                    <a:ext uri="{9D8B030D-6E8A-4147-A177-3AD203B41FA5}">
                      <a16:colId xmlns:a16="http://schemas.microsoft.com/office/drawing/2014/main" val="560020995"/>
                    </a:ext>
                  </a:extLst>
                </a:gridCol>
                <a:gridCol w="1071073">
                  <a:extLst>
                    <a:ext uri="{9D8B030D-6E8A-4147-A177-3AD203B41FA5}">
                      <a16:colId xmlns:a16="http://schemas.microsoft.com/office/drawing/2014/main" val="2200272610"/>
                    </a:ext>
                  </a:extLst>
                </a:gridCol>
                <a:gridCol w="1071073">
                  <a:extLst>
                    <a:ext uri="{9D8B030D-6E8A-4147-A177-3AD203B41FA5}">
                      <a16:colId xmlns:a16="http://schemas.microsoft.com/office/drawing/2014/main" val="1594005505"/>
                    </a:ext>
                  </a:extLst>
                </a:gridCol>
                <a:gridCol w="1071073">
                  <a:extLst>
                    <a:ext uri="{9D8B030D-6E8A-4147-A177-3AD203B41FA5}">
                      <a16:colId xmlns:a16="http://schemas.microsoft.com/office/drawing/2014/main" val="748764634"/>
                    </a:ext>
                  </a:extLst>
                </a:gridCol>
                <a:gridCol w="1071073">
                  <a:extLst>
                    <a:ext uri="{9D8B030D-6E8A-4147-A177-3AD203B41FA5}">
                      <a16:colId xmlns:a16="http://schemas.microsoft.com/office/drawing/2014/main" val="317248759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it-IT" dirty="0"/>
                        <a:t>Connessioni simultanee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Target RPS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Richieste totali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Richieste risolte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Media latenze (</a:t>
                      </a:r>
                      <a:r>
                        <a:rPr lang="it-IT" dirty="0" err="1"/>
                        <a:t>ms</a:t>
                      </a:r>
                      <a:r>
                        <a:rPr lang="it-IT" dirty="0"/>
                        <a:t>)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P50 (</a:t>
                      </a:r>
                      <a:r>
                        <a:rPr lang="it-IT" dirty="0" err="1"/>
                        <a:t>ms</a:t>
                      </a:r>
                      <a:r>
                        <a:rPr lang="it-IT" dirty="0"/>
                        <a:t>)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P90 (</a:t>
                      </a:r>
                      <a:r>
                        <a:rPr lang="it-IT" dirty="0" err="1"/>
                        <a:t>ms</a:t>
                      </a:r>
                      <a:r>
                        <a:rPr lang="it-IT" dirty="0"/>
                        <a:t>)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P95 (</a:t>
                      </a:r>
                      <a:r>
                        <a:rPr lang="it-IT" dirty="0" err="1"/>
                        <a:t>ms</a:t>
                      </a:r>
                      <a:r>
                        <a:rPr lang="it-IT" dirty="0"/>
                        <a:t>)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P99 (</a:t>
                      </a:r>
                      <a:r>
                        <a:rPr lang="it-IT" dirty="0" err="1"/>
                        <a:t>ms</a:t>
                      </a:r>
                      <a:r>
                        <a:rPr lang="it-IT" dirty="0"/>
                        <a:t>)</a:t>
                      </a:r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1961644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it-IT" dirty="0"/>
                        <a:t>32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10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600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593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4379,8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4847,4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6657,7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7386,8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7883,6</a:t>
                      </a:r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335223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it-IT" dirty="0"/>
                        <a:t>32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50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3000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619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6106,7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6294,7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6627,2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8255,6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9232,4</a:t>
                      </a:r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7424956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it-IT" dirty="0"/>
                        <a:t>64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10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600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583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3955,8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2879,5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7524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10077,4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14978,8</a:t>
                      </a:r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5816045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it-IT" dirty="0"/>
                        <a:t>64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50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3000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620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8963,2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8356,5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13454,7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17848,3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21365,5</a:t>
                      </a:r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1213294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4199483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3D43EA-5C6E-2B5D-81ED-0847BBA7E5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BE7D75-476F-89FA-8C2F-1CA9EB6803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4212" y="4969113"/>
            <a:ext cx="8534400" cy="1507067"/>
          </a:xfrm>
        </p:spPr>
        <p:txBody>
          <a:bodyPr/>
          <a:lstStyle/>
          <a:p>
            <a:r>
              <a:rPr lang="it-IT" dirty="0"/>
              <a:t>Grafici di comparazione</a:t>
            </a:r>
            <a:endParaRPr lang="en-GB" dirty="0"/>
          </a:p>
        </p:txBody>
      </p:sp>
      <p:graphicFrame>
        <p:nvGraphicFramePr>
          <p:cNvPr id="17" name="Content Placeholder 16">
            <a:extLst>
              <a:ext uri="{FF2B5EF4-FFF2-40B4-BE49-F238E27FC236}">
                <a16:creationId xmlns:a16="http://schemas.microsoft.com/office/drawing/2014/main" id="{82BF6C13-543E-AB26-40C1-17C48C09B9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02351603"/>
              </p:ext>
            </p:extLst>
          </p:nvPr>
        </p:nvGraphicFramePr>
        <p:xfrm>
          <a:off x="684212" y="243348"/>
          <a:ext cx="4231916" cy="251951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18" name="Content Placeholder 16">
            <a:extLst>
              <a:ext uri="{FF2B5EF4-FFF2-40B4-BE49-F238E27FC236}">
                <a16:creationId xmlns:a16="http://schemas.microsoft.com/office/drawing/2014/main" id="{BBE59B32-9D08-9A30-1EE7-01EBEB281DB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194781042"/>
              </p:ext>
            </p:extLst>
          </p:nvPr>
        </p:nvGraphicFramePr>
        <p:xfrm>
          <a:off x="5575762" y="243348"/>
          <a:ext cx="4231916" cy="251951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9" name="Content Placeholder 16">
            <a:extLst>
              <a:ext uri="{FF2B5EF4-FFF2-40B4-BE49-F238E27FC236}">
                <a16:creationId xmlns:a16="http://schemas.microsoft.com/office/drawing/2014/main" id="{1B89A083-B5E1-9590-3E15-879009CDFDD8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774809670"/>
              </p:ext>
            </p:extLst>
          </p:nvPr>
        </p:nvGraphicFramePr>
        <p:xfrm>
          <a:off x="684212" y="2762864"/>
          <a:ext cx="4231916" cy="251951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22" name="Content Placeholder 16">
            <a:extLst>
              <a:ext uri="{FF2B5EF4-FFF2-40B4-BE49-F238E27FC236}">
                <a16:creationId xmlns:a16="http://schemas.microsoft.com/office/drawing/2014/main" id="{078AA1A4-0D8B-5171-2ED5-B750765C80D7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157603686"/>
              </p:ext>
            </p:extLst>
          </p:nvPr>
        </p:nvGraphicFramePr>
        <p:xfrm>
          <a:off x="5575762" y="2762864"/>
          <a:ext cx="4231916" cy="251951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</p:spTree>
    <p:extLst>
      <p:ext uri="{BB962C8B-B14F-4D97-AF65-F5344CB8AC3E}">
        <p14:creationId xmlns:p14="http://schemas.microsoft.com/office/powerpoint/2010/main" val="402445656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4A01B0-53DF-44BA-926D-4D7DFBDE5F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INFERENZA PURA PYTHON NATIVO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62671E-91E7-F36B-EB0D-B9A8C675A85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4212" y="685801"/>
            <a:ext cx="8534400" cy="1507068"/>
          </a:xfrm>
        </p:spPr>
        <p:txBody>
          <a:bodyPr/>
          <a:lstStyle/>
          <a:p>
            <a:pPr marL="0" indent="0">
              <a:buNone/>
            </a:pPr>
            <a:r>
              <a:rPr lang="it-IT" dirty="0">
                <a:solidFill>
                  <a:schemeClr val="tx1"/>
                </a:solidFill>
              </a:rPr>
              <a:t>Per verificare la differenza pura di inferenza tra i modelli si è deciso di eseguire un test da 1000 richieste su 100 secondi per verificare le differenze senza considerare le latenze dovute al trasporto HTTP.</a:t>
            </a:r>
            <a:endParaRPr lang="en-GB" dirty="0">
              <a:solidFill>
                <a:schemeClr val="tx1"/>
              </a:solidFill>
            </a:endParaRP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F24502A3-229C-5325-9C51-70E5AD8590A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6835903"/>
              </p:ext>
            </p:extLst>
          </p:nvPr>
        </p:nvGraphicFramePr>
        <p:xfrm>
          <a:off x="785426" y="2174163"/>
          <a:ext cx="8331972" cy="245041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88662">
                  <a:extLst>
                    <a:ext uri="{9D8B030D-6E8A-4147-A177-3AD203B41FA5}">
                      <a16:colId xmlns:a16="http://schemas.microsoft.com/office/drawing/2014/main" val="3618603369"/>
                    </a:ext>
                  </a:extLst>
                </a:gridCol>
                <a:gridCol w="1388662">
                  <a:extLst>
                    <a:ext uri="{9D8B030D-6E8A-4147-A177-3AD203B41FA5}">
                      <a16:colId xmlns:a16="http://schemas.microsoft.com/office/drawing/2014/main" val="612592813"/>
                    </a:ext>
                  </a:extLst>
                </a:gridCol>
                <a:gridCol w="1388662">
                  <a:extLst>
                    <a:ext uri="{9D8B030D-6E8A-4147-A177-3AD203B41FA5}">
                      <a16:colId xmlns:a16="http://schemas.microsoft.com/office/drawing/2014/main" val="2275740807"/>
                    </a:ext>
                  </a:extLst>
                </a:gridCol>
                <a:gridCol w="1388662">
                  <a:extLst>
                    <a:ext uri="{9D8B030D-6E8A-4147-A177-3AD203B41FA5}">
                      <a16:colId xmlns:a16="http://schemas.microsoft.com/office/drawing/2014/main" val="3598941634"/>
                    </a:ext>
                  </a:extLst>
                </a:gridCol>
                <a:gridCol w="1388662">
                  <a:extLst>
                    <a:ext uri="{9D8B030D-6E8A-4147-A177-3AD203B41FA5}">
                      <a16:colId xmlns:a16="http://schemas.microsoft.com/office/drawing/2014/main" val="1146333347"/>
                    </a:ext>
                  </a:extLst>
                </a:gridCol>
                <a:gridCol w="1388662">
                  <a:extLst>
                    <a:ext uri="{9D8B030D-6E8A-4147-A177-3AD203B41FA5}">
                      <a16:colId xmlns:a16="http://schemas.microsoft.com/office/drawing/2014/main" val="52857491"/>
                    </a:ext>
                  </a:extLst>
                </a:gridCol>
              </a:tblGrid>
              <a:tr h="1163785">
                <a:tc>
                  <a:txBody>
                    <a:bodyPr/>
                    <a:lstStyle/>
                    <a:p>
                      <a:r>
                        <a:rPr lang="it-IT" dirty="0"/>
                        <a:t>Modello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Media latenze (</a:t>
                      </a:r>
                      <a:r>
                        <a:rPr lang="it-IT" dirty="0" err="1"/>
                        <a:t>ms</a:t>
                      </a:r>
                      <a:r>
                        <a:rPr lang="it-IT" dirty="0"/>
                        <a:t>)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P50 (</a:t>
                      </a:r>
                      <a:r>
                        <a:rPr lang="it-IT" dirty="0" err="1"/>
                        <a:t>ms</a:t>
                      </a:r>
                      <a:r>
                        <a:rPr lang="it-IT" dirty="0"/>
                        <a:t>)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P90 (</a:t>
                      </a:r>
                      <a:r>
                        <a:rPr lang="it-IT" dirty="0" err="1"/>
                        <a:t>ms</a:t>
                      </a:r>
                      <a:r>
                        <a:rPr lang="it-IT" dirty="0"/>
                        <a:t>)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P95 (</a:t>
                      </a:r>
                      <a:r>
                        <a:rPr lang="it-IT" dirty="0" err="1"/>
                        <a:t>ms</a:t>
                      </a:r>
                      <a:r>
                        <a:rPr lang="it-IT" dirty="0"/>
                        <a:t>)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P99 (</a:t>
                      </a:r>
                      <a:r>
                        <a:rPr lang="it-IT" dirty="0" err="1"/>
                        <a:t>ms</a:t>
                      </a:r>
                      <a:r>
                        <a:rPr lang="it-IT" dirty="0"/>
                        <a:t>)</a:t>
                      </a:r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3102400"/>
                  </a:ext>
                </a:extLst>
              </a:tr>
              <a:tr h="814650">
                <a:tc>
                  <a:txBody>
                    <a:bodyPr/>
                    <a:lstStyle/>
                    <a:p>
                      <a:r>
                        <a:rPr lang="it-IT" dirty="0"/>
                        <a:t>Python puro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2,57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2,37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3.3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3.52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4.44</a:t>
                      </a:r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23280670"/>
                  </a:ext>
                </a:extLst>
              </a:tr>
              <a:tr h="471979">
                <a:tc>
                  <a:txBody>
                    <a:bodyPr/>
                    <a:lstStyle/>
                    <a:p>
                      <a:r>
                        <a:rPr lang="it-IT" dirty="0"/>
                        <a:t>ONNX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1.59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1.50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1.83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2.17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/>
                        <a:t>2.27</a:t>
                      </a:r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5901114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197175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378FDD-4DCC-6A9A-C9F1-8EFB65A7C1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Grafico inferenza pura</a:t>
            </a:r>
            <a:endParaRPr lang="en-GB" dirty="0"/>
          </a:p>
        </p:txBody>
      </p:sp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4863FFB1-320A-ECDC-82FA-C124D6334BB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847077645"/>
              </p:ext>
            </p:extLst>
          </p:nvPr>
        </p:nvGraphicFramePr>
        <p:xfrm>
          <a:off x="684213" y="685800"/>
          <a:ext cx="8534400" cy="361473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2538175876"/>
      </p:ext>
    </p:extLst>
  </p:cSld>
  <p:clrMapOvr>
    <a:masterClrMapping/>
  </p:clrMapOvr>
</p:sld>
</file>

<file path=ppt/theme/theme1.xml><?xml version="1.0" encoding="utf-8"?>
<a:theme xmlns:a="http://schemas.openxmlformats.org/drawingml/2006/main" name="Slice">
  <a:themeElements>
    <a:clrScheme name="Slice">
      <a:dk1>
        <a:sysClr val="windowText" lastClr="000000"/>
      </a:dk1>
      <a:lt1>
        <a:sysClr val="window" lastClr="FFFFFF"/>
      </a:lt1>
      <a:dk2>
        <a:srgbClr val="146194"/>
      </a:dk2>
      <a:lt2>
        <a:srgbClr val="76DBF4"/>
      </a:lt2>
      <a:accent1>
        <a:srgbClr val="052F61"/>
      </a:accent1>
      <a:accent2>
        <a:srgbClr val="A50E82"/>
      </a:accent2>
      <a:accent3>
        <a:srgbClr val="14967C"/>
      </a:accent3>
      <a:accent4>
        <a:srgbClr val="6A9E1F"/>
      </a:accent4>
      <a:accent5>
        <a:srgbClr val="E87D37"/>
      </a:accent5>
      <a:accent6>
        <a:srgbClr val="C62324"/>
      </a:accent6>
      <a:hlink>
        <a:srgbClr val="0D2E46"/>
      </a:hlink>
      <a:folHlink>
        <a:srgbClr val="356A95"/>
      </a:folHlink>
    </a:clrScheme>
    <a:fontScheme name="Slice">
      <a:maj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Slice">
      <a:fillStyleLst>
        <a:solidFill>
          <a:schemeClr val="phClr"/>
        </a:solidFill>
        <a:gradFill rotWithShape="1">
          <a:gsLst>
            <a:gs pos="0">
              <a:schemeClr val="phClr">
                <a:tint val="62000"/>
                <a:hueMod val="94000"/>
                <a:satMod val="140000"/>
                <a:lumMod val="110000"/>
              </a:schemeClr>
            </a:gs>
            <a:gs pos="100000">
              <a:schemeClr val="phClr">
                <a:tint val="84000"/>
                <a:satMod val="16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hueMod val="94000"/>
                <a:satMod val="130000"/>
                <a:lumMod val="128000"/>
              </a:schemeClr>
            </a:gs>
            <a:gs pos="100000">
              <a:schemeClr val="phClr">
                <a:shade val="94000"/>
                <a:lumMod val="88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tint val="76000"/>
              <a:alpha val="60000"/>
              <a:hueMod val="94000"/>
            </a:schemeClr>
          </a:solidFill>
          <a:prstDash val="solid"/>
        </a:ln>
        <a:ln w="15875" cap="rnd" cmpd="sng" algn="ctr">
          <a:solidFill>
            <a:schemeClr val="phClr">
              <a:hueMod val="94000"/>
            </a:schemeClr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innerShdw blurRad="25400" dist="12700" dir="13500000">
              <a:srgbClr val="000000">
                <a:alpha val="45000"/>
              </a:srgbClr>
            </a:innerShdw>
          </a:effectLst>
        </a:effectStyle>
        <a:effectStyle>
          <a:effectLst>
            <a:outerShdw blurRad="50800" dist="38100" dir="5400000" rotWithShape="0">
              <a:srgbClr val="000000">
                <a:alpha val="46000"/>
              </a:srgbClr>
            </a:outerShdw>
          </a:effectLst>
          <a:scene3d>
            <a:camera prst="orthographicFront">
              <a:rot lat="0" lon="0" rev="0"/>
            </a:camera>
            <a:lightRig rig="threePt" dir="t"/>
          </a:scene3d>
          <a:sp3d prstMaterial="plastic">
            <a:bevelT w="25400" h="25400"/>
          </a:sp3d>
        </a:effectStyle>
      </a:effectStyleLst>
      <a:bgFillStyleLst>
        <a:solidFill>
          <a:schemeClr val="phClr"/>
        </a:solidFill>
        <a:gradFill rotWithShape="1">
          <a:gsLst>
            <a:gs pos="10000">
              <a:schemeClr val="phClr">
                <a:tint val="97000"/>
                <a:hueMod val="92000"/>
                <a:satMod val="169000"/>
                <a:lumMod val="164000"/>
              </a:schemeClr>
            </a:gs>
            <a:gs pos="100000">
              <a:schemeClr val="phClr">
                <a:shade val="96000"/>
                <a:satMod val="120000"/>
                <a:lumMod val="90000"/>
              </a:schemeClr>
            </a:gs>
          </a:gsLst>
          <a:lin ang="6120000" scaled="1"/>
        </a:gradFill>
        <a:gradFill rotWithShape="1">
          <a:gsLst>
            <a:gs pos="0">
              <a:schemeClr val="phClr">
                <a:tint val="97000"/>
                <a:hueMod val="92000"/>
                <a:satMod val="169000"/>
                <a:lumMod val="164000"/>
              </a:schemeClr>
            </a:gs>
            <a:gs pos="100000">
              <a:schemeClr val="phClr">
                <a:shade val="96000"/>
                <a:satMod val="120000"/>
                <a:lumMod val="90000"/>
              </a:schemeClr>
            </a:gs>
          </a:gsLst>
          <a:path path="circle">
            <a:fillToRect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lice" id="{0507925B-6AC9-4358-8E18-C330545D08F8}" vid="{13FEC7C6-62A9-40C4-99D2-581AACACAA2F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Slice</Template>
  <TotalTime>1725</TotalTime>
  <Words>1833</Words>
  <Application>Microsoft Office PowerPoint</Application>
  <PresentationFormat>Widescreen</PresentationFormat>
  <Paragraphs>321</Paragraphs>
  <Slides>28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2" baseType="lpstr">
      <vt:lpstr>Arial</vt:lpstr>
      <vt:lpstr>Century Gothic</vt:lpstr>
      <vt:lpstr>Wingdings 3</vt:lpstr>
      <vt:lpstr>Slice</vt:lpstr>
      <vt:lpstr>Gsasrec: modello di raccomandazione sequenziale</vt:lpstr>
      <vt:lpstr>ESPORTAZIONE DEL MODELLO</vt:lpstr>
      <vt:lpstr>INFERENZA IN RUST</vt:lpstr>
      <vt:lpstr>REPLICAZIONE DEL MODELLO IN RUST</vt:lpstr>
      <vt:lpstr>Differenze riscontraTe</vt:lpstr>
      <vt:lpstr>TRAINING CON AMAZON ALL BEAUTY</vt:lpstr>
      <vt:lpstr>DIFFERENZE MOVIELENS 1M E AMAZON: ALL BEAUTY</vt:lpstr>
      <vt:lpstr>Data.py generalizzato</vt:lpstr>
      <vt:lpstr>implementazione in rust della creazione generica del dataset</vt:lpstr>
      <vt:lpstr>Gestione dei sanity check e del training</vt:lpstr>
      <vt:lpstr>OTTIMIZZAZIONE DEGLI IPERPARAMETRI</vt:lpstr>
      <vt:lpstr>Fine_tuning.py</vt:lpstr>
      <vt:lpstr>Range degli iperparametri</vt:lpstr>
      <vt:lpstr>MIGLIOR CONFIGURAZIONE</vt:lpstr>
      <vt:lpstr>CONFronto evaluation test</vt:lpstr>
      <vt:lpstr>DIFFERENZE DOPO IL TRAINING</vt:lpstr>
      <vt:lpstr>CONFRONTO EVALUATION TEST</vt:lpstr>
      <vt:lpstr>LOAd test con endpoint fastapi</vt:lpstr>
      <vt:lpstr>SCRIPT PYTHON E UTILITà</vt:lpstr>
      <vt:lpstr>VALORI DI CONFIGURAZIONE</vt:lpstr>
      <vt:lpstr>Risultati modello python nativo</vt:lpstr>
      <vt:lpstr>Risultati modello ONNX IN PYTHON</vt:lpstr>
      <vt:lpstr>Grafici di comparazione</vt:lpstr>
      <vt:lpstr>LOAD TEST CON BATCH SIZE pari a 32 (PYTHON NATIVO)</vt:lpstr>
      <vt:lpstr>LOAD TEST CON BATCH SIZE pari a 32 (ONNX)</vt:lpstr>
      <vt:lpstr>Grafici di comparazione</vt:lpstr>
      <vt:lpstr>INFERENZA PURA PYTHON NATIVO</vt:lpstr>
      <vt:lpstr>Grafico inferenza pura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Matteo Bognanni</dc:creator>
  <cp:lastModifiedBy>Matteo Bognanni</cp:lastModifiedBy>
  <cp:revision>39</cp:revision>
  <dcterms:created xsi:type="dcterms:W3CDTF">2026-04-14T13:26:23Z</dcterms:created>
  <dcterms:modified xsi:type="dcterms:W3CDTF">2026-05-18T09:21:26Z</dcterms:modified>
</cp:coreProperties>
</file>