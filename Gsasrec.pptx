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3" r:id="rId26"/>
    <p:sldId id="284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10 RPS – 32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144.6</c:v>
                </c:pt>
                <c:pt idx="1">
                  <c:v>107.1</c:v>
                </c:pt>
                <c:pt idx="2">
                  <c:v>262.60000000000002</c:v>
                </c:pt>
                <c:pt idx="3">
                  <c:v>298.10000000000002</c:v>
                </c:pt>
                <c:pt idx="4">
                  <c:v>362.6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9A-42C2-86AC-3D04339C79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97.4</c:v>
                </c:pt>
                <c:pt idx="1">
                  <c:v>79.8</c:v>
                </c:pt>
                <c:pt idx="2">
                  <c:v>162</c:v>
                </c:pt>
                <c:pt idx="3">
                  <c:v>191</c:v>
                </c:pt>
                <c:pt idx="4">
                  <c:v>263.5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9A-42C2-86AC-3D04339C7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50 RPS – 32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4493.5</c:v>
                </c:pt>
                <c:pt idx="1">
                  <c:v>4772.3999999999996</c:v>
                </c:pt>
                <c:pt idx="2">
                  <c:v>4867.2</c:v>
                </c:pt>
                <c:pt idx="3">
                  <c:v>4885</c:v>
                </c:pt>
                <c:pt idx="4">
                  <c:v>4917.5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F4-46D2-9E32-1BB436EA7A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4442.6000000000004</c:v>
                </c:pt>
                <c:pt idx="1">
                  <c:v>4678.3</c:v>
                </c:pt>
                <c:pt idx="2">
                  <c:v>4754</c:v>
                </c:pt>
                <c:pt idx="3">
                  <c:v>4761.8999999999996</c:v>
                </c:pt>
                <c:pt idx="4">
                  <c:v>5247.1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F4-46D2-9E32-1BB436EA7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10 RPS – 64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118.6</c:v>
                </c:pt>
                <c:pt idx="1">
                  <c:v>85.9</c:v>
                </c:pt>
                <c:pt idx="2">
                  <c:v>231.3</c:v>
                </c:pt>
                <c:pt idx="3">
                  <c:v>262.8</c:v>
                </c:pt>
                <c:pt idx="4">
                  <c:v>336.4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ED-42C5-A820-6554556EF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111.6</c:v>
                </c:pt>
                <c:pt idx="1">
                  <c:v>92.9</c:v>
                </c:pt>
                <c:pt idx="2">
                  <c:v>194</c:v>
                </c:pt>
                <c:pt idx="3">
                  <c:v>238.1</c:v>
                </c:pt>
                <c:pt idx="4">
                  <c:v>318.60000000000002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ED-42C5-A820-6554556EF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50 RPS – 64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6085.9</c:v>
                </c:pt>
                <c:pt idx="1">
                  <c:v>6557.9</c:v>
                </c:pt>
                <c:pt idx="2">
                  <c:v>6762.2</c:v>
                </c:pt>
                <c:pt idx="3">
                  <c:v>6815</c:v>
                </c:pt>
                <c:pt idx="4">
                  <c:v>7059.8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7D-4FAF-8A31-44310C5516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5910.9</c:v>
                </c:pt>
                <c:pt idx="1">
                  <c:v>6363.8</c:v>
                </c:pt>
                <c:pt idx="2">
                  <c:v>6432</c:v>
                </c:pt>
                <c:pt idx="3">
                  <c:v>6442.4</c:v>
                </c:pt>
                <c:pt idx="4">
                  <c:v>8558.5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7D-4FAF-8A31-44310C551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10 RPS – 32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4761.1000000000004</c:v>
                </c:pt>
                <c:pt idx="1">
                  <c:v>5497.1</c:v>
                </c:pt>
                <c:pt idx="2">
                  <c:v>6425.5</c:v>
                </c:pt>
                <c:pt idx="3">
                  <c:v>7769.6</c:v>
                </c:pt>
                <c:pt idx="4">
                  <c:v>8756.7000000000007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9A-42C2-86AC-3D04339C79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4379.8</c:v>
                </c:pt>
                <c:pt idx="1">
                  <c:v>4847.3999999999996</c:v>
                </c:pt>
                <c:pt idx="2">
                  <c:v>6657.7</c:v>
                </c:pt>
                <c:pt idx="3">
                  <c:v>7386.8</c:v>
                </c:pt>
                <c:pt idx="4">
                  <c:v>7883.6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9A-42C2-86AC-3D04339C7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50 RPS – 32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6239.6</c:v>
                </c:pt>
                <c:pt idx="1">
                  <c:v>6469.1</c:v>
                </c:pt>
                <c:pt idx="2">
                  <c:v>6684.9</c:v>
                </c:pt>
                <c:pt idx="3">
                  <c:v>8073.9</c:v>
                </c:pt>
                <c:pt idx="4">
                  <c:v>9480.7999999999993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F4-46D2-9E32-1BB436EA7A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6106.7</c:v>
                </c:pt>
                <c:pt idx="1">
                  <c:v>6294.7</c:v>
                </c:pt>
                <c:pt idx="2">
                  <c:v>6627.2</c:v>
                </c:pt>
                <c:pt idx="3">
                  <c:v>8255.6</c:v>
                </c:pt>
                <c:pt idx="4">
                  <c:v>9232.4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F4-46D2-9E32-1BB436EA7A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10 RPS – 64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4969.6000000000004</c:v>
                </c:pt>
                <c:pt idx="1">
                  <c:v>4855.8</c:v>
                </c:pt>
                <c:pt idx="2">
                  <c:v>10282.299999999999</c:v>
                </c:pt>
                <c:pt idx="3">
                  <c:v>12558.8</c:v>
                </c:pt>
                <c:pt idx="4">
                  <c:v>16011.5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ED-42C5-A820-6554556EF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3955.8</c:v>
                </c:pt>
                <c:pt idx="1">
                  <c:v>2879.5</c:v>
                </c:pt>
                <c:pt idx="2">
                  <c:v>7524</c:v>
                </c:pt>
                <c:pt idx="3">
                  <c:v>10077.4</c:v>
                </c:pt>
                <c:pt idx="4">
                  <c:v>14978.8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ED-42C5-A820-6554556EF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50 RPS – 64 clients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9275.2000000000007</c:v>
                </c:pt>
                <c:pt idx="1">
                  <c:v>8297.7000000000007</c:v>
                </c:pt>
                <c:pt idx="2">
                  <c:v>14084</c:v>
                </c:pt>
                <c:pt idx="3">
                  <c:v>19135.900000000001</c:v>
                </c:pt>
                <c:pt idx="4">
                  <c:v>22981.8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7D-4FAF-8A31-44310C5516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8963.2000000000007</c:v>
                </c:pt>
                <c:pt idx="1">
                  <c:v>8356.5</c:v>
                </c:pt>
                <c:pt idx="2">
                  <c:v>13454.7</c:v>
                </c:pt>
                <c:pt idx="3">
                  <c:v>17848.3</c:v>
                </c:pt>
                <c:pt idx="4">
                  <c:v>21365.5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7D-4FAF-8A31-44310C551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242784"/>
        <c:axId val="1194248544"/>
      </c:lineChart>
      <c:catAx>
        <c:axId val="11942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8544"/>
        <c:crosses val="autoZero"/>
        <c:auto val="1"/>
        <c:lblAlgn val="ctr"/>
        <c:lblOffset val="100"/>
        <c:noMultiLvlLbl val="0"/>
      </c:catAx>
      <c:valAx>
        <c:axId val="1194248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24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 err="1"/>
              <a:t>Differenze</a:t>
            </a:r>
            <a:r>
              <a:rPr lang="en-GB" dirty="0"/>
              <a:t> di </a:t>
            </a:r>
            <a:r>
              <a:rPr lang="en-GB" dirty="0" err="1"/>
              <a:t>inferenza</a:t>
            </a:r>
            <a:r>
              <a:rPr lang="en-GB" dirty="0"/>
              <a:t> a 1000 </a:t>
            </a:r>
            <a:r>
              <a:rPr lang="en-GB" dirty="0" err="1"/>
              <a:t>richieste</a:t>
            </a:r>
            <a:r>
              <a:rPr lang="en-GB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 nativo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2.57</c:v>
                </c:pt>
                <c:pt idx="1">
                  <c:v>2.37</c:v>
                </c:pt>
                <c:pt idx="2">
                  <c:v>3.3</c:v>
                </c:pt>
                <c:pt idx="3">
                  <c:v>3.52</c:v>
                </c:pt>
                <c:pt idx="4">
                  <c:v>4.4400000000000004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12-42B8-9FE7-4B6A48D16D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Onnx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Mean</c:v>
                </c:pt>
                <c:pt idx="1">
                  <c:v>p50</c:v>
                </c:pt>
                <c:pt idx="2">
                  <c:v>p90</c:v>
                </c:pt>
                <c:pt idx="3">
                  <c:v>p95</c:v>
                </c:pt>
                <c:pt idx="4">
                  <c:v>p99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1.59</c:v>
                </c:pt>
                <c:pt idx="1">
                  <c:v>1.5</c:v>
                </c:pt>
                <c:pt idx="2">
                  <c:v>1.83</c:v>
                </c:pt>
                <c:pt idx="3">
                  <c:v>2.17</c:v>
                </c:pt>
                <c:pt idx="4">
                  <c:v>2.27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12-42B8-9FE7-4B6A48D16D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4339264"/>
        <c:axId val="1194339744"/>
      </c:lineChart>
      <c:catAx>
        <c:axId val="119433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339744"/>
        <c:crosses val="autoZero"/>
        <c:auto val="1"/>
        <c:lblAlgn val="ctr"/>
        <c:lblOffset val="100"/>
        <c:noMultiLvlLbl val="0"/>
      </c:catAx>
      <c:valAx>
        <c:axId val="1194339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33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4FAF54-4DD5-4562-ADEF-4061C507916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CF7C44-91D2-4B9E-B63A-27D0A84D8AD8}">
      <dgm:prSet/>
      <dgm:spPr/>
      <dgm:t>
        <a:bodyPr/>
        <a:lstStyle/>
        <a:p>
          <a:r>
            <a:rPr lang="it-IT"/>
            <a:t>Una volta ottenuto il modello .onnx per poter usarlo in rust si è usato il crate ort e si è proceduti a:</a:t>
          </a:r>
          <a:endParaRPr lang="en-US"/>
        </a:p>
      </dgm:t>
    </dgm:pt>
    <dgm:pt modelId="{FC877633-8A9D-4257-9704-A997AA27250A}" type="parTrans" cxnId="{F02C57F1-6DE9-44FF-9021-8C60F046BC8E}">
      <dgm:prSet/>
      <dgm:spPr/>
      <dgm:t>
        <a:bodyPr/>
        <a:lstStyle/>
        <a:p>
          <a:endParaRPr lang="en-US"/>
        </a:p>
      </dgm:t>
    </dgm:pt>
    <dgm:pt modelId="{D456485A-7E27-4470-9972-6A0B84E73BB5}" type="sibTrans" cxnId="{F02C57F1-6DE9-44FF-9021-8C60F046BC8E}">
      <dgm:prSet/>
      <dgm:spPr/>
      <dgm:t>
        <a:bodyPr/>
        <a:lstStyle/>
        <a:p>
          <a:endParaRPr lang="en-US"/>
        </a:p>
      </dgm:t>
    </dgm:pt>
    <dgm:pt modelId="{EEB5B510-5341-4A97-94F6-6CEC0DA6FB19}">
      <dgm:prSet/>
      <dgm:spPr/>
      <dgm:t>
        <a:bodyPr/>
        <a:lstStyle/>
        <a:p>
          <a:r>
            <a:rPr lang="it-IT"/>
            <a:t>Importare il modello.</a:t>
          </a:r>
          <a:endParaRPr lang="en-US"/>
        </a:p>
      </dgm:t>
    </dgm:pt>
    <dgm:pt modelId="{C4CDCE5E-417A-43A7-A2A8-7FDC0AE03B03}" type="parTrans" cxnId="{BC6DDBA3-3C5C-44F1-B42B-9864E972EF6A}">
      <dgm:prSet/>
      <dgm:spPr/>
      <dgm:t>
        <a:bodyPr/>
        <a:lstStyle/>
        <a:p>
          <a:endParaRPr lang="en-US"/>
        </a:p>
      </dgm:t>
    </dgm:pt>
    <dgm:pt modelId="{0594DE58-AA13-439A-B607-C09347836EC8}" type="sibTrans" cxnId="{BC6DDBA3-3C5C-44F1-B42B-9864E972EF6A}">
      <dgm:prSet/>
      <dgm:spPr/>
      <dgm:t>
        <a:bodyPr/>
        <a:lstStyle/>
        <a:p>
          <a:endParaRPr lang="en-US"/>
        </a:p>
      </dgm:t>
    </dgm:pt>
    <dgm:pt modelId="{9C5348B7-7207-42DD-8691-3BEA70604441}">
      <dgm:prSet/>
      <dgm:spPr/>
      <dgm:t>
        <a:bodyPr/>
        <a:lstStyle/>
        <a:p>
          <a:r>
            <a:rPr lang="it-IT"/>
            <a:t>Creare un input di esempio per il test e passarlo al modello durante l’inferenza.</a:t>
          </a:r>
          <a:endParaRPr lang="en-US"/>
        </a:p>
      </dgm:t>
    </dgm:pt>
    <dgm:pt modelId="{FAD17543-D6CE-466B-9537-BD2B658170D7}" type="parTrans" cxnId="{B28034AC-A1FD-46D0-95FE-56EA896FA360}">
      <dgm:prSet/>
      <dgm:spPr/>
      <dgm:t>
        <a:bodyPr/>
        <a:lstStyle/>
        <a:p>
          <a:endParaRPr lang="en-US"/>
        </a:p>
      </dgm:t>
    </dgm:pt>
    <dgm:pt modelId="{AC0C9336-8C28-481D-9282-51EB434ED3B2}" type="sibTrans" cxnId="{B28034AC-A1FD-46D0-95FE-56EA896FA360}">
      <dgm:prSet/>
      <dgm:spPr/>
      <dgm:t>
        <a:bodyPr/>
        <a:lstStyle/>
        <a:p>
          <a:endParaRPr lang="en-US"/>
        </a:p>
      </dgm:t>
    </dgm:pt>
    <dgm:pt modelId="{E6511009-3285-4D71-AAA3-29908C8099AB}">
      <dgm:prSet/>
      <dgm:spPr/>
      <dgm:t>
        <a:bodyPr/>
        <a:lstStyle/>
        <a:p>
          <a:r>
            <a:rPr lang="it-IT"/>
            <a:t>Estrarre l’output e stamparlo a schermo.</a:t>
          </a:r>
          <a:endParaRPr lang="en-US"/>
        </a:p>
      </dgm:t>
    </dgm:pt>
    <dgm:pt modelId="{3D59BD58-E561-4B1F-B96B-E2F861D9F2ED}" type="parTrans" cxnId="{674AE2D6-6011-42AC-B3C1-69197A24E7BD}">
      <dgm:prSet/>
      <dgm:spPr/>
      <dgm:t>
        <a:bodyPr/>
        <a:lstStyle/>
        <a:p>
          <a:endParaRPr lang="en-US"/>
        </a:p>
      </dgm:t>
    </dgm:pt>
    <dgm:pt modelId="{529A0ED8-3758-4103-9193-BB5F7BB58F29}" type="sibTrans" cxnId="{674AE2D6-6011-42AC-B3C1-69197A24E7BD}">
      <dgm:prSet/>
      <dgm:spPr/>
      <dgm:t>
        <a:bodyPr/>
        <a:lstStyle/>
        <a:p>
          <a:endParaRPr lang="en-US"/>
        </a:p>
      </dgm:t>
    </dgm:pt>
    <dgm:pt modelId="{08B897DF-2324-493A-B486-2A41821E052A}" type="pres">
      <dgm:prSet presAssocID="{484FAF54-4DD5-4562-ADEF-4061C5079161}" presName="outerComposite" presStyleCnt="0">
        <dgm:presLayoutVars>
          <dgm:chMax val="5"/>
          <dgm:dir/>
          <dgm:resizeHandles val="exact"/>
        </dgm:presLayoutVars>
      </dgm:prSet>
      <dgm:spPr/>
    </dgm:pt>
    <dgm:pt modelId="{5E04A753-AE1C-4610-9CFD-C3CA074E8A43}" type="pres">
      <dgm:prSet presAssocID="{484FAF54-4DD5-4562-ADEF-4061C5079161}" presName="dummyMaxCanvas" presStyleCnt="0">
        <dgm:presLayoutVars/>
      </dgm:prSet>
      <dgm:spPr/>
    </dgm:pt>
    <dgm:pt modelId="{7415312F-545D-4359-A9FC-16A716722E58}" type="pres">
      <dgm:prSet presAssocID="{484FAF54-4DD5-4562-ADEF-4061C5079161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7236F44E-D0F4-4AFB-88D2-FAE2D21B6E57}" type="presOf" srcId="{9C5348B7-7207-42DD-8691-3BEA70604441}" destId="{7415312F-545D-4359-A9FC-16A716722E58}" srcOrd="0" destOrd="2" presId="urn:microsoft.com/office/officeart/2005/8/layout/vProcess5"/>
    <dgm:cxn modelId="{8439BD77-4D49-44A0-B958-56845E19553F}" type="presOf" srcId="{EEB5B510-5341-4A97-94F6-6CEC0DA6FB19}" destId="{7415312F-545D-4359-A9FC-16A716722E58}" srcOrd="0" destOrd="1" presId="urn:microsoft.com/office/officeart/2005/8/layout/vProcess5"/>
    <dgm:cxn modelId="{4351C180-014E-40EB-9624-775E38E05715}" type="presOf" srcId="{D8CF7C44-91D2-4B9E-B63A-27D0A84D8AD8}" destId="{7415312F-545D-4359-A9FC-16A716722E58}" srcOrd="0" destOrd="0" presId="urn:microsoft.com/office/officeart/2005/8/layout/vProcess5"/>
    <dgm:cxn modelId="{BC6DDBA3-3C5C-44F1-B42B-9864E972EF6A}" srcId="{D8CF7C44-91D2-4B9E-B63A-27D0A84D8AD8}" destId="{EEB5B510-5341-4A97-94F6-6CEC0DA6FB19}" srcOrd="0" destOrd="0" parTransId="{C4CDCE5E-417A-43A7-A2A8-7FDC0AE03B03}" sibTransId="{0594DE58-AA13-439A-B607-C09347836EC8}"/>
    <dgm:cxn modelId="{B28034AC-A1FD-46D0-95FE-56EA896FA360}" srcId="{D8CF7C44-91D2-4B9E-B63A-27D0A84D8AD8}" destId="{9C5348B7-7207-42DD-8691-3BEA70604441}" srcOrd="1" destOrd="0" parTransId="{FAD17543-D6CE-466B-9537-BD2B658170D7}" sibTransId="{AC0C9336-8C28-481D-9282-51EB434ED3B2}"/>
    <dgm:cxn modelId="{674AE2D6-6011-42AC-B3C1-69197A24E7BD}" srcId="{D8CF7C44-91D2-4B9E-B63A-27D0A84D8AD8}" destId="{E6511009-3285-4D71-AAA3-29908C8099AB}" srcOrd="2" destOrd="0" parTransId="{3D59BD58-E561-4B1F-B96B-E2F861D9F2ED}" sibTransId="{529A0ED8-3758-4103-9193-BB5F7BB58F29}"/>
    <dgm:cxn modelId="{F02C57F1-6DE9-44FF-9021-8C60F046BC8E}" srcId="{484FAF54-4DD5-4562-ADEF-4061C5079161}" destId="{D8CF7C44-91D2-4B9E-B63A-27D0A84D8AD8}" srcOrd="0" destOrd="0" parTransId="{FC877633-8A9D-4257-9704-A997AA27250A}" sibTransId="{D456485A-7E27-4470-9972-6A0B84E73BB5}"/>
    <dgm:cxn modelId="{932550FA-CE7B-47D4-BB30-636CA514D49A}" type="presOf" srcId="{E6511009-3285-4D71-AAA3-29908C8099AB}" destId="{7415312F-545D-4359-A9FC-16A716722E58}" srcOrd="0" destOrd="3" presId="urn:microsoft.com/office/officeart/2005/8/layout/vProcess5"/>
    <dgm:cxn modelId="{E74911FB-7247-4C83-824A-3DFC7297885B}" type="presOf" srcId="{484FAF54-4DD5-4562-ADEF-4061C5079161}" destId="{08B897DF-2324-493A-B486-2A41821E052A}" srcOrd="0" destOrd="0" presId="urn:microsoft.com/office/officeart/2005/8/layout/vProcess5"/>
    <dgm:cxn modelId="{44468F11-348C-4E6C-91B8-C4ED46F0FC03}" type="presParOf" srcId="{08B897DF-2324-493A-B486-2A41821E052A}" destId="{5E04A753-AE1C-4610-9CFD-C3CA074E8A43}" srcOrd="0" destOrd="0" presId="urn:microsoft.com/office/officeart/2005/8/layout/vProcess5"/>
    <dgm:cxn modelId="{2DAA3E4D-A8AB-41C7-B323-78F04930D7F7}" type="presParOf" srcId="{08B897DF-2324-493A-B486-2A41821E052A}" destId="{7415312F-545D-4359-A9FC-16A716722E58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D681B9-E15F-4975-BDAC-62B17127BE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E59EA1-FD3C-43EE-9E3C-37002B1691E0}">
      <dgm:prSet/>
      <dgm:spPr/>
      <dgm:t>
        <a:bodyPr/>
        <a:lstStyle/>
        <a:p>
          <a:r>
            <a:rPr lang="it-IT"/>
            <a:t>Per poter realizzare esattamente la stessa architettura in Rust sono state utilizzate tecniche diverse, quando necessario, soprattutto dovute alla mancanza di librerie in Rust, fra queste:</a:t>
          </a:r>
          <a:endParaRPr lang="en-US"/>
        </a:p>
      </dgm:t>
    </dgm:pt>
    <dgm:pt modelId="{8723836A-8AE7-4E1E-BF63-52F83A873A70}" type="parTrans" cxnId="{CB57734F-0A0B-49D7-B92D-B6766632150C}">
      <dgm:prSet/>
      <dgm:spPr/>
      <dgm:t>
        <a:bodyPr/>
        <a:lstStyle/>
        <a:p>
          <a:endParaRPr lang="en-US"/>
        </a:p>
      </dgm:t>
    </dgm:pt>
    <dgm:pt modelId="{1DC52F18-20F1-4CE9-BDBF-19E383067086}" type="sibTrans" cxnId="{CB57734F-0A0B-49D7-B92D-B6766632150C}">
      <dgm:prSet/>
      <dgm:spPr/>
      <dgm:t>
        <a:bodyPr/>
        <a:lstStyle/>
        <a:p>
          <a:endParaRPr lang="en-US"/>
        </a:p>
      </dgm:t>
    </dgm:pt>
    <dgm:pt modelId="{356FF831-4330-4856-88AD-2546A1A7405D}">
      <dgm:prSet/>
      <dgm:spPr/>
      <dgm:t>
        <a:bodyPr/>
        <a:lstStyle/>
        <a:p>
          <a:r>
            <a:rPr lang="en-GB"/>
            <a:t>Espansione dei tensori con singolo valore.</a:t>
          </a:r>
          <a:endParaRPr lang="en-US"/>
        </a:p>
      </dgm:t>
    </dgm:pt>
    <dgm:pt modelId="{7E06336C-4BAE-4234-A016-AF00AC46253F}" type="parTrans" cxnId="{3E6478A1-CC60-4C51-8F58-8B3526313FC8}">
      <dgm:prSet/>
      <dgm:spPr/>
      <dgm:t>
        <a:bodyPr/>
        <a:lstStyle/>
        <a:p>
          <a:endParaRPr lang="en-US"/>
        </a:p>
      </dgm:t>
    </dgm:pt>
    <dgm:pt modelId="{DA2231E3-E19F-43B2-96A9-F378B7F87826}" type="sibTrans" cxnId="{3E6478A1-CC60-4C51-8F58-8B3526313FC8}">
      <dgm:prSet/>
      <dgm:spPr/>
      <dgm:t>
        <a:bodyPr/>
        <a:lstStyle/>
        <a:p>
          <a:endParaRPr lang="en-US"/>
        </a:p>
      </dgm:t>
    </dgm:pt>
    <dgm:pt modelId="{0D4E764B-E155-4306-9B6D-45A4199FD365}">
      <dgm:prSet/>
      <dgm:spPr/>
      <dgm:t>
        <a:bodyPr/>
        <a:lstStyle/>
        <a:p>
          <a:r>
            <a:rPr lang="en-GB"/>
            <a:t>Manipolazione stringhe e allineamento in memoria.</a:t>
          </a:r>
          <a:endParaRPr lang="en-US"/>
        </a:p>
      </dgm:t>
    </dgm:pt>
    <dgm:pt modelId="{7080A8D0-0726-4CAA-BF2D-46E878758E42}" type="parTrans" cxnId="{5EDF20EC-6EBB-4112-912F-55996EDE6278}">
      <dgm:prSet/>
      <dgm:spPr/>
      <dgm:t>
        <a:bodyPr/>
        <a:lstStyle/>
        <a:p>
          <a:endParaRPr lang="en-US"/>
        </a:p>
      </dgm:t>
    </dgm:pt>
    <dgm:pt modelId="{142E74F5-01BE-4BB2-852D-019DEDA18192}" type="sibTrans" cxnId="{5EDF20EC-6EBB-4112-912F-55996EDE6278}">
      <dgm:prSet/>
      <dgm:spPr/>
      <dgm:t>
        <a:bodyPr/>
        <a:lstStyle/>
        <a:p>
          <a:endParaRPr lang="en-US"/>
        </a:p>
      </dgm:t>
    </dgm:pt>
    <dgm:pt modelId="{68C8378E-2053-4D6E-B344-6AE85E27CF5C}">
      <dgm:prSet/>
      <dgm:spPr/>
      <dgm:t>
        <a:bodyPr/>
        <a:lstStyle/>
        <a:p>
          <a:r>
            <a:rPr lang="en-GB"/>
            <a:t>Manipolazione di dimensioni e operazioni manuali, data la mancanza di einsum.</a:t>
          </a:r>
          <a:endParaRPr lang="en-US"/>
        </a:p>
      </dgm:t>
    </dgm:pt>
    <dgm:pt modelId="{AD3B876E-BD11-44D5-AADC-691DD56D09C0}" type="parTrans" cxnId="{BEAEF892-8E1E-4243-AC82-75F31C9DFD44}">
      <dgm:prSet/>
      <dgm:spPr/>
      <dgm:t>
        <a:bodyPr/>
        <a:lstStyle/>
        <a:p>
          <a:endParaRPr lang="en-US"/>
        </a:p>
      </dgm:t>
    </dgm:pt>
    <dgm:pt modelId="{AB390367-969D-4A31-861F-A46B47FA6576}" type="sibTrans" cxnId="{BEAEF892-8E1E-4243-AC82-75F31C9DFD44}">
      <dgm:prSet/>
      <dgm:spPr/>
      <dgm:t>
        <a:bodyPr/>
        <a:lstStyle/>
        <a:p>
          <a:endParaRPr lang="en-US"/>
        </a:p>
      </dgm:t>
    </dgm:pt>
    <dgm:pt modelId="{05835A59-8CCF-4E1A-A36F-975BDE82D2CA}">
      <dgm:prSet/>
      <dgm:spPr/>
      <dgm:t>
        <a:bodyPr/>
        <a:lstStyle/>
        <a:p>
          <a:r>
            <a:rPr lang="en-GB"/>
            <a:t>Binary Cross Entropy Loss specificata manualmente.</a:t>
          </a:r>
          <a:endParaRPr lang="en-US"/>
        </a:p>
      </dgm:t>
    </dgm:pt>
    <dgm:pt modelId="{390B4C5A-637B-4C7F-87A9-4BF3A9CA93CE}" type="parTrans" cxnId="{50D71684-C668-4639-B47A-EA85C630F9CF}">
      <dgm:prSet/>
      <dgm:spPr/>
      <dgm:t>
        <a:bodyPr/>
        <a:lstStyle/>
        <a:p>
          <a:endParaRPr lang="en-US"/>
        </a:p>
      </dgm:t>
    </dgm:pt>
    <dgm:pt modelId="{C01E51CB-37E5-4A3B-8264-B605341EDD24}" type="sibTrans" cxnId="{50D71684-C668-4639-B47A-EA85C630F9CF}">
      <dgm:prSet/>
      <dgm:spPr/>
      <dgm:t>
        <a:bodyPr/>
        <a:lstStyle/>
        <a:p>
          <a:endParaRPr lang="en-US"/>
        </a:p>
      </dgm:t>
    </dgm:pt>
    <dgm:pt modelId="{5418D9DE-B361-42B2-8B04-9F4F8083ED52}">
      <dgm:prSet/>
      <dgm:spPr/>
      <dgm:t>
        <a:bodyPr/>
        <a:lstStyle/>
        <a:p>
          <a:r>
            <a:rPr lang="en-GB"/>
            <a:t>Metriche specificate manualmente.</a:t>
          </a:r>
          <a:endParaRPr lang="en-US"/>
        </a:p>
      </dgm:t>
    </dgm:pt>
    <dgm:pt modelId="{17B9C53D-A719-4925-9116-C9EB809CEFF4}" type="parTrans" cxnId="{8AEEBCDA-8A9B-497A-85BD-2AD10F96DA27}">
      <dgm:prSet/>
      <dgm:spPr/>
      <dgm:t>
        <a:bodyPr/>
        <a:lstStyle/>
        <a:p>
          <a:endParaRPr lang="en-US"/>
        </a:p>
      </dgm:t>
    </dgm:pt>
    <dgm:pt modelId="{6895EEDC-1E8D-4B69-9002-63DE55F99F35}" type="sibTrans" cxnId="{8AEEBCDA-8A9B-497A-85BD-2AD10F96DA27}">
      <dgm:prSet/>
      <dgm:spPr/>
      <dgm:t>
        <a:bodyPr/>
        <a:lstStyle/>
        <a:p>
          <a:endParaRPr lang="en-US"/>
        </a:p>
      </dgm:t>
    </dgm:pt>
    <dgm:pt modelId="{C33C38D8-3F0A-4C5B-BA37-91AE3D087A64}" type="pres">
      <dgm:prSet presAssocID="{B3D681B9-E15F-4975-BDAC-62B17127BEEF}" presName="linear" presStyleCnt="0">
        <dgm:presLayoutVars>
          <dgm:animLvl val="lvl"/>
          <dgm:resizeHandles val="exact"/>
        </dgm:presLayoutVars>
      </dgm:prSet>
      <dgm:spPr/>
    </dgm:pt>
    <dgm:pt modelId="{2B7730E4-FF75-4880-A943-C8BAA5DAF2EF}" type="pres">
      <dgm:prSet presAssocID="{E1E59EA1-FD3C-43EE-9E3C-37002B1691E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50CEC8E-E9F5-4E73-B9EE-FD43CC9DA5B5}" type="pres">
      <dgm:prSet presAssocID="{E1E59EA1-FD3C-43EE-9E3C-37002B1691E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956ED3E-4AF2-4E14-A5C3-CBB1863C1EEB}" type="presOf" srcId="{05835A59-8CCF-4E1A-A36F-975BDE82D2CA}" destId="{350CEC8E-E9F5-4E73-B9EE-FD43CC9DA5B5}" srcOrd="0" destOrd="3" presId="urn:microsoft.com/office/officeart/2005/8/layout/vList2"/>
    <dgm:cxn modelId="{A477B965-E214-47E4-9780-D9A68C369804}" type="presOf" srcId="{68C8378E-2053-4D6E-B344-6AE85E27CF5C}" destId="{350CEC8E-E9F5-4E73-B9EE-FD43CC9DA5B5}" srcOrd="0" destOrd="2" presId="urn:microsoft.com/office/officeart/2005/8/layout/vList2"/>
    <dgm:cxn modelId="{E581D14D-C37A-461E-B13D-6AFAB8863C37}" type="presOf" srcId="{356FF831-4330-4856-88AD-2546A1A7405D}" destId="{350CEC8E-E9F5-4E73-B9EE-FD43CC9DA5B5}" srcOrd="0" destOrd="0" presId="urn:microsoft.com/office/officeart/2005/8/layout/vList2"/>
    <dgm:cxn modelId="{CB57734F-0A0B-49D7-B92D-B6766632150C}" srcId="{B3D681B9-E15F-4975-BDAC-62B17127BEEF}" destId="{E1E59EA1-FD3C-43EE-9E3C-37002B1691E0}" srcOrd="0" destOrd="0" parTransId="{8723836A-8AE7-4E1E-BF63-52F83A873A70}" sibTransId="{1DC52F18-20F1-4CE9-BDBF-19E383067086}"/>
    <dgm:cxn modelId="{8D596156-8C22-4516-ABA0-66BE5E572EE3}" type="presOf" srcId="{0D4E764B-E155-4306-9B6D-45A4199FD365}" destId="{350CEC8E-E9F5-4E73-B9EE-FD43CC9DA5B5}" srcOrd="0" destOrd="1" presId="urn:microsoft.com/office/officeart/2005/8/layout/vList2"/>
    <dgm:cxn modelId="{5669E582-0B48-49EA-B89E-EEF46377EDE6}" type="presOf" srcId="{E1E59EA1-FD3C-43EE-9E3C-37002B1691E0}" destId="{2B7730E4-FF75-4880-A943-C8BAA5DAF2EF}" srcOrd="0" destOrd="0" presId="urn:microsoft.com/office/officeart/2005/8/layout/vList2"/>
    <dgm:cxn modelId="{50D71684-C668-4639-B47A-EA85C630F9CF}" srcId="{E1E59EA1-FD3C-43EE-9E3C-37002B1691E0}" destId="{05835A59-8CCF-4E1A-A36F-975BDE82D2CA}" srcOrd="3" destOrd="0" parTransId="{390B4C5A-637B-4C7F-87A9-4BF3A9CA93CE}" sibTransId="{C01E51CB-37E5-4A3B-8264-B605341EDD24}"/>
    <dgm:cxn modelId="{BEAEF892-8E1E-4243-AC82-75F31C9DFD44}" srcId="{E1E59EA1-FD3C-43EE-9E3C-37002B1691E0}" destId="{68C8378E-2053-4D6E-B344-6AE85E27CF5C}" srcOrd="2" destOrd="0" parTransId="{AD3B876E-BD11-44D5-AADC-691DD56D09C0}" sibTransId="{AB390367-969D-4A31-861F-A46B47FA6576}"/>
    <dgm:cxn modelId="{3E6478A1-CC60-4C51-8F58-8B3526313FC8}" srcId="{E1E59EA1-FD3C-43EE-9E3C-37002B1691E0}" destId="{356FF831-4330-4856-88AD-2546A1A7405D}" srcOrd="0" destOrd="0" parTransId="{7E06336C-4BAE-4234-A016-AF00AC46253F}" sibTransId="{DA2231E3-E19F-43B2-96A9-F378B7F87826}"/>
    <dgm:cxn modelId="{D5B5F3D0-E92B-4A3D-A06D-8BC410DD7F2D}" type="presOf" srcId="{B3D681B9-E15F-4975-BDAC-62B17127BEEF}" destId="{C33C38D8-3F0A-4C5B-BA37-91AE3D087A64}" srcOrd="0" destOrd="0" presId="urn:microsoft.com/office/officeart/2005/8/layout/vList2"/>
    <dgm:cxn modelId="{8AEEBCDA-8A9B-497A-85BD-2AD10F96DA27}" srcId="{E1E59EA1-FD3C-43EE-9E3C-37002B1691E0}" destId="{5418D9DE-B361-42B2-8B04-9F4F8083ED52}" srcOrd="4" destOrd="0" parTransId="{17B9C53D-A719-4925-9116-C9EB809CEFF4}" sibTransId="{6895EEDC-1E8D-4B69-9002-63DE55F99F35}"/>
    <dgm:cxn modelId="{5EDF20EC-6EBB-4112-912F-55996EDE6278}" srcId="{E1E59EA1-FD3C-43EE-9E3C-37002B1691E0}" destId="{0D4E764B-E155-4306-9B6D-45A4199FD365}" srcOrd="1" destOrd="0" parTransId="{7080A8D0-0726-4CAA-BF2D-46E878758E42}" sibTransId="{142E74F5-01BE-4BB2-852D-019DEDA18192}"/>
    <dgm:cxn modelId="{0C29DDF5-0943-4E6A-8F17-271FFB05ABEF}" type="presOf" srcId="{5418D9DE-B361-42B2-8B04-9F4F8083ED52}" destId="{350CEC8E-E9F5-4E73-B9EE-FD43CC9DA5B5}" srcOrd="0" destOrd="4" presId="urn:microsoft.com/office/officeart/2005/8/layout/vList2"/>
    <dgm:cxn modelId="{87B306F9-25D8-4274-9F59-38CCC3F518E4}" type="presParOf" srcId="{C33C38D8-3F0A-4C5B-BA37-91AE3D087A64}" destId="{2B7730E4-FF75-4880-A943-C8BAA5DAF2EF}" srcOrd="0" destOrd="0" presId="urn:microsoft.com/office/officeart/2005/8/layout/vList2"/>
    <dgm:cxn modelId="{C1453534-7490-4AEB-BCD0-9CFAE4B9AA5B}" type="presParOf" srcId="{C33C38D8-3F0A-4C5B-BA37-91AE3D087A64}" destId="{350CEC8E-E9F5-4E73-B9EE-FD43CC9DA5B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5312F-545D-4359-A9FC-16A716722E58}">
      <dsp:nvSpPr>
        <dsp:cNvPr id="0" name=""/>
        <dsp:cNvSpPr/>
      </dsp:nvSpPr>
      <dsp:spPr>
        <a:xfrm>
          <a:off x="0" y="903816"/>
          <a:ext cx="8534400" cy="1807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/>
            <a:t>Una volta ottenuto il modello .onnx per poter usarlo in rust si è usato il crate ort e si è proceduti a: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600" kern="1200"/>
            <a:t>Importare il modello.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600" kern="1200"/>
            <a:t>Creare un input di esempio per il test e passarlo al modello durante l’inferenza.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600" kern="1200"/>
            <a:t>Estrarre l’output e stamparlo a schermo.</a:t>
          </a:r>
          <a:endParaRPr lang="en-US" sz="1600" kern="1200"/>
        </a:p>
      </dsp:txBody>
      <dsp:txXfrm>
        <a:off x="52944" y="956760"/>
        <a:ext cx="8428512" cy="1701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7730E4-FF75-4880-A943-C8BAA5DAF2EF}">
      <dsp:nvSpPr>
        <dsp:cNvPr id="0" name=""/>
        <dsp:cNvSpPr/>
      </dsp:nvSpPr>
      <dsp:spPr>
        <a:xfrm>
          <a:off x="0" y="82288"/>
          <a:ext cx="8534400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Per poter realizzare esattamente la stessa architettura in Rust sono state utilizzate tecniche diverse, quando necessario, soprattutto dovute alla mancanza di librerie in Rust, fra queste:</a:t>
          </a:r>
          <a:endParaRPr lang="en-US" sz="2300" kern="1200"/>
        </a:p>
      </dsp:txBody>
      <dsp:txXfrm>
        <a:off x="80132" y="162420"/>
        <a:ext cx="8374136" cy="1481245"/>
      </dsp:txXfrm>
    </dsp:sp>
    <dsp:sp modelId="{350CEC8E-E9F5-4E73-B9EE-FD43CC9DA5B5}">
      <dsp:nvSpPr>
        <dsp:cNvPr id="0" name=""/>
        <dsp:cNvSpPr/>
      </dsp:nvSpPr>
      <dsp:spPr>
        <a:xfrm>
          <a:off x="0" y="1723798"/>
          <a:ext cx="8534400" cy="180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Espansione dei tensori con singolo valore.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Manipolazione stringhe e allineamento in memoria.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Manipolazione di dimensioni e operazioni manuali, data la mancanza di einsum.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Binary Cross Entropy Loss specificata manualmente.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Metriche specificate manualmente.</a:t>
          </a:r>
          <a:endParaRPr lang="en-US" sz="1800" kern="1200"/>
        </a:p>
      </dsp:txBody>
      <dsp:txXfrm>
        <a:off x="0" y="1723798"/>
        <a:ext cx="8534400" cy="1809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11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90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722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17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91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11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53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43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29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62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516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318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23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1192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91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100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99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42CECD3-3569-4D6E-AA1B-67789CA6B4B3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B76CC4B-E144-4E39-896C-007A1FA960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4512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ECC8-7CF2-F5EC-537B-618D889B1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Gsasrec: modello di raccomandazione sequenziale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68DDE-7BDC-4B0A-9910-84F2E5322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Da Python a Rust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840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E1411-6A86-DF1E-8A42-AB381FF8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ESPORTAZIONE DEL MODELLO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1CD2-50DE-0241-7843-CE0E80CFB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Uso della libreria ONNX, tramite: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tx1"/>
                </a:solidFill>
              </a:rPr>
              <a:t>export_model</a:t>
            </a:r>
            <a:r>
              <a:rPr lang="it-IT" dirty="0">
                <a:solidFill>
                  <a:schemeClr val="tx1"/>
                </a:solidFill>
              </a:rPr>
              <a:t>(): funzione per l’esportazione del modello.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tx1"/>
                </a:solidFill>
              </a:rPr>
              <a:t>ModelWrapper</a:t>
            </a:r>
            <a:r>
              <a:rPr lang="it-IT" dirty="0">
                <a:solidFill>
                  <a:schemeClr val="tx1"/>
                </a:solidFill>
              </a:rPr>
              <a:t>: classe per racchiudere il modello in un </a:t>
            </a:r>
            <a:r>
              <a:rPr lang="it-IT">
                <a:solidFill>
                  <a:schemeClr val="tx1"/>
                </a:solidFill>
              </a:rPr>
              <a:t>wrapper</a:t>
            </a:r>
            <a:r>
              <a:rPr lang="it-IT" dirty="0">
                <a:solidFill>
                  <a:schemeClr val="tx1"/>
                </a:solidFill>
              </a:rPr>
              <a:t> che permettesse di fare inferenza in Rust, ottenendo direttamente i risultati.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77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3B6-E834-FB6D-8C7B-8FDE246A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INFERENZA IN RUST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52C4CE-C471-B81C-405C-4285852C20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2" y="685800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823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CD3D9-7742-EAF7-9302-1F096FD8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it-IT"/>
              <a:t>REPLICAZIONE DEL </a:t>
            </a:r>
            <a:r>
              <a:rPr lang="it-IT" dirty="0"/>
              <a:t>MODELLO IN RUST</a:t>
            </a:r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9C57-8564-E69B-7F54-8DC0EC3F5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Utilizzare </a:t>
            </a:r>
            <a:r>
              <a:rPr lang="it-IT">
                <a:solidFill>
                  <a:schemeClr val="tx1"/>
                </a:solidFill>
              </a:rPr>
              <a:t>Candle</a:t>
            </a:r>
            <a:r>
              <a:rPr lang="it-IT" dirty="0">
                <a:solidFill>
                  <a:schemeClr val="tx1"/>
                </a:solidFill>
              </a:rPr>
              <a:t> per poter replicare le funzionalità di </a:t>
            </a:r>
            <a:r>
              <a:rPr lang="it-IT">
                <a:solidFill>
                  <a:schemeClr val="tx1"/>
                </a:solidFill>
              </a:rPr>
              <a:t>GSASRec</a:t>
            </a:r>
            <a:r>
              <a:rPr lang="it-IT" dirty="0">
                <a:solidFill>
                  <a:schemeClr val="tx1"/>
                </a:solidFill>
              </a:rPr>
              <a:t>, considerando diversi moduli per:</a:t>
            </a:r>
          </a:p>
          <a:p>
            <a:r>
              <a:rPr lang="it-IT" dirty="0">
                <a:solidFill>
                  <a:schemeClr val="tx1"/>
                </a:solidFill>
              </a:rPr>
              <a:t>Ottenere i dati per l’input e per l’output a partire dai dati </a:t>
            </a:r>
            <a:r>
              <a:rPr lang="it-IT">
                <a:solidFill>
                  <a:schemeClr val="tx1"/>
                </a:solidFill>
              </a:rPr>
              <a:t>pre</a:t>
            </a:r>
            <a:r>
              <a:rPr lang="it-IT" dirty="0">
                <a:solidFill>
                  <a:schemeClr val="tx1"/>
                </a:solidFill>
              </a:rPr>
              <a:t>-elaborati del dataset </a:t>
            </a:r>
            <a:r>
              <a:rPr lang="it-IT">
                <a:solidFill>
                  <a:schemeClr val="tx1"/>
                </a:solidFill>
              </a:rPr>
              <a:t>MovieLens</a:t>
            </a:r>
            <a:r>
              <a:rPr lang="it-IT" dirty="0">
                <a:solidFill>
                  <a:schemeClr val="tx1"/>
                </a:solidFill>
              </a:rPr>
              <a:t> 1M.</a:t>
            </a:r>
          </a:p>
          <a:p>
            <a:r>
              <a:rPr lang="it-IT" dirty="0">
                <a:solidFill>
                  <a:schemeClr val="tx1"/>
                </a:solidFill>
              </a:rPr>
              <a:t>Impostare la configurazione del modello</a:t>
            </a:r>
          </a:p>
          <a:p>
            <a:r>
              <a:rPr lang="it-IT" dirty="0">
                <a:solidFill>
                  <a:schemeClr val="tx1"/>
                </a:solidFill>
              </a:rPr>
              <a:t>Progettare i transformer </a:t>
            </a:r>
            <a:r>
              <a:rPr lang="it-IT">
                <a:solidFill>
                  <a:schemeClr val="tx1"/>
                </a:solidFill>
              </a:rPr>
              <a:t>block</a:t>
            </a:r>
            <a:r>
              <a:rPr lang="it-IT" dirty="0">
                <a:solidFill>
                  <a:schemeClr val="tx1"/>
                </a:solidFill>
              </a:rPr>
              <a:t>, componenti del modello stesso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r>
              <a:rPr lang="en-GB">
                <a:solidFill>
                  <a:schemeClr val="tx1"/>
                </a:solidFill>
              </a:rPr>
              <a:t>Sviluppare</a:t>
            </a:r>
            <a:r>
              <a:rPr lang="en-GB" dirty="0">
                <a:solidFill>
                  <a:schemeClr val="tx1"/>
                </a:solidFill>
              </a:rPr>
              <a:t> il </a:t>
            </a:r>
            <a:r>
              <a:rPr lang="en-GB">
                <a:solidFill>
                  <a:schemeClr val="tx1"/>
                </a:solidFill>
              </a:rPr>
              <a:t>modello</a:t>
            </a:r>
            <a:r>
              <a:rPr lang="en-GB" dirty="0">
                <a:solidFill>
                  <a:schemeClr val="tx1"/>
                </a:solidFill>
              </a:rPr>
              <a:t> finale in </a:t>
            </a:r>
            <a:r>
              <a:rPr lang="en-GB">
                <a:solidFill>
                  <a:schemeClr val="tx1"/>
                </a:solidFill>
              </a:rPr>
              <a:t>grado</a:t>
            </a:r>
            <a:r>
              <a:rPr lang="en-GB" dirty="0">
                <a:solidFill>
                  <a:schemeClr val="tx1"/>
                </a:solidFill>
              </a:rPr>
              <a:t> di </a:t>
            </a:r>
            <a:r>
              <a:rPr lang="en-GB">
                <a:solidFill>
                  <a:schemeClr val="tx1"/>
                </a:solidFill>
              </a:rPr>
              <a:t>restituire</a:t>
            </a:r>
            <a:r>
              <a:rPr lang="en-GB" dirty="0">
                <a:solidFill>
                  <a:schemeClr val="tx1"/>
                </a:solidFill>
              </a:rPr>
              <a:t> le </a:t>
            </a:r>
            <a:r>
              <a:rPr lang="en-GB">
                <a:solidFill>
                  <a:schemeClr val="tx1"/>
                </a:solidFill>
              </a:rPr>
              <a:t>risposte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1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562-9200-6B06-79DD-5FB4111A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Differenze </a:t>
            </a:r>
            <a:r>
              <a:rPr lang="it-IT" dirty="0" err="1"/>
              <a:t>riscontraTe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414C01-EA80-F170-449D-27F03734FB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4212" y="685800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08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0011C-6B98-DFE0-47EA-CC24EF77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TRAINING CON AMAZON ALL BEAUTY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80315-1648-4B63-279B-4F9AB5153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Sia il modello basato su BPR che il </a:t>
            </a:r>
            <a:r>
              <a:rPr lang="it-IT">
                <a:solidFill>
                  <a:schemeClr val="tx1"/>
                </a:solidFill>
              </a:rPr>
              <a:t>gSASRec</a:t>
            </a:r>
            <a:r>
              <a:rPr lang="it-IT" dirty="0">
                <a:solidFill>
                  <a:schemeClr val="tx1"/>
                </a:solidFill>
              </a:rPr>
              <a:t> sono stati allenati con il </a:t>
            </a:r>
            <a:r>
              <a:rPr lang="it-IT">
                <a:solidFill>
                  <a:schemeClr val="tx1"/>
                </a:solidFill>
              </a:rPr>
              <a:t>MovieLens</a:t>
            </a:r>
            <a:r>
              <a:rPr lang="it-IT" dirty="0">
                <a:solidFill>
                  <a:schemeClr val="tx1"/>
                </a:solidFill>
              </a:rPr>
              <a:t> 1M, per permettere l’utilizzo di </a:t>
            </a:r>
            <a:r>
              <a:rPr lang="it-IT">
                <a:solidFill>
                  <a:schemeClr val="tx1"/>
                </a:solidFill>
              </a:rPr>
              <a:t>Amazon:All</a:t>
            </a:r>
            <a:r>
              <a:rPr lang="it-IT" dirty="0">
                <a:solidFill>
                  <a:schemeClr val="tx1"/>
                </a:solidFill>
              </a:rPr>
              <a:t> Beauty è stato necessario:</a:t>
            </a:r>
          </a:p>
          <a:p>
            <a:r>
              <a:rPr lang="en-GB">
                <a:solidFill>
                  <a:schemeClr val="tx1"/>
                </a:solidFill>
              </a:rPr>
              <a:t>Generalizzare</a:t>
            </a:r>
            <a:r>
              <a:rPr lang="en-GB" dirty="0">
                <a:solidFill>
                  <a:schemeClr val="tx1"/>
                </a:solidFill>
              </a:rPr>
              <a:t> la </a:t>
            </a:r>
            <a:r>
              <a:rPr lang="en-GB">
                <a:solidFill>
                  <a:schemeClr val="tx1"/>
                </a:solidFill>
              </a:rPr>
              <a:t>creazione</a:t>
            </a:r>
            <a:r>
              <a:rPr lang="en-GB" dirty="0">
                <a:solidFill>
                  <a:schemeClr val="tx1"/>
                </a:solidFill>
              </a:rPr>
              <a:t> del dataset a </a:t>
            </a:r>
            <a:r>
              <a:rPr lang="en-GB">
                <a:solidFill>
                  <a:schemeClr val="tx1"/>
                </a:solidFill>
              </a:rPr>
              <a:t>partire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dai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dati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r>
              <a:rPr lang="en-GB">
                <a:solidFill>
                  <a:schemeClr val="tx1"/>
                </a:solidFill>
              </a:rPr>
              <a:t>Modificare</a:t>
            </a:r>
            <a:r>
              <a:rPr lang="en-GB" dirty="0">
                <a:solidFill>
                  <a:schemeClr val="tx1"/>
                </a:solidFill>
              </a:rPr>
              <a:t> la </a:t>
            </a:r>
            <a:r>
              <a:rPr lang="en-GB">
                <a:solidFill>
                  <a:schemeClr val="tx1"/>
                </a:solidFill>
              </a:rPr>
              <a:t>fase</a:t>
            </a:r>
            <a:r>
              <a:rPr lang="en-GB" dirty="0">
                <a:solidFill>
                  <a:schemeClr val="tx1"/>
                </a:solidFill>
              </a:rPr>
              <a:t> di training, </a:t>
            </a:r>
            <a:r>
              <a:rPr lang="en-GB">
                <a:solidFill>
                  <a:schemeClr val="tx1"/>
                </a:solidFill>
              </a:rPr>
              <a:t>permettendo</a:t>
            </a:r>
            <a:r>
              <a:rPr lang="en-GB" dirty="0">
                <a:solidFill>
                  <a:schemeClr val="tx1"/>
                </a:solidFill>
              </a:rPr>
              <a:t> di </a:t>
            </a:r>
            <a:r>
              <a:rPr lang="en-GB">
                <a:solidFill>
                  <a:schemeClr val="tx1"/>
                </a:solidFill>
              </a:rPr>
              <a:t>specificare</a:t>
            </a:r>
            <a:r>
              <a:rPr lang="en-GB" dirty="0">
                <a:solidFill>
                  <a:schemeClr val="tx1"/>
                </a:solidFill>
              </a:rPr>
              <a:t> il dataset e </a:t>
            </a:r>
            <a:r>
              <a:rPr lang="en-GB">
                <a:solidFill>
                  <a:schemeClr val="tx1"/>
                </a:solidFill>
              </a:rPr>
              <a:t>comportandosi</a:t>
            </a:r>
            <a:r>
              <a:rPr lang="en-GB" dirty="0">
                <a:solidFill>
                  <a:schemeClr val="tx1"/>
                </a:solidFill>
              </a:rPr>
              <a:t> di </a:t>
            </a:r>
            <a:r>
              <a:rPr lang="en-GB">
                <a:solidFill>
                  <a:schemeClr val="tx1"/>
                </a:solidFill>
              </a:rPr>
              <a:t>conseguenza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182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ED4F-0F95-CEF3-0E15-8F0911D4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DIFFERENZE MOVIELENS 1M E AMAZON: ALL BEAUTY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9BC5-67B0-548C-C5DB-E9EF87C9E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75752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it-IT">
                <a:solidFill>
                  <a:schemeClr val="tx1"/>
                </a:solidFill>
              </a:rPr>
              <a:t>In precedenza si è impostata la creazione del dataset a partire da MovieLens considerando User e Item Id interi e file .csv. Amazon: All Beauty presenta un singolo file .jsonl con tutte le interazioni, Item (ASIN) e User ID come stringe e un file ulteriore con i meta dati (tra cui il titolo).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744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641A8-174E-3D35-84CE-9A111388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Data.py generalizzato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201C-C794-A16E-4042-CBE571A5B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it-IT" dirty="0">
                <a:solidFill>
                  <a:schemeClr val="tx1"/>
                </a:solidFill>
              </a:rPr>
              <a:t>Per poter permettere al modello di essere allenato sia su uno che sull’altro dataset, mantenendo la stessa logica in fase di training e valutazione si è deciso di: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</a:rPr>
              <a:t>Creare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una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classe</a:t>
            </a:r>
            <a:r>
              <a:rPr lang="en-GB" dirty="0">
                <a:solidFill>
                  <a:schemeClr val="tx1"/>
                </a:solidFill>
              </a:rPr>
              <a:t> padre BaseRecSysData </a:t>
            </a:r>
            <a:r>
              <a:rPr lang="en-GB" dirty="0" err="1">
                <a:solidFill>
                  <a:schemeClr val="tx1"/>
                </a:solidFill>
              </a:rPr>
              <a:t>che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contenesse</a:t>
            </a:r>
            <a:r>
              <a:rPr lang="en-GB" dirty="0">
                <a:solidFill>
                  <a:schemeClr val="tx1"/>
                </a:solidFill>
              </a:rPr>
              <a:t> la </a:t>
            </a:r>
            <a:r>
              <a:rPr lang="en-GB" dirty="0" err="1">
                <a:solidFill>
                  <a:schemeClr val="tx1"/>
                </a:solidFill>
              </a:rPr>
              <a:t>logica</a:t>
            </a:r>
            <a:r>
              <a:rPr lang="en-GB" dirty="0">
                <a:solidFill>
                  <a:schemeClr val="tx1"/>
                </a:solidFill>
              </a:rPr>
              <a:t> per </a:t>
            </a:r>
            <a:r>
              <a:rPr lang="en-GB" dirty="0" err="1">
                <a:solidFill>
                  <a:schemeClr val="tx1"/>
                </a:solidFill>
              </a:rPr>
              <a:t>ottenere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batch.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</a:rPr>
              <a:t>Creare</a:t>
            </a:r>
            <a:r>
              <a:rPr lang="en-GB" dirty="0">
                <a:solidFill>
                  <a:schemeClr val="tx1"/>
                </a:solidFill>
              </a:rPr>
              <a:t> due </a:t>
            </a:r>
            <a:r>
              <a:rPr lang="en-GB" dirty="0" err="1">
                <a:solidFill>
                  <a:schemeClr val="tx1"/>
                </a:solidFill>
              </a:rPr>
              <a:t>classi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figlie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specifiche</a:t>
            </a:r>
            <a:r>
              <a:rPr lang="en-GB" dirty="0">
                <a:solidFill>
                  <a:schemeClr val="tx1"/>
                </a:solidFill>
              </a:rPr>
              <a:t> in base ai </a:t>
            </a:r>
            <a:r>
              <a:rPr lang="en-GB" dirty="0" err="1">
                <a:solidFill>
                  <a:schemeClr val="tx1"/>
                </a:solidFill>
              </a:rPr>
              <a:t>dati</a:t>
            </a:r>
            <a:r>
              <a:rPr lang="en-GB" dirty="0">
                <a:solidFill>
                  <a:schemeClr val="tx1"/>
                </a:solidFill>
              </a:rPr>
              <a:t> (</a:t>
            </a:r>
            <a:r>
              <a:rPr lang="en-GB" dirty="0" err="1">
                <a:solidFill>
                  <a:schemeClr val="tx1"/>
                </a:solidFill>
              </a:rPr>
              <a:t>MovieLensData</a:t>
            </a:r>
            <a:r>
              <a:rPr lang="en-GB" dirty="0">
                <a:solidFill>
                  <a:schemeClr val="tx1"/>
                </a:solidFill>
              </a:rPr>
              <a:t> e </a:t>
            </a:r>
            <a:r>
              <a:rPr lang="en-GB" dirty="0" err="1">
                <a:solidFill>
                  <a:schemeClr val="tx1"/>
                </a:solidFill>
              </a:rPr>
              <a:t>AmazonBeautyData</a:t>
            </a:r>
            <a:r>
              <a:rPr lang="en-GB" dirty="0">
                <a:solidFill>
                  <a:schemeClr val="tx1"/>
                </a:solidFill>
              </a:rPr>
              <a:t>), ma </a:t>
            </a:r>
            <a:r>
              <a:rPr lang="en-GB" dirty="0" err="1">
                <a:solidFill>
                  <a:schemeClr val="tx1"/>
                </a:solidFill>
              </a:rPr>
              <a:t>che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presentassero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variabili</a:t>
            </a:r>
            <a:r>
              <a:rPr lang="en-GB" dirty="0">
                <a:solidFill>
                  <a:schemeClr val="tx1"/>
                </a:solidFill>
              </a:rPr>
              <a:t> di mapping </a:t>
            </a:r>
            <a:r>
              <a:rPr lang="en-GB" dirty="0" err="1">
                <a:solidFill>
                  <a:schemeClr val="tx1"/>
                </a:solidFill>
              </a:rPr>
              <a:t>che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partissero</a:t>
            </a:r>
            <a:r>
              <a:rPr lang="en-GB" dirty="0">
                <a:solidFill>
                  <a:schemeClr val="tx1"/>
                </a:solidFill>
              </a:rPr>
              <a:t> sempre da </a:t>
            </a:r>
            <a:r>
              <a:rPr lang="en-GB" dirty="0" err="1">
                <a:solidFill>
                  <a:schemeClr val="tx1"/>
                </a:solidFill>
              </a:rPr>
              <a:t>stringhe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</a:rPr>
              <a:t>Dare la </a:t>
            </a:r>
            <a:r>
              <a:rPr lang="en-GB" dirty="0" err="1">
                <a:solidFill>
                  <a:schemeClr val="tx1"/>
                </a:solidFill>
              </a:rPr>
              <a:t>possibilità</a:t>
            </a:r>
            <a:r>
              <a:rPr lang="en-GB" dirty="0">
                <a:solidFill>
                  <a:schemeClr val="tx1"/>
                </a:solidFill>
              </a:rPr>
              <a:t> di </a:t>
            </a:r>
            <a:r>
              <a:rPr lang="en-GB" dirty="0" err="1">
                <a:solidFill>
                  <a:schemeClr val="tx1"/>
                </a:solidFill>
              </a:rPr>
              <a:t>scegliere</a:t>
            </a:r>
            <a:r>
              <a:rPr lang="en-GB" dirty="0">
                <a:solidFill>
                  <a:schemeClr val="tx1"/>
                </a:solidFill>
              </a:rPr>
              <a:t> da </a:t>
            </a:r>
            <a:r>
              <a:rPr lang="en-GB" dirty="0" err="1">
                <a:solidFill>
                  <a:schemeClr val="tx1"/>
                </a:solidFill>
              </a:rPr>
              <a:t>linea</a:t>
            </a:r>
            <a:r>
              <a:rPr lang="en-GB" dirty="0">
                <a:solidFill>
                  <a:schemeClr val="tx1"/>
                </a:solidFill>
              </a:rPr>
              <a:t> di </a:t>
            </a:r>
            <a:r>
              <a:rPr lang="en-GB" dirty="0" err="1">
                <a:solidFill>
                  <a:schemeClr val="tx1"/>
                </a:solidFill>
              </a:rPr>
              <a:t>comando</a:t>
            </a:r>
            <a:r>
              <a:rPr lang="en-GB" dirty="0">
                <a:solidFill>
                  <a:schemeClr val="tx1"/>
                </a:solidFill>
              </a:rPr>
              <a:t>, </a:t>
            </a:r>
            <a:r>
              <a:rPr lang="en-GB" dirty="0" err="1">
                <a:solidFill>
                  <a:schemeClr val="tx1"/>
                </a:solidFill>
              </a:rPr>
              <a:t>all’esecuzione</a:t>
            </a:r>
            <a:r>
              <a:rPr lang="en-GB" dirty="0">
                <a:solidFill>
                  <a:schemeClr val="tx1"/>
                </a:solidFill>
              </a:rPr>
              <a:t> del main, il dataset da </a:t>
            </a:r>
            <a:r>
              <a:rPr lang="en-GB" dirty="0" err="1">
                <a:solidFill>
                  <a:schemeClr val="tx1"/>
                </a:solidFill>
              </a:rPr>
              <a:t>utilizzare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</a:rPr>
              <a:t>Generalizzare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sanity check.</a:t>
            </a:r>
          </a:p>
        </p:txBody>
      </p:sp>
    </p:spTree>
    <p:extLst>
      <p:ext uri="{BB962C8B-B14F-4D97-AF65-F5344CB8AC3E}">
        <p14:creationId xmlns:p14="http://schemas.microsoft.com/office/powerpoint/2010/main" val="108889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7DDA-F500-A431-CD56-C5435F5C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implementazione in rust della creazione generica del dataset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13C98-459C-488E-5D20-2B84605E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>
                <a:solidFill>
                  <a:schemeClr val="tx1"/>
                </a:solidFill>
              </a:rPr>
              <a:t>In data.rs si è mantenuta la stessa logica di creazione del dataset precedente, con alcune modifiche per consentire la scelta dei dati da usare per il training e la valutazione:</a:t>
            </a:r>
          </a:p>
          <a:p>
            <a:r>
              <a:rPr lang="it-IT">
                <a:solidFill>
                  <a:schemeClr val="tx1"/>
                </a:solidFill>
              </a:rPr>
              <a:t>Struct generica RecSysData con funzioni comuni get_batch() e build_data(), quest’ultima per restituire tutte le variabili utili alla manipolazione del dataset.</a:t>
            </a:r>
          </a:p>
          <a:p>
            <a:r>
              <a:rPr lang="it-IT">
                <a:solidFill>
                  <a:schemeClr val="tx1"/>
                </a:solidFill>
              </a:rPr>
              <a:t>Funzioni specifiche load_amazon() e load_movielens() per aprire i rispettivi file e restituire tutti i dati restituiti a sua volta da build_data(), a partire dai dati grezzi e dai titoli degli item.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638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06F71-5893-0C82-0352-53900B12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>
            <a:normAutofit/>
          </a:bodyPr>
          <a:lstStyle/>
          <a:p>
            <a:pPr algn="r"/>
            <a:r>
              <a:rPr lang="it-IT" dirty="0"/>
              <a:t>Gestione dei </a:t>
            </a:r>
            <a:r>
              <a:rPr lang="it-IT" dirty="0" err="1"/>
              <a:t>sanity</a:t>
            </a:r>
            <a:r>
              <a:rPr lang="it-IT" dirty="0"/>
              <a:t> check e del training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36BF7-9BEF-EC5C-618B-876D253A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62" y="685799"/>
            <a:ext cx="6288260" cy="4892040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tx1"/>
                </a:solidFill>
              </a:rPr>
              <a:t>Sanity</a:t>
            </a:r>
            <a:r>
              <a:rPr lang="it-IT" dirty="0">
                <a:solidFill>
                  <a:schemeClr val="tx1"/>
                </a:solidFill>
              </a:rPr>
              <a:t> check generalizzati, grazie all’utilizzo di una variabile d’ambiente statica per evitare di caricare il dataset ad ogni controllo e per personalizzarlo in funzione dei dati in input. Nelle funzioni sono specificati i valori raccolti durante i check in </a:t>
            </a:r>
            <a:r>
              <a:rPr lang="it-IT">
                <a:solidFill>
                  <a:schemeClr val="tx1"/>
                </a:solidFill>
              </a:rPr>
              <a:t>python</a:t>
            </a:r>
            <a:r>
              <a:rPr lang="it-IT" dirty="0">
                <a:solidFill>
                  <a:schemeClr val="tx1"/>
                </a:solidFill>
              </a:rPr>
              <a:t>. </a:t>
            </a:r>
          </a:p>
          <a:p>
            <a:r>
              <a:rPr lang="it-IT" dirty="0">
                <a:solidFill>
                  <a:schemeClr val="tx1"/>
                </a:solidFill>
              </a:rPr>
              <a:t>Per la fase di training si carica il dataset in funzione del valore specificato tramite linea di comando, la restante parte rimane invariata.</a:t>
            </a:r>
          </a:p>
          <a:p>
            <a:r>
              <a:rPr lang="it-IT" dirty="0">
                <a:solidFill>
                  <a:schemeClr val="tx1"/>
                </a:solidFill>
              </a:rPr>
              <a:t>Per la valutazione del modello il codice rimane il medesimo, perché la struttura del dataset ricavato dai dati non è cambiato.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81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50C5-BD42-D313-9BBD-40EBD124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OTTIMIZZAZIONE DEGLI IPERPARAMETRI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D878F-729D-FE9B-1482-69E151CB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Per poter verificare quale sia la miglior combinazione di </a:t>
            </a:r>
            <a:r>
              <a:rPr lang="it-IT" dirty="0" err="1">
                <a:solidFill>
                  <a:schemeClr val="tx1"/>
                </a:solidFill>
              </a:rPr>
              <a:t>iperparametri</a:t>
            </a:r>
            <a:r>
              <a:rPr lang="it-IT" dirty="0">
                <a:solidFill>
                  <a:schemeClr val="tx1"/>
                </a:solidFill>
              </a:rPr>
              <a:t>:</a:t>
            </a:r>
          </a:p>
          <a:p>
            <a:r>
              <a:rPr lang="it-IT" dirty="0">
                <a:solidFill>
                  <a:schemeClr val="tx1"/>
                </a:solidFill>
              </a:rPr>
              <a:t>È stata utilizzata NDCG@10 come metrica di valutazione.</a:t>
            </a:r>
          </a:p>
          <a:p>
            <a:r>
              <a:rPr lang="it-IT" dirty="0">
                <a:solidFill>
                  <a:schemeClr val="tx1"/>
                </a:solidFill>
              </a:rPr>
              <a:t>È stato creato fine_tuning.py che si appoggia a </a:t>
            </a:r>
            <a:r>
              <a:rPr lang="it-IT" dirty="0" err="1">
                <a:solidFill>
                  <a:schemeClr val="tx1"/>
                </a:solidFill>
              </a:rPr>
              <a:t>optuna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r>
              <a:rPr lang="it-IT" dirty="0">
                <a:solidFill>
                  <a:schemeClr val="tx1"/>
                </a:solidFill>
              </a:rPr>
              <a:t>È stato modificato </a:t>
            </a:r>
            <a:r>
              <a:rPr lang="it-IT" dirty="0" err="1">
                <a:solidFill>
                  <a:schemeClr val="tx1"/>
                </a:solidFill>
              </a:rPr>
              <a:t>train_gsasrec</a:t>
            </a:r>
            <a:r>
              <a:rPr lang="it-IT" dirty="0">
                <a:solidFill>
                  <a:schemeClr val="tx1"/>
                </a:solidFill>
              </a:rPr>
              <a:t> per poter esser richiamato ogni volta fosse necessario provare una combinazione.</a:t>
            </a:r>
          </a:p>
          <a:p>
            <a:r>
              <a:rPr lang="it-IT" dirty="0">
                <a:solidFill>
                  <a:schemeClr val="tx1"/>
                </a:solidFill>
              </a:rPr>
              <a:t>Si è </a:t>
            </a:r>
            <a:r>
              <a:rPr lang="it-IT">
                <a:solidFill>
                  <a:schemeClr val="tx1"/>
                </a:solidFill>
              </a:rPr>
              <a:t>fatto affidamento su una GPU RTX 2000 Ada (16 GB VRAM)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40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82B6-D018-2AD1-80FD-CD347D56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Fine_tuning.py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6F9B-23DA-306F-F2F1-63A1205B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Questo file va a creare e poi ogni volta modificare config_optuna.py da passare tramite linea di comando per poter specificare ogni volta i parametri. </a:t>
            </a:r>
            <a:r>
              <a:rPr lang="it-IT" dirty="0" err="1">
                <a:solidFill>
                  <a:schemeClr val="tx1"/>
                </a:solidFill>
              </a:rPr>
              <a:t>Optuna</a:t>
            </a:r>
            <a:r>
              <a:rPr lang="it-IT" dirty="0">
                <a:solidFill>
                  <a:schemeClr val="tx1"/>
                </a:solidFill>
              </a:rPr>
              <a:t> si basa sull’ottimizzazione </a:t>
            </a:r>
            <a:r>
              <a:rPr lang="it-IT" dirty="0" err="1">
                <a:solidFill>
                  <a:schemeClr val="tx1"/>
                </a:solidFill>
              </a:rPr>
              <a:t>Bayesiana</a:t>
            </a:r>
            <a:r>
              <a:rPr lang="it-IT" dirty="0">
                <a:solidFill>
                  <a:schemeClr val="tx1"/>
                </a:solidFill>
              </a:rPr>
              <a:t>, per ogni tentativo prevede quali potrebbero essere i parametri migliori per il tentativo successivo. Scelto perché:</a:t>
            </a:r>
          </a:p>
          <a:p>
            <a:r>
              <a:rPr lang="it-IT" dirty="0">
                <a:solidFill>
                  <a:schemeClr val="tx1"/>
                </a:solidFill>
              </a:rPr>
              <a:t>Impara dal passato.</a:t>
            </a:r>
          </a:p>
          <a:p>
            <a:r>
              <a:rPr lang="it-IT" dirty="0">
                <a:solidFill>
                  <a:schemeClr val="tx1"/>
                </a:solidFill>
              </a:rPr>
              <a:t>Fa risparmiare tempo, utile soprattutto in contesti di training lunghi.</a:t>
            </a:r>
          </a:p>
          <a:p>
            <a:r>
              <a:rPr lang="it-IT" dirty="0">
                <a:solidFill>
                  <a:schemeClr val="tx1"/>
                </a:solidFill>
              </a:rPr>
              <a:t>Framework </a:t>
            </a:r>
            <a:r>
              <a:rPr lang="it-IT" dirty="0" err="1">
                <a:solidFill>
                  <a:schemeClr val="tx1"/>
                </a:solidFill>
              </a:rPr>
              <a:t>agnostic</a:t>
            </a:r>
            <a:r>
              <a:rPr lang="it-IT" dirty="0">
                <a:solidFill>
                  <a:schemeClr val="tx1"/>
                </a:solidFill>
              </a:rPr>
              <a:t> (a differenza di </a:t>
            </a:r>
            <a:r>
              <a:rPr lang="it-IT" dirty="0" err="1">
                <a:solidFill>
                  <a:schemeClr val="tx1"/>
                </a:solidFill>
              </a:rPr>
              <a:t>GridSearchCV</a:t>
            </a:r>
            <a:r>
              <a:rPr lang="it-IT" dirty="0">
                <a:solidFill>
                  <a:schemeClr val="tx1"/>
                </a:solidFill>
              </a:rPr>
              <a:t>)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646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D4DC-3F3E-33DC-2BDE-8023342E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Range degli </a:t>
            </a:r>
            <a:r>
              <a:rPr lang="it-IT" dirty="0" err="1"/>
              <a:t>iperparametri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75B8-7ECB-AD6F-8118-0610B93CB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tx1"/>
                </a:solidFill>
              </a:rPr>
              <a:t>Gbce_t</a:t>
            </a:r>
            <a:r>
              <a:rPr lang="it-IT" dirty="0">
                <a:solidFill>
                  <a:schemeClr val="tx1"/>
                </a:solidFill>
              </a:rPr>
              <a:t>: [0.0, 0.5, 0.75, 1.0]*</a:t>
            </a:r>
          </a:p>
          <a:p>
            <a:r>
              <a:rPr lang="it-IT" dirty="0" err="1">
                <a:solidFill>
                  <a:schemeClr val="tx1"/>
                </a:solidFill>
              </a:rPr>
              <a:t>Num_blocks</a:t>
            </a:r>
            <a:r>
              <a:rPr lang="it-IT" dirty="0">
                <a:solidFill>
                  <a:schemeClr val="tx1"/>
                </a:solidFill>
              </a:rPr>
              <a:t>: [1, 3]</a:t>
            </a:r>
          </a:p>
          <a:p>
            <a:r>
              <a:rPr lang="it-IT" dirty="0" err="1">
                <a:solidFill>
                  <a:schemeClr val="tx1"/>
                </a:solidFill>
              </a:rPr>
              <a:t>Embedding_dim</a:t>
            </a:r>
            <a:r>
              <a:rPr lang="it-IT" dirty="0">
                <a:solidFill>
                  <a:schemeClr val="tx1"/>
                </a:solidFill>
              </a:rPr>
              <a:t>: [128, 256]*</a:t>
            </a:r>
          </a:p>
          <a:p>
            <a:r>
              <a:rPr lang="it-IT" dirty="0" err="1">
                <a:solidFill>
                  <a:schemeClr val="tx1"/>
                </a:solidFill>
              </a:rPr>
              <a:t>Num_heads</a:t>
            </a:r>
            <a:r>
              <a:rPr lang="it-IT" dirty="0">
                <a:solidFill>
                  <a:schemeClr val="tx1"/>
                </a:solidFill>
              </a:rPr>
              <a:t>: [2, 4]*</a:t>
            </a:r>
          </a:p>
          <a:p>
            <a:r>
              <a:rPr lang="it-IT" dirty="0" err="1">
                <a:solidFill>
                  <a:schemeClr val="tx1"/>
                </a:solidFill>
              </a:rPr>
              <a:t>Dropout_rate</a:t>
            </a:r>
            <a:r>
              <a:rPr lang="it-IT" dirty="0">
                <a:solidFill>
                  <a:schemeClr val="tx1"/>
                </a:solidFill>
              </a:rPr>
              <a:t>: [0.1, 0.5]</a:t>
            </a:r>
          </a:p>
          <a:p>
            <a:r>
              <a:rPr lang="it-IT" dirty="0" err="1">
                <a:solidFill>
                  <a:schemeClr val="tx1"/>
                </a:solidFill>
              </a:rPr>
              <a:t>Train_batch_size</a:t>
            </a:r>
            <a:r>
              <a:rPr lang="it-IT" dirty="0">
                <a:solidFill>
                  <a:schemeClr val="tx1"/>
                </a:solidFill>
              </a:rPr>
              <a:t>: [64, 128]*</a:t>
            </a:r>
          </a:p>
          <a:p>
            <a:r>
              <a:rPr lang="it-IT" dirty="0" err="1">
                <a:solidFill>
                  <a:schemeClr val="tx1"/>
                </a:solidFill>
              </a:rPr>
              <a:t>Sequence_length</a:t>
            </a:r>
            <a:r>
              <a:rPr lang="it-IT" dirty="0">
                <a:solidFill>
                  <a:schemeClr val="tx1"/>
                </a:solidFill>
              </a:rPr>
              <a:t>: [50, 100, 200]*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0D6F5-3392-1923-6944-A4BA6AB756FB}"/>
              </a:ext>
            </a:extLst>
          </p:cNvPr>
          <p:cNvSpPr txBox="1"/>
          <p:nvPr/>
        </p:nvSpPr>
        <p:spPr>
          <a:xfrm>
            <a:off x="186812" y="636147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*range categorici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4266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4631-4F9F-3FD6-4B56-D870AD8F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MIGLIOR CONFIGURAZIONE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63A6F-58BE-4F86-3846-CEA3F0DF2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La miglior configurazione dopo 20 trials, ha presentato i seguenti parametri (messi a confronto con quelli usati dagli autori del modello): </a:t>
            </a:r>
          </a:p>
          <a:p>
            <a:r>
              <a:rPr lang="it-IT" dirty="0" err="1">
                <a:solidFill>
                  <a:schemeClr val="tx1"/>
                </a:solidFill>
              </a:rPr>
              <a:t>gbce_t</a:t>
            </a:r>
            <a:r>
              <a:rPr lang="it-IT" dirty="0">
                <a:solidFill>
                  <a:schemeClr val="tx1"/>
                </a:solidFill>
              </a:rPr>
              <a:t>: 0.5 (0.75)</a:t>
            </a:r>
          </a:p>
          <a:p>
            <a:r>
              <a:rPr lang="it-IT" dirty="0" err="1">
                <a:solidFill>
                  <a:schemeClr val="tx1"/>
                </a:solidFill>
              </a:rPr>
              <a:t>num_blocks</a:t>
            </a:r>
            <a:r>
              <a:rPr lang="it-IT" dirty="0">
                <a:solidFill>
                  <a:schemeClr val="tx1"/>
                </a:solidFill>
              </a:rPr>
              <a:t>: 1 (2)</a:t>
            </a:r>
          </a:p>
          <a:p>
            <a:r>
              <a:rPr lang="it-IT" dirty="0" err="1">
                <a:solidFill>
                  <a:schemeClr val="tx1"/>
                </a:solidFill>
              </a:rPr>
              <a:t>embedding_dim</a:t>
            </a:r>
            <a:r>
              <a:rPr lang="it-IT" dirty="0">
                <a:solidFill>
                  <a:schemeClr val="tx1"/>
                </a:solidFill>
              </a:rPr>
              <a:t>: 256 (128)</a:t>
            </a:r>
          </a:p>
          <a:p>
            <a:r>
              <a:rPr lang="it-IT" dirty="0" err="1">
                <a:solidFill>
                  <a:schemeClr val="tx1"/>
                </a:solidFill>
              </a:rPr>
              <a:t>num_heads</a:t>
            </a:r>
            <a:r>
              <a:rPr lang="it-IT" dirty="0">
                <a:solidFill>
                  <a:schemeClr val="tx1"/>
                </a:solidFill>
              </a:rPr>
              <a:t>: 4 (1)</a:t>
            </a:r>
          </a:p>
          <a:p>
            <a:r>
              <a:rPr lang="it-IT" dirty="0" err="1">
                <a:solidFill>
                  <a:schemeClr val="tx1"/>
                </a:solidFill>
              </a:rPr>
              <a:t>dropout_rate</a:t>
            </a:r>
            <a:r>
              <a:rPr lang="it-IT" dirty="0">
                <a:solidFill>
                  <a:schemeClr val="tx1"/>
                </a:solidFill>
              </a:rPr>
              <a:t>: 0.16519583830077267 (0.5)</a:t>
            </a:r>
          </a:p>
          <a:p>
            <a:r>
              <a:rPr lang="it-IT" dirty="0" err="1">
                <a:solidFill>
                  <a:schemeClr val="tx1"/>
                </a:solidFill>
              </a:rPr>
              <a:t>train_batch_size</a:t>
            </a:r>
            <a:r>
              <a:rPr lang="it-IT" dirty="0">
                <a:solidFill>
                  <a:schemeClr val="tx1"/>
                </a:solidFill>
              </a:rPr>
              <a:t>: 64 (128)</a:t>
            </a:r>
          </a:p>
          <a:p>
            <a:r>
              <a:rPr lang="it-IT" dirty="0" err="1">
                <a:solidFill>
                  <a:schemeClr val="tx1"/>
                </a:solidFill>
              </a:rPr>
              <a:t>sequence_length</a:t>
            </a:r>
            <a:r>
              <a:rPr lang="it-IT" dirty="0">
                <a:solidFill>
                  <a:schemeClr val="tx1"/>
                </a:solidFill>
              </a:rPr>
              <a:t>: 200 (200)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Con NDCG@10 pari a 0.1349321142424068 (0.197) dopo 3910 (47520) step.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51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BED9-814F-5653-73A0-116D6683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CONFronto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 test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E907B-C619-80AB-4390-B2B94F2F8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Qui di seguito i risultati differenti </a:t>
            </a:r>
            <a:r>
              <a:rPr lang="it-IT" dirty="0" err="1">
                <a:solidFill>
                  <a:schemeClr val="tx1"/>
                </a:solidFill>
              </a:rPr>
              <a:t>sull’evaluation</a:t>
            </a:r>
            <a:r>
              <a:rPr lang="it-IT" dirty="0">
                <a:solidFill>
                  <a:schemeClr val="tx1"/>
                </a:solidFill>
              </a:rPr>
              <a:t> set per il miglior modello e l’originale del paper:</a:t>
            </a:r>
          </a:p>
          <a:p>
            <a:r>
              <a:rPr lang="it-IT" dirty="0">
                <a:solidFill>
                  <a:schemeClr val="tx1"/>
                </a:solidFill>
              </a:rPr>
              <a:t>Miglior modello: {R@1: 0.05099337748344371, R@10: 0.2052980132450331, nDCG@10: 0.11809304395337882}</a:t>
            </a:r>
          </a:p>
          <a:p>
            <a:r>
              <a:rPr lang="it-IT" dirty="0">
                <a:solidFill>
                  <a:schemeClr val="tx1"/>
                </a:solidFill>
              </a:rPr>
              <a:t>Originale: {R@1: 0.07549668874172186, nDCG@10: 0.17261420098894456, R@10: 0.30033112582781457}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6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B684-58E5-DF5B-0C8D-284EEEA5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DIFFERENZE DOPO IL TRAINING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392E-B43F-50FE-F1BE-1537598A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Per poter fare una valutazione migliore si è eseguito il training con gli </a:t>
            </a:r>
            <a:r>
              <a:rPr lang="it-IT" dirty="0" err="1">
                <a:solidFill>
                  <a:schemeClr val="tx1"/>
                </a:solidFill>
              </a:rPr>
              <a:t>iperparametri</a:t>
            </a:r>
            <a:r>
              <a:rPr lang="it-IT" dirty="0">
                <a:solidFill>
                  <a:schemeClr val="tx1"/>
                </a:solidFill>
              </a:rPr>
              <a:t> forniti dagli autori del modello originale e quelli trovati con l’</a:t>
            </a:r>
            <a:r>
              <a:rPr lang="it-IT" dirty="0" err="1">
                <a:solidFill>
                  <a:schemeClr val="tx1"/>
                </a:solidFill>
              </a:rPr>
              <a:t>optimization</a:t>
            </a:r>
            <a:r>
              <a:rPr lang="it-IT" dirty="0">
                <a:solidFill>
                  <a:schemeClr val="tx1"/>
                </a:solidFill>
              </a:rPr>
              <a:t>, portando il numero massimo di epoche a 10000 e di epoche senza miglioramenti a 200, ottenendo rispettivamente:</a:t>
            </a:r>
          </a:p>
          <a:p>
            <a:r>
              <a:rPr lang="en-GB" dirty="0">
                <a:solidFill>
                  <a:schemeClr val="tx1"/>
                </a:solidFill>
              </a:rPr>
              <a:t>NDCG@10: 0.18758218569025115 e 0.1801849853504413</a:t>
            </a:r>
          </a:p>
          <a:p>
            <a:r>
              <a:rPr lang="en-GB" dirty="0" err="1">
                <a:solidFill>
                  <a:schemeClr val="tx1"/>
                </a:solidFill>
              </a:rPr>
              <a:t>Numero</a:t>
            </a:r>
            <a:r>
              <a:rPr lang="en-GB" dirty="0">
                <a:solidFill>
                  <a:schemeClr val="tx1"/>
                </a:solidFill>
              </a:rPr>
              <a:t> di step: 57984 e 24225</a:t>
            </a:r>
          </a:p>
        </p:txBody>
      </p:sp>
    </p:spTree>
    <p:extLst>
      <p:ext uri="{BB962C8B-B14F-4D97-AF65-F5344CB8AC3E}">
        <p14:creationId xmlns:p14="http://schemas.microsoft.com/office/powerpoint/2010/main" val="228959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4094-A1ED-5C9A-8BBB-897F5AD1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EVALUATION TEST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9E17-40AA-D96A-C0CB-D311F8B4D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Qui di seguito i risultati differenti </a:t>
            </a:r>
            <a:r>
              <a:rPr lang="it-IT" dirty="0" err="1">
                <a:solidFill>
                  <a:schemeClr val="tx1"/>
                </a:solidFill>
              </a:rPr>
              <a:t>sull’evaluation</a:t>
            </a:r>
            <a:r>
              <a:rPr lang="it-IT" dirty="0">
                <a:solidFill>
                  <a:schemeClr val="tx1"/>
                </a:solidFill>
              </a:rPr>
              <a:t> set per il modello originale del paper e il migliore ottenuto con l’</a:t>
            </a:r>
            <a:r>
              <a:rPr lang="it-IT" dirty="0" err="1">
                <a:solidFill>
                  <a:schemeClr val="tx1"/>
                </a:solidFill>
              </a:rPr>
              <a:t>optimization</a:t>
            </a:r>
            <a:r>
              <a:rPr lang="it-IT" dirty="0">
                <a:solidFill>
                  <a:schemeClr val="tx1"/>
                </a:solidFill>
              </a:rPr>
              <a:t>: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it-IT" dirty="0">
                <a:solidFill>
                  <a:schemeClr val="tx1"/>
                </a:solidFill>
              </a:rPr>
              <a:t>{nDCG@10: 0.1722703304771199, R@1: 0.07980132450331126, R@10: 0.2950331125827815}</a:t>
            </a:r>
          </a:p>
          <a:p>
            <a:r>
              <a:rPr lang="it-IT" dirty="0">
                <a:solidFill>
                  <a:schemeClr val="tx1"/>
                </a:solidFill>
              </a:rPr>
              <a:t>{R@1: 0.07102649006622516, R@10: 0.2766556291390728, nDCG@10: 0.16060628260624635}</a:t>
            </a:r>
          </a:p>
        </p:txBody>
      </p:sp>
    </p:spTree>
    <p:extLst>
      <p:ext uri="{BB962C8B-B14F-4D97-AF65-F5344CB8AC3E}">
        <p14:creationId xmlns:p14="http://schemas.microsoft.com/office/powerpoint/2010/main" val="36187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FDF8-5E3F-9581-5FF9-5EB5596A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LOAd</a:t>
            </a:r>
            <a:r>
              <a:rPr lang="it-IT" dirty="0"/>
              <a:t> test con endpoint </a:t>
            </a:r>
            <a:r>
              <a:rPr lang="it-IT" dirty="0" err="1"/>
              <a:t>fastapi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E86A-01D2-7699-8636-267948E8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Per poter testare il modello sottoposto a un carico crescente di richieste bisogna creare un endpoint che possa esporlo e renderlo accessibile. Si è proceduto inizialmente utilizzando un percorso in locale e specificando la porta 8081, consentendo di inviare richieste HTTP al miglior modello preso in considerazione (l’originale). Successivamente si è deciso di creare un secondo endpoint per sfruttare il modello </a:t>
            </a:r>
            <a:r>
              <a:rPr lang="it-IT" dirty="0" err="1">
                <a:solidFill>
                  <a:schemeClr val="tx1"/>
                </a:solidFill>
              </a:rPr>
              <a:t>onnx</a:t>
            </a:r>
            <a:r>
              <a:rPr lang="it-IT" dirty="0">
                <a:solidFill>
                  <a:schemeClr val="tx1"/>
                </a:solidFill>
              </a:rPr>
              <a:t> e testarlo.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27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1417-4A6D-96DC-281C-E055652A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SCRIPT PYTHON E </a:t>
            </a:r>
            <a:r>
              <a:rPr lang="it-IT" dirty="0" err="1"/>
              <a:t>UTILITà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B5B8-5019-6FBA-FA89-BC68A452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Di seguito i file utili allo scopo e la loro funzione:</a:t>
            </a:r>
          </a:p>
          <a:p>
            <a:r>
              <a:rPr lang="it-IT" dirty="0">
                <a:solidFill>
                  <a:schemeClr val="tx1"/>
                </a:solidFill>
              </a:rPr>
              <a:t>engine.py: logica dietro il load testing</a:t>
            </a:r>
          </a:p>
          <a:p>
            <a:r>
              <a:rPr lang="it-IT" dirty="0">
                <a:solidFill>
                  <a:schemeClr val="tx1"/>
                </a:solidFill>
              </a:rPr>
              <a:t>http_transport.py: creazione del client http, si appoggia a </a:t>
            </a:r>
            <a:r>
              <a:rPr lang="it-IT" dirty="0" err="1">
                <a:solidFill>
                  <a:schemeClr val="tx1"/>
                </a:solidFill>
              </a:rPr>
              <a:t>aiohttp</a:t>
            </a:r>
            <a:endParaRPr lang="it-IT" dirty="0">
              <a:solidFill>
                <a:schemeClr val="tx1"/>
              </a:solidFill>
            </a:endParaRPr>
          </a:p>
          <a:p>
            <a:r>
              <a:rPr lang="it-IT" dirty="0">
                <a:solidFill>
                  <a:schemeClr val="tx1"/>
                </a:solidFill>
              </a:rPr>
              <a:t>request_builder.py: creazione del client tramite quello generato da http_transport.py e del payload da inviare al modello</a:t>
            </a:r>
          </a:p>
          <a:p>
            <a:r>
              <a:rPr lang="it-IT" dirty="0">
                <a:solidFill>
                  <a:schemeClr val="tx1"/>
                </a:solidFill>
              </a:rPr>
              <a:t>endpoint.py: creazione dell’endpoint per il modello</a:t>
            </a:r>
          </a:p>
          <a:p>
            <a:r>
              <a:rPr lang="it-IT" dirty="0">
                <a:solidFill>
                  <a:schemeClr val="tx1"/>
                </a:solidFill>
              </a:rPr>
              <a:t>load_test.py: esecuzione del test di carico verso l’endpoint specificato</a:t>
            </a:r>
          </a:p>
          <a:p>
            <a:r>
              <a:rPr lang="it-IT" dirty="0" err="1">
                <a:solidFill>
                  <a:schemeClr val="tx1"/>
                </a:solidFill>
              </a:rPr>
              <a:t>config.yaml</a:t>
            </a:r>
            <a:r>
              <a:rPr lang="it-IT" dirty="0">
                <a:solidFill>
                  <a:schemeClr val="tx1"/>
                </a:solidFill>
              </a:rPr>
              <a:t>: dettagli sul test di carico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41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58B3-1DCA-C160-3137-DE588E63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VALORI DI CONFIGURAZIONE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2B70-9C7B-0387-D125-C963B866D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92865"/>
            <a:ext cx="8534400" cy="2862825"/>
          </a:xfrm>
        </p:spPr>
        <p:txBody>
          <a:bodyPr>
            <a:normAutofit fontScale="92500" lnSpcReduction="10000"/>
          </a:bodyPr>
          <a:lstStyle/>
          <a:p>
            <a:r>
              <a:rPr lang="it-IT" dirty="0" err="1">
                <a:solidFill>
                  <a:schemeClr val="tx1"/>
                </a:solidFill>
              </a:rPr>
              <a:t>target_rps</a:t>
            </a:r>
            <a:r>
              <a:rPr lang="it-IT" dirty="0">
                <a:solidFill>
                  <a:schemeClr val="tx1"/>
                </a:solidFill>
              </a:rPr>
              <a:t>: [10, 50]</a:t>
            </a:r>
          </a:p>
          <a:p>
            <a:r>
              <a:rPr lang="it-IT" dirty="0" err="1">
                <a:solidFill>
                  <a:schemeClr val="tx1"/>
                </a:solidFill>
              </a:rPr>
              <a:t>duration_seconds</a:t>
            </a:r>
            <a:r>
              <a:rPr lang="it-IT" dirty="0">
                <a:solidFill>
                  <a:schemeClr val="tx1"/>
                </a:solidFill>
              </a:rPr>
              <a:t>: 60</a:t>
            </a:r>
          </a:p>
          <a:p>
            <a:r>
              <a:rPr lang="it-IT" dirty="0" err="1">
                <a:solidFill>
                  <a:schemeClr val="tx1"/>
                </a:solidFill>
              </a:rPr>
              <a:t>num_clients</a:t>
            </a:r>
            <a:r>
              <a:rPr lang="it-IT" dirty="0">
                <a:solidFill>
                  <a:schemeClr val="tx1"/>
                </a:solidFill>
              </a:rPr>
              <a:t>: 32/64</a:t>
            </a:r>
          </a:p>
          <a:p>
            <a:r>
              <a:rPr lang="it-IT" dirty="0" err="1">
                <a:solidFill>
                  <a:schemeClr val="tx1"/>
                </a:solidFill>
              </a:rPr>
              <a:t>batch_size</a:t>
            </a:r>
            <a:r>
              <a:rPr lang="it-IT" dirty="0">
                <a:solidFill>
                  <a:schemeClr val="tx1"/>
                </a:solidFill>
              </a:rPr>
              <a:t>: 16</a:t>
            </a:r>
          </a:p>
          <a:p>
            <a:r>
              <a:rPr lang="it-IT" dirty="0">
                <a:solidFill>
                  <a:schemeClr val="tx1"/>
                </a:solidFill>
              </a:rPr>
              <a:t>GPU: RTX A4500</a:t>
            </a:r>
          </a:p>
          <a:p>
            <a:r>
              <a:rPr lang="it-IT" dirty="0" err="1">
                <a:solidFill>
                  <a:schemeClr val="tx1"/>
                </a:solidFill>
              </a:rPr>
              <a:t>vCPU</a:t>
            </a:r>
            <a:r>
              <a:rPr lang="it-IT" dirty="0">
                <a:solidFill>
                  <a:schemeClr val="tx1"/>
                </a:solidFill>
              </a:rPr>
              <a:t>: 12 (AMD EPYC 7352 24-Core Processor)</a:t>
            </a:r>
          </a:p>
          <a:p>
            <a:r>
              <a:rPr lang="it-IT" dirty="0">
                <a:solidFill>
                  <a:schemeClr val="tx1"/>
                </a:solidFill>
              </a:rPr>
              <a:t>Memoria: 62 GB</a:t>
            </a:r>
          </a:p>
          <a:p>
            <a:endParaRPr lang="it-IT" dirty="0">
              <a:solidFill>
                <a:schemeClr val="tx1"/>
              </a:solidFill>
            </a:endParaRPr>
          </a:p>
          <a:p>
            <a:endParaRPr lang="it-IT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2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EC63-FDBE-551E-E3D3-7C663260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modello </a:t>
            </a:r>
            <a:r>
              <a:rPr lang="it-IT" dirty="0" err="1"/>
              <a:t>python</a:t>
            </a:r>
            <a:r>
              <a:rPr lang="it-IT" dirty="0"/>
              <a:t> nativo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F7EEBD-2FFC-53BA-16B5-7BB2B45EF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602273"/>
              </p:ext>
            </p:extLst>
          </p:nvPr>
        </p:nvGraphicFramePr>
        <p:xfrm>
          <a:off x="684211" y="685800"/>
          <a:ext cx="9639657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73">
                  <a:extLst>
                    <a:ext uri="{9D8B030D-6E8A-4147-A177-3AD203B41FA5}">
                      <a16:colId xmlns:a16="http://schemas.microsoft.com/office/drawing/2014/main" val="713660421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058515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41316644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82047389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56002099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200272610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159400550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748764634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317248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Connessioni simultanee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Target RPS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totali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risolte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Media latenze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P50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P95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P99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1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144,6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107,1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262,6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298,1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362,6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2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1083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4493,5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4772,4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4867,2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4885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4917,5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4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118,6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85,9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231,3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262,8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336,4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1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6085,9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6557,9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6762,2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6815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7059,8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13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269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D3F6-3E3A-31AF-0DB3-4FFFDBFF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CC12-4353-9F7F-1210-57191119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modello ONNX IN PYTHON</a:t>
            </a:r>
            <a:endParaRPr lang="en-GB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4337BDA-DFDB-74EB-7748-562151421B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1205341"/>
              </p:ext>
            </p:extLst>
          </p:nvPr>
        </p:nvGraphicFramePr>
        <p:xfrm>
          <a:off x="684212" y="685800"/>
          <a:ext cx="9639657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73">
                  <a:extLst>
                    <a:ext uri="{9D8B030D-6E8A-4147-A177-3AD203B41FA5}">
                      <a16:colId xmlns:a16="http://schemas.microsoft.com/office/drawing/2014/main" val="713660421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058515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41316644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82047389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56002099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200272610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159400550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748764634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317248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Connessioni simultanee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Target RPS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totali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risolte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Media latenze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P50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P95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P99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1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97,4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79,8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263,5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2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1179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4442,3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4678,3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4754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4761,9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5247,1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4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111,6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238,1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318,6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1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1244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5910,9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6363,8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6432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6442,4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8558,5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13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261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5EFA-89FD-D07C-7E91-301FCA0A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969113"/>
            <a:ext cx="8534400" cy="1507067"/>
          </a:xfrm>
        </p:spPr>
        <p:txBody>
          <a:bodyPr/>
          <a:lstStyle/>
          <a:p>
            <a:r>
              <a:rPr lang="it-IT" dirty="0"/>
              <a:t>Grafici di comparazione</a:t>
            </a:r>
            <a:endParaRPr lang="en-GB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E81637C5-5E17-FFBB-3FC2-E1823A571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028408"/>
              </p:ext>
            </p:extLst>
          </p:nvPr>
        </p:nvGraphicFramePr>
        <p:xfrm>
          <a:off x="684212" y="243348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ontent Placeholder 16">
            <a:extLst>
              <a:ext uri="{FF2B5EF4-FFF2-40B4-BE49-F238E27FC236}">
                <a16:creationId xmlns:a16="http://schemas.microsoft.com/office/drawing/2014/main" id="{4C21F744-4B20-130C-91D9-D578B4CF95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6593612"/>
              </p:ext>
            </p:extLst>
          </p:nvPr>
        </p:nvGraphicFramePr>
        <p:xfrm>
          <a:off x="5575762" y="243348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ontent Placeholder 16">
            <a:extLst>
              <a:ext uri="{FF2B5EF4-FFF2-40B4-BE49-F238E27FC236}">
                <a16:creationId xmlns:a16="http://schemas.microsoft.com/office/drawing/2014/main" id="{450D4C37-7453-0BCE-EE0C-E6D7664FDE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854217"/>
              </p:ext>
            </p:extLst>
          </p:nvPr>
        </p:nvGraphicFramePr>
        <p:xfrm>
          <a:off x="684212" y="2762864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ontent Placeholder 16">
            <a:extLst>
              <a:ext uri="{FF2B5EF4-FFF2-40B4-BE49-F238E27FC236}">
                <a16:creationId xmlns:a16="http://schemas.microsoft.com/office/drawing/2014/main" id="{088EA53E-CB2B-3673-A5C3-2D2BFCD9E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275515"/>
              </p:ext>
            </p:extLst>
          </p:nvPr>
        </p:nvGraphicFramePr>
        <p:xfrm>
          <a:off x="5575762" y="2762864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6420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4D19-9D1B-B626-55FF-AA6D2AC3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LOAD TEST CON BATCH SIZE pari a 32 (PYTHON NATIVO)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6520DC-C4C9-DA75-CB98-938C09A45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223929"/>
              </p:ext>
            </p:extLst>
          </p:nvPr>
        </p:nvGraphicFramePr>
        <p:xfrm>
          <a:off x="684211" y="685800"/>
          <a:ext cx="9639657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73">
                  <a:extLst>
                    <a:ext uri="{9D8B030D-6E8A-4147-A177-3AD203B41FA5}">
                      <a16:colId xmlns:a16="http://schemas.microsoft.com/office/drawing/2014/main" val="713660421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058515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41316644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82047389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56002099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200272610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159400550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748764634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317248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Connessioni simultanee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Target RPS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totali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risolte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Media latenze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P50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P95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P99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1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584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4761,1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5497,1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6425,5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7769,6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8756,7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2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599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6239,6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6469,1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6684,9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8073,9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9480,8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4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565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4969,6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4855,8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10282,3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12558,8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16011,5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1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9275,2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8297,7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14084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19135,9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22981,8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13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261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AD99-0E67-A22D-5C7C-4FF8C049A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EEEA-AF45-63B1-3CEA-3649064D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LOAD TEST CON BATCH SIZE pari a 32 (ONNX)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EEBD52-29D3-F569-85E2-877551119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80872"/>
              </p:ext>
            </p:extLst>
          </p:nvPr>
        </p:nvGraphicFramePr>
        <p:xfrm>
          <a:off x="684211" y="685800"/>
          <a:ext cx="9639657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73">
                  <a:extLst>
                    <a:ext uri="{9D8B030D-6E8A-4147-A177-3AD203B41FA5}">
                      <a16:colId xmlns:a16="http://schemas.microsoft.com/office/drawing/2014/main" val="713660421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058515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4131664428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682047389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56002099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2200272610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1594005505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748764634"/>
                    </a:ext>
                  </a:extLst>
                </a:gridCol>
                <a:gridCol w="1071073">
                  <a:extLst>
                    <a:ext uri="{9D8B030D-6E8A-4147-A177-3AD203B41FA5}">
                      <a16:colId xmlns:a16="http://schemas.microsoft.com/office/drawing/2014/main" val="3172487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Connessioni simultanee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Target RPS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totali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Richieste risolte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Media latenze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P50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P95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P99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61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593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4379,8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4847,4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6657,7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7386,8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7883,6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2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6106,7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6294,7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6627,2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8255,6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9232,4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4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583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3955,8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2879,5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7524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10077,4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14978,8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160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8963,2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8356,5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13454,7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17848,3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21365,5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13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994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43EA-5C6E-2B5D-81ED-0847BBA7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7D75-476F-89FA-8C2F-1CA9EB680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969113"/>
            <a:ext cx="8534400" cy="1507067"/>
          </a:xfrm>
        </p:spPr>
        <p:txBody>
          <a:bodyPr/>
          <a:lstStyle/>
          <a:p>
            <a:r>
              <a:rPr lang="it-IT" dirty="0"/>
              <a:t>Grafici di comparazione</a:t>
            </a:r>
            <a:endParaRPr lang="en-GB" dirty="0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82BF6C13-543E-AB26-40C1-17C48C09B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51603"/>
              </p:ext>
            </p:extLst>
          </p:nvPr>
        </p:nvGraphicFramePr>
        <p:xfrm>
          <a:off x="684212" y="243348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ontent Placeholder 16">
            <a:extLst>
              <a:ext uri="{FF2B5EF4-FFF2-40B4-BE49-F238E27FC236}">
                <a16:creationId xmlns:a16="http://schemas.microsoft.com/office/drawing/2014/main" id="{BBE59B32-9D08-9A30-1EE7-01EBEB281D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781042"/>
              </p:ext>
            </p:extLst>
          </p:nvPr>
        </p:nvGraphicFramePr>
        <p:xfrm>
          <a:off x="5575762" y="243348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ontent Placeholder 16">
            <a:extLst>
              <a:ext uri="{FF2B5EF4-FFF2-40B4-BE49-F238E27FC236}">
                <a16:creationId xmlns:a16="http://schemas.microsoft.com/office/drawing/2014/main" id="{1B89A083-B5E1-9590-3E15-879009CDFD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809670"/>
              </p:ext>
            </p:extLst>
          </p:nvPr>
        </p:nvGraphicFramePr>
        <p:xfrm>
          <a:off x="684212" y="2762864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ontent Placeholder 16">
            <a:extLst>
              <a:ext uri="{FF2B5EF4-FFF2-40B4-BE49-F238E27FC236}">
                <a16:creationId xmlns:a16="http://schemas.microsoft.com/office/drawing/2014/main" id="{078AA1A4-0D8B-5171-2ED5-B750765C8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7603686"/>
              </p:ext>
            </p:extLst>
          </p:nvPr>
        </p:nvGraphicFramePr>
        <p:xfrm>
          <a:off x="5575762" y="2762864"/>
          <a:ext cx="4231916" cy="2519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24456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01B0-53DF-44BA-926D-4D7DFBDE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INFERENZA PURA PYTHON NATIVO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2671E-91E7-F36B-EB0D-B9A8C675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1"/>
            <a:ext cx="8534400" cy="1507068"/>
          </a:xfrm>
        </p:spPr>
        <p:txBody>
          <a:bodyPr/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Per verificare la differenza pura di inferenza tra i modelli si è deciso di eseguire un test da 1000 richieste su 100 secondi per verificare le differenze senza considerare le latenze dovute al trasporto HTTP.</a:t>
            </a: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4502A3-229C-5325-9C51-70E5AD859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35903"/>
              </p:ext>
            </p:extLst>
          </p:nvPr>
        </p:nvGraphicFramePr>
        <p:xfrm>
          <a:off x="785426" y="2174163"/>
          <a:ext cx="8331972" cy="2450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662">
                  <a:extLst>
                    <a:ext uri="{9D8B030D-6E8A-4147-A177-3AD203B41FA5}">
                      <a16:colId xmlns:a16="http://schemas.microsoft.com/office/drawing/2014/main" val="3618603369"/>
                    </a:ext>
                  </a:extLst>
                </a:gridCol>
                <a:gridCol w="1388662">
                  <a:extLst>
                    <a:ext uri="{9D8B030D-6E8A-4147-A177-3AD203B41FA5}">
                      <a16:colId xmlns:a16="http://schemas.microsoft.com/office/drawing/2014/main" val="612592813"/>
                    </a:ext>
                  </a:extLst>
                </a:gridCol>
                <a:gridCol w="1388662">
                  <a:extLst>
                    <a:ext uri="{9D8B030D-6E8A-4147-A177-3AD203B41FA5}">
                      <a16:colId xmlns:a16="http://schemas.microsoft.com/office/drawing/2014/main" val="2275740807"/>
                    </a:ext>
                  </a:extLst>
                </a:gridCol>
                <a:gridCol w="1388662">
                  <a:extLst>
                    <a:ext uri="{9D8B030D-6E8A-4147-A177-3AD203B41FA5}">
                      <a16:colId xmlns:a16="http://schemas.microsoft.com/office/drawing/2014/main" val="3598941634"/>
                    </a:ext>
                  </a:extLst>
                </a:gridCol>
                <a:gridCol w="1388662">
                  <a:extLst>
                    <a:ext uri="{9D8B030D-6E8A-4147-A177-3AD203B41FA5}">
                      <a16:colId xmlns:a16="http://schemas.microsoft.com/office/drawing/2014/main" val="1146333347"/>
                    </a:ext>
                  </a:extLst>
                </a:gridCol>
                <a:gridCol w="1388662">
                  <a:extLst>
                    <a:ext uri="{9D8B030D-6E8A-4147-A177-3AD203B41FA5}">
                      <a16:colId xmlns:a16="http://schemas.microsoft.com/office/drawing/2014/main" val="52857491"/>
                    </a:ext>
                  </a:extLst>
                </a:gridCol>
              </a:tblGrid>
              <a:tr h="1163785">
                <a:tc>
                  <a:txBody>
                    <a:bodyPr/>
                    <a:lstStyle/>
                    <a:p>
                      <a:r>
                        <a:rPr lang="it-IT" dirty="0"/>
                        <a:t>Modello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Media latenze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P50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P90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P95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P99 (</a:t>
                      </a:r>
                      <a:r>
                        <a:rPr lang="it-IT" dirty="0" err="1"/>
                        <a:t>ms</a:t>
                      </a:r>
                      <a:r>
                        <a:rPr lang="it-IT" dirty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2400"/>
                  </a:ext>
                </a:extLst>
              </a:tr>
              <a:tr h="814650">
                <a:tc>
                  <a:txBody>
                    <a:bodyPr/>
                    <a:lstStyle/>
                    <a:p>
                      <a:r>
                        <a:rPr lang="it-IT" dirty="0"/>
                        <a:t>Python puro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2,57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2,37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3.52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4.44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80670"/>
                  </a:ext>
                </a:extLst>
              </a:tr>
              <a:tr h="471979">
                <a:tc>
                  <a:txBody>
                    <a:bodyPr/>
                    <a:lstStyle/>
                    <a:p>
                      <a:r>
                        <a:rPr lang="it-IT" dirty="0"/>
                        <a:t>ONNX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1.59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2.27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11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71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8FDD-4DCC-6A9A-C9F1-8EFB65A7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Grafico inferenza pura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63FFB1-320A-ECDC-82FA-C124D6334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077645"/>
              </p:ext>
            </p:extLst>
          </p:nvPr>
        </p:nvGraphicFramePr>
        <p:xfrm>
          <a:off x="684213" y="685800"/>
          <a:ext cx="8534400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817587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2255</TotalTime>
  <Words>1833</Words>
  <Application>Microsoft Office PowerPoint</Application>
  <PresentationFormat>Widescreen</PresentationFormat>
  <Paragraphs>321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Century Gothic</vt:lpstr>
      <vt:lpstr>Wingdings 3</vt:lpstr>
      <vt:lpstr>Slice</vt:lpstr>
      <vt:lpstr>Gsasrec: modello di raccomandazione sequenziale</vt:lpstr>
      <vt:lpstr>ESPORTAZIONE DEL MODELLO</vt:lpstr>
      <vt:lpstr>INFERENZA IN RUST</vt:lpstr>
      <vt:lpstr>REPLICAZIONE DEL MODELLO IN RUST</vt:lpstr>
      <vt:lpstr>Differenze riscontraTe</vt:lpstr>
      <vt:lpstr>TRAINING CON AMAZON ALL BEAUTY</vt:lpstr>
      <vt:lpstr>DIFFERENZE MOVIELENS 1M E AMAZON: ALL BEAUTY</vt:lpstr>
      <vt:lpstr>Data.py generalizzato</vt:lpstr>
      <vt:lpstr>implementazione in rust della creazione generica del dataset</vt:lpstr>
      <vt:lpstr>Gestione dei sanity check e del training</vt:lpstr>
      <vt:lpstr>OTTIMIZZAZIONE DEGLI IPERPARAMETRI</vt:lpstr>
      <vt:lpstr>Fine_tuning.py</vt:lpstr>
      <vt:lpstr>Range degli iperparametri</vt:lpstr>
      <vt:lpstr>MIGLIOR CONFIGURAZIONE</vt:lpstr>
      <vt:lpstr>CONFronto evaluation test</vt:lpstr>
      <vt:lpstr>DIFFERENZE DOPO IL TRAINING</vt:lpstr>
      <vt:lpstr>CONFRONTO EVALUATION TEST</vt:lpstr>
      <vt:lpstr>LOAd test con endpoint fastapi</vt:lpstr>
      <vt:lpstr>SCRIPT PYTHON E UTILITà</vt:lpstr>
      <vt:lpstr>VALORI DI CONFIGURAZIONE</vt:lpstr>
      <vt:lpstr>Risultati modello python nativo</vt:lpstr>
      <vt:lpstr>Risultati modello ONNX IN PYTHON</vt:lpstr>
      <vt:lpstr>Grafici di comparazione</vt:lpstr>
      <vt:lpstr>LOAD TEST CON BATCH SIZE pari a 32 (PYTHON NATIVO)</vt:lpstr>
      <vt:lpstr>LOAD TEST CON BATCH SIZE pari a 32 (ONNX)</vt:lpstr>
      <vt:lpstr>Grafici di comparazione</vt:lpstr>
      <vt:lpstr>INFERENZA PURA PYTHON NATIVO</vt:lpstr>
      <vt:lpstr>Grafico inferenza pura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Bognanni</dc:creator>
  <cp:lastModifiedBy>Matteo Bognanni</cp:lastModifiedBy>
  <cp:revision>39</cp:revision>
  <dcterms:created xsi:type="dcterms:W3CDTF">2026-04-14T13:26:23Z</dcterms:created>
  <dcterms:modified xsi:type="dcterms:W3CDTF">2026-05-27T16:13:42Z</dcterms:modified>
</cp:coreProperties>
</file>