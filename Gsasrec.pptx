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Media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1.4</c:v>
                </c:pt>
                <c:pt idx="1">
                  <c:v>1.3</c:v>
                </c:pt>
                <c:pt idx="2">
                  <c:v>1.2</c:v>
                </c:pt>
                <c:pt idx="3">
                  <c:v>1.3</c:v>
                </c:pt>
                <c:pt idx="4">
                  <c:v>1.6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6C6-4863-AEA5-AB7B71DEA3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1.4</c:v>
                </c:pt>
                <c:pt idx="1">
                  <c:v>1.3</c:v>
                </c:pt>
                <c:pt idx="2">
                  <c:v>1.2</c:v>
                </c:pt>
                <c:pt idx="3">
                  <c:v>1.3</c:v>
                </c:pt>
                <c:pt idx="4">
                  <c:v>1.5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6C6-4863-AEA5-AB7B71DEA3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42654127"/>
        <c:axId val="1142671407"/>
      </c:lineChart>
      <c:catAx>
        <c:axId val="11426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71407"/>
        <c:crosses val="autoZero"/>
        <c:auto val="1"/>
        <c:lblAlgn val="ctr"/>
        <c:lblOffset val="100"/>
        <c:noMultiLvlLbl val="0"/>
      </c:catAx>
      <c:valAx>
        <c:axId val="11426714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p50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1.4</c:v>
                </c:pt>
                <c:pt idx="1">
                  <c:v>1.3</c:v>
                </c:pt>
                <c:pt idx="2">
                  <c:v>1.1000000000000001</c:v>
                </c:pt>
                <c:pt idx="3">
                  <c:v>1.1000000000000001</c:v>
                </c:pt>
                <c:pt idx="4">
                  <c:v>1.4</c:v>
                </c:pt>
                <c:pt idx="5">
                  <c:v>1.1000000000000001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0B-45EC-AC48-BEA415DE511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1.4</c:v>
                </c:pt>
                <c:pt idx="1">
                  <c:v>1.3</c:v>
                </c:pt>
                <c:pt idx="2">
                  <c:v>1</c:v>
                </c:pt>
                <c:pt idx="3">
                  <c:v>1.1000000000000001</c:v>
                </c:pt>
                <c:pt idx="4">
                  <c:v>1.4</c:v>
                </c:pt>
                <c:pt idx="5">
                  <c:v>1.1000000000000001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0B-45EC-AC48-BEA415DE51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42654127"/>
        <c:axId val="1142671407"/>
      </c:lineChart>
      <c:catAx>
        <c:axId val="11426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71407"/>
        <c:crosses val="autoZero"/>
        <c:auto val="1"/>
        <c:lblAlgn val="ctr"/>
        <c:lblOffset val="100"/>
        <c:noMultiLvlLbl val="0"/>
      </c:catAx>
      <c:valAx>
        <c:axId val="11426714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p90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1.6</c:v>
                </c:pt>
                <c:pt idx="1">
                  <c:v>1.5</c:v>
                </c:pt>
                <c:pt idx="2">
                  <c:v>1.9</c:v>
                </c:pt>
                <c:pt idx="3">
                  <c:v>2</c:v>
                </c:pt>
                <c:pt idx="4">
                  <c:v>2.5</c:v>
                </c:pt>
                <c:pt idx="5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765-4F86-8417-648054571C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1.6</c:v>
                </c:pt>
                <c:pt idx="1">
                  <c:v>1.5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765-4F86-8417-648054571C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42654127"/>
        <c:axId val="1142671407"/>
      </c:lineChart>
      <c:catAx>
        <c:axId val="11426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71407"/>
        <c:crosses val="autoZero"/>
        <c:auto val="1"/>
        <c:lblAlgn val="ctr"/>
        <c:lblOffset val="100"/>
        <c:noMultiLvlLbl val="0"/>
      </c:catAx>
      <c:valAx>
        <c:axId val="11426714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p95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</c:v>
                </c:pt>
                <c:pt idx="1">
                  <c:v>1.9</c:v>
                </c:pt>
                <c:pt idx="2">
                  <c:v>2</c:v>
                </c:pt>
                <c:pt idx="3">
                  <c:v>2.4</c:v>
                </c:pt>
                <c:pt idx="4">
                  <c:v>2.6</c:v>
                </c:pt>
                <c:pt idx="5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BB-4CA5-9790-7F86EC874CF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1.7</c:v>
                </c:pt>
                <c:pt idx="1">
                  <c:v>1.6</c:v>
                </c:pt>
                <c:pt idx="2">
                  <c:v>2</c:v>
                </c:pt>
                <c:pt idx="3">
                  <c:v>2.4</c:v>
                </c:pt>
                <c:pt idx="4">
                  <c:v>2.6</c:v>
                </c:pt>
                <c:pt idx="5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BB-4CA5-9790-7F86EC874C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42654127"/>
        <c:axId val="1142671407"/>
      </c:lineChart>
      <c:catAx>
        <c:axId val="11426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71407"/>
        <c:crosses val="autoZero"/>
        <c:auto val="1"/>
        <c:lblAlgn val="ctr"/>
        <c:lblOffset val="100"/>
        <c:noMultiLvlLbl val="0"/>
      </c:catAx>
      <c:valAx>
        <c:axId val="11426714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p99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2.4</c:v>
                </c:pt>
                <c:pt idx="2">
                  <c:v>2.6</c:v>
                </c:pt>
                <c:pt idx="3">
                  <c:v>2.8</c:v>
                </c:pt>
                <c:pt idx="4">
                  <c:v>3.1</c:v>
                </c:pt>
                <c:pt idx="5">
                  <c:v>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D6B-4CD1-AD19-DAEE288398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2.2999999999999998</c:v>
                </c:pt>
                <c:pt idx="2">
                  <c:v>2.5</c:v>
                </c:pt>
                <c:pt idx="3">
                  <c:v>2.9</c:v>
                </c:pt>
                <c:pt idx="4">
                  <c:v>3</c:v>
                </c:pt>
                <c:pt idx="5">
                  <c:v>2.5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D6B-4CD1-AD19-DAEE288398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42654127"/>
        <c:axId val="1142671407"/>
      </c:lineChart>
      <c:catAx>
        <c:axId val="11426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71407"/>
        <c:crosses val="autoZero"/>
        <c:auto val="1"/>
        <c:lblAlgn val="ctr"/>
        <c:lblOffset val="100"/>
        <c:noMultiLvlLbl val="0"/>
      </c:catAx>
      <c:valAx>
        <c:axId val="11426714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426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RPS </a:t>
            </a:r>
            <a:r>
              <a:rPr lang="en-GB" dirty="0" err="1"/>
              <a:t>effettivi</a:t>
            </a:r>
            <a:endParaRPr lang="en-GB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0.98000000000000009</c:v>
                </c:pt>
                <c:pt idx="1">
                  <c:v>1.018</c:v>
                </c:pt>
                <c:pt idx="2">
                  <c:v>0.99466666666666659</c:v>
                </c:pt>
                <c:pt idx="3">
                  <c:v>0.98033333333333339</c:v>
                </c:pt>
                <c:pt idx="4">
                  <c:v>0.92383333333333328</c:v>
                </c:pt>
                <c:pt idx="5">
                  <c:v>0.8657999999999999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7A-4ACC-866C-B6913B47DB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50</c:v>
                </c:pt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1000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0.97</c:v>
                </c:pt>
                <c:pt idx="1">
                  <c:v>1.002</c:v>
                </c:pt>
                <c:pt idx="2">
                  <c:v>0.97729999999999995</c:v>
                </c:pt>
                <c:pt idx="3">
                  <c:v>0.97267000000000003</c:v>
                </c:pt>
                <c:pt idx="4">
                  <c:v>0.92849999999999999</c:v>
                </c:pt>
                <c:pt idx="5">
                  <c:v>0.86890000000000001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7A-4ACC-866C-B6913B47DB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39414975"/>
        <c:axId val="1139414015"/>
      </c:lineChart>
      <c:catAx>
        <c:axId val="11394149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414015"/>
        <c:crosses val="autoZero"/>
        <c:auto val="1"/>
        <c:lblAlgn val="ctr"/>
        <c:lblOffset val="100"/>
        <c:noMultiLvlLbl val="0"/>
      </c:catAx>
      <c:valAx>
        <c:axId val="1139414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4149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Successivamente si è deciso di creare un secondo endpoint per sfruttare il modello </a:t>
            </a:r>
            <a:r>
              <a:rPr lang="it-IT" dirty="0" err="1">
                <a:solidFill>
                  <a:schemeClr val="tx1"/>
                </a:solidFill>
              </a:rPr>
              <a:t>onnx</a:t>
            </a:r>
            <a:r>
              <a:rPr lang="it-IT" dirty="0">
                <a:solidFill>
                  <a:schemeClr val="tx1"/>
                </a:solidFill>
              </a:rPr>
              <a:t> e testarlo.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VALORI DI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target_rps</a:t>
            </a:r>
            <a:r>
              <a:rPr lang="it-IT" dirty="0">
                <a:solidFill>
                  <a:schemeClr val="tx1"/>
                </a:solidFill>
              </a:rPr>
              <a:t>: [10, 50, 150, 300, 600, 1000]</a:t>
            </a:r>
          </a:p>
          <a:p>
            <a:r>
              <a:rPr lang="it-IT" dirty="0" err="1">
                <a:solidFill>
                  <a:schemeClr val="tx1"/>
                </a:solidFill>
              </a:rPr>
              <a:t>duration_seconds</a:t>
            </a:r>
            <a:r>
              <a:rPr lang="it-IT" dirty="0">
                <a:solidFill>
                  <a:schemeClr val="tx1"/>
                </a:solidFill>
              </a:rPr>
              <a:t>: 60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num_clients</a:t>
            </a:r>
            <a:r>
              <a:rPr lang="it-IT" dirty="0">
                <a:solidFill>
                  <a:schemeClr val="tx1"/>
                </a:solidFill>
              </a:rPr>
              <a:t>: 32</a:t>
            </a:r>
          </a:p>
          <a:p>
            <a:r>
              <a:rPr lang="it-IT" dirty="0">
                <a:solidFill>
                  <a:schemeClr val="tx1"/>
                </a:solidFill>
              </a:rPr>
              <a:t>GPU: RTX A4500</a:t>
            </a:r>
          </a:p>
          <a:p>
            <a:r>
              <a:rPr lang="it-IT" dirty="0" err="1">
                <a:solidFill>
                  <a:schemeClr val="tx1"/>
                </a:solidFill>
              </a:rPr>
              <a:t>vCPU</a:t>
            </a:r>
            <a:r>
              <a:rPr lang="it-IT" dirty="0">
                <a:solidFill>
                  <a:schemeClr val="tx1"/>
                </a:solidFill>
              </a:rPr>
              <a:t>: 12 (AMD EPYC 7352 24-Core Processor)</a:t>
            </a:r>
          </a:p>
          <a:p>
            <a:r>
              <a:rPr lang="it-IT" dirty="0">
                <a:solidFill>
                  <a:schemeClr val="tx1"/>
                </a:solidFill>
              </a:rPr>
              <a:t>Memoria: 62 GB</a:t>
            </a:r>
          </a:p>
          <a:p>
            <a:endParaRPr lang="it-IT" dirty="0">
              <a:solidFill>
                <a:schemeClr val="tx1"/>
              </a:solidFill>
            </a:endParaRPr>
          </a:p>
          <a:p>
            <a:endParaRPr lang="it-IT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EC63-FDBE-551E-E3D3-7C663260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</a:t>
            </a:r>
            <a:r>
              <a:rPr lang="it-IT" dirty="0" err="1"/>
              <a:t>python</a:t>
            </a:r>
            <a:r>
              <a:rPr lang="it-IT" dirty="0"/>
              <a:t> nativo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F7EEBD-2FFC-53BA-16B5-7BB2B45EFB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6150016"/>
              </p:ext>
            </p:extLst>
          </p:nvPr>
        </p:nvGraphicFramePr>
        <p:xfrm>
          <a:off x="684211" y="685800"/>
          <a:ext cx="963965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094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RPS effettivi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(s)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149,2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3664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294,1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88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554,3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865,8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44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4269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D3F6-3E3A-31AF-0DB3-4FFFDBFF2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0CC12-4353-9F7F-1210-57191119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ONNX IN PYTHON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1D8BCD-4EE5-A96E-9908-C8D03930E9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169229"/>
              </p:ext>
            </p:extLst>
          </p:nvPr>
        </p:nvGraphicFramePr>
        <p:xfrm>
          <a:off x="684211" y="685800"/>
          <a:ext cx="963965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094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RPS effettivi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(s)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2,3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146,6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3664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291,8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88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557,1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3,0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868,9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44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261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75EFA-89FD-D07C-7E91-301FCA0A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Grafici di comparazione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2D98DB9-2CA0-2E4E-4F33-97175D45FF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0615347"/>
              </p:ext>
            </p:extLst>
          </p:nvPr>
        </p:nvGraphicFramePr>
        <p:xfrm>
          <a:off x="330252" y="302342"/>
          <a:ext cx="3799297" cy="236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ontent Placeholder 5">
            <a:extLst>
              <a:ext uri="{FF2B5EF4-FFF2-40B4-BE49-F238E27FC236}">
                <a16:creationId xmlns:a16="http://schemas.microsoft.com/office/drawing/2014/main" id="{26C7F95C-52CA-EFBC-054C-239A0B2C41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44622460"/>
              </p:ext>
            </p:extLst>
          </p:nvPr>
        </p:nvGraphicFramePr>
        <p:xfrm>
          <a:off x="4263156" y="302342"/>
          <a:ext cx="3799297" cy="236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B0B7AF95-F332-851C-816F-8B3DC6FDA4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16814609"/>
              </p:ext>
            </p:extLst>
          </p:nvPr>
        </p:nvGraphicFramePr>
        <p:xfrm>
          <a:off x="8201848" y="302342"/>
          <a:ext cx="3799297" cy="236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ontent Placeholder 5">
            <a:extLst>
              <a:ext uri="{FF2B5EF4-FFF2-40B4-BE49-F238E27FC236}">
                <a16:creationId xmlns:a16="http://schemas.microsoft.com/office/drawing/2014/main" id="{79C34674-4775-CFA1-8EFD-A7E95041FD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78359659"/>
              </p:ext>
            </p:extLst>
          </p:nvPr>
        </p:nvGraphicFramePr>
        <p:xfrm>
          <a:off x="2296703" y="2563762"/>
          <a:ext cx="3799297" cy="236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B00D9C5D-4052-D940-175F-E284041730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93492889"/>
              </p:ext>
            </p:extLst>
          </p:nvPr>
        </p:nvGraphicFramePr>
        <p:xfrm>
          <a:off x="6472239" y="2563762"/>
          <a:ext cx="3799297" cy="236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664204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5B53B-ADEF-BAD0-1276-CC59FC315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Degradazione </a:t>
            </a:r>
            <a:r>
              <a:rPr lang="it-IT" dirty="0" err="1"/>
              <a:t>rps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17C77A7-1481-7B6F-58C3-A180305326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7972232"/>
              </p:ext>
            </p:extLst>
          </p:nvPr>
        </p:nvGraphicFramePr>
        <p:xfrm>
          <a:off x="684213" y="685800"/>
          <a:ext cx="8534400" cy="3614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37066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4D19-9D1B-B626-55FF-AA6D2AC33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LOAD TEST CON BATCH SIZE DIFFERENTE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888BB-6501-33FE-32CC-A12AFEC8F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5261426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1400</TotalTime>
  <Words>1575</Words>
  <Application>Microsoft Office PowerPoint</Application>
  <PresentationFormat>Widescreen</PresentationFormat>
  <Paragraphs>213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VALORI DI CONFIGURAZIONE</vt:lpstr>
      <vt:lpstr>Risultati modello python nativo</vt:lpstr>
      <vt:lpstr>Risultati modello ONNX IN PYTHON</vt:lpstr>
      <vt:lpstr>Grafici di comparazione</vt:lpstr>
      <vt:lpstr>Degradazione rps</vt:lpstr>
      <vt:lpstr>LOAD TEST CON BATCH SIZE DIFFERENTE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28</cp:revision>
  <dcterms:created xsi:type="dcterms:W3CDTF">2026-04-14T13:26:23Z</dcterms:created>
  <dcterms:modified xsi:type="dcterms:W3CDTF">2026-05-11T14:43:29Z</dcterms:modified>
</cp:coreProperties>
</file>